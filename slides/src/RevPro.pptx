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1" r:id="rId2"/>
    <p:sldId id="382" r:id="rId3"/>
    <p:sldId id="694" r:id="rId4"/>
    <p:sldId id="635" r:id="rId5"/>
    <p:sldId id="689" r:id="rId6"/>
    <p:sldId id="332" r:id="rId7"/>
    <p:sldId id="331" r:id="rId8"/>
    <p:sldId id="657" r:id="rId9"/>
    <p:sldId id="369" r:id="rId10"/>
    <p:sldId id="386" r:id="rId11"/>
    <p:sldId id="690" r:id="rId12"/>
    <p:sldId id="31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venue Pro" id="{73B0A94C-0FCD-4350-8CA0-917BB88D83B2}">
          <p14:sldIdLst>
            <p14:sldId id="261"/>
            <p14:sldId id="382"/>
            <p14:sldId id="694"/>
            <p14:sldId id="635"/>
            <p14:sldId id="689"/>
            <p14:sldId id="332"/>
            <p14:sldId id="331"/>
            <p14:sldId id="657"/>
            <p14:sldId id="369"/>
            <p14:sldId id="386"/>
            <p14:sldId id="690"/>
            <p14:sldId id="315"/>
          </p14:sldIdLst>
        </p14:section>
        <p14:section name="Default Section" id="{BFFB53A7-A73B-4AF3-B18A-CBEC2235A43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105" d="100"/>
          <a:sy n="105" d="100"/>
        </p:scale>
        <p:origin x="246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91E8B6-9206-4A5F-989A-443E97A6E0DF}"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E60D0A-94B2-4C6B-91D3-D0E1A469F13E}" type="slidenum">
              <a:rPr lang="en-US" smtClean="0"/>
              <a:t>‹#›</a:t>
            </a:fld>
            <a:endParaRPr lang="en-US"/>
          </a:p>
        </p:txBody>
      </p:sp>
    </p:spTree>
    <p:extLst>
      <p:ext uri="{BB962C8B-B14F-4D97-AF65-F5344CB8AC3E}">
        <p14:creationId xmlns:p14="http://schemas.microsoft.com/office/powerpoint/2010/main" val="1578742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FBEDF6-2E54-438F-B5CB-CD9F400F0FBB}" type="slidenum">
              <a:rPr lang="en-US" smtClean="0"/>
              <a:t>1</a:t>
            </a:fld>
            <a:endParaRPr lang="en-US"/>
          </a:p>
        </p:txBody>
      </p:sp>
    </p:spTree>
    <p:extLst>
      <p:ext uri="{BB962C8B-B14F-4D97-AF65-F5344CB8AC3E}">
        <p14:creationId xmlns:p14="http://schemas.microsoft.com/office/powerpoint/2010/main" val="389884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7EA2A-03F0-D69F-F6B5-6F5A10D4D4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B6718-6A14-F82C-B09E-3FAC90632D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90265-9D24-4040-AB1F-6AD2917F4C83}"/>
              </a:ext>
            </a:extLst>
          </p:cNvPr>
          <p:cNvSpPr>
            <a:spLocks noGrp="1"/>
          </p:cNvSpPr>
          <p:nvPr>
            <p:ph type="body" idx="1"/>
          </p:nvPr>
        </p:nvSpPr>
        <p:spPr/>
        <p:txBody>
          <a:bodyPr/>
          <a:lstStyle/>
          <a:p>
            <a:r>
              <a:rPr lang="en-US">
                <a:latin typeface="Times New Roman"/>
                <a:cs typeface="Times New Roman"/>
              </a:rPr>
              <a:t>Value pricing units based on criteria that makes a unit either more or less desirable to give tenants more choice in what unit suits their needs. </a:t>
            </a:r>
          </a:p>
          <a:p>
            <a:r>
              <a:rPr lang="en-US">
                <a:latin typeface="Times New Roman"/>
                <a:cs typeface="Times New Roman"/>
              </a:rPr>
              <a:t>By doing so, we increase revenue on popular units by increasing their rates, and increase occupancy on units that are more difficult to rent by offering them for a lower rate. </a:t>
            </a:r>
            <a:endParaRPr lang="en-US">
              <a:cs typeface="Times New Roman"/>
            </a:endParaRPr>
          </a:p>
        </p:txBody>
      </p:sp>
      <p:sp>
        <p:nvSpPr>
          <p:cNvPr id="4" name="Slide Number Placeholder 3">
            <a:extLst>
              <a:ext uri="{FF2B5EF4-FFF2-40B4-BE49-F238E27FC236}">
                <a16:creationId xmlns:a16="http://schemas.microsoft.com/office/drawing/2014/main" id="{A7ED7D69-8541-3DDA-555E-54B0A9D2B1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BEDF6-2E54-438F-B5CB-CD9F400F0FB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4701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3925">
              <a:defRPr kumimoji="1" sz="2400">
                <a:solidFill>
                  <a:schemeClr val="tx1"/>
                </a:solidFill>
                <a:latin typeface="Times New Roman" panose="02020603050405020304" pitchFamily="18" charset="0"/>
              </a:defRPr>
            </a:lvl1pPr>
            <a:lvl2pPr marL="742950" indent="-285750" defTabSz="923925">
              <a:defRPr kumimoji="1" sz="2400">
                <a:solidFill>
                  <a:schemeClr val="tx1"/>
                </a:solidFill>
                <a:latin typeface="Times New Roman" panose="02020603050405020304" pitchFamily="18" charset="0"/>
              </a:defRPr>
            </a:lvl2pPr>
            <a:lvl3pPr marL="1143000" indent="-228600" defTabSz="923925">
              <a:defRPr kumimoji="1" sz="2400">
                <a:solidFill>
                  <a:schemeClr val="tx1"/>
                </a:solidFill>
                <a:latin typeface="Times New Roman" panose="02020603050405020304" pitchFamily="18" charset="0"/>
              </a:defRPr>
            </a:lvl3pPr>
            <a:lvl4pPr marL="1600200" indent="-228600" defTabSz="923925">
              <a:defRPr kumimoji="1" sz="2400">
                <a:solidFill>
                  <a:schemeClr val="tx1"/>
                </a:solidFill>
                <a:latin typeface="Times New Roman" panose="02020603050405020304" pitchFamily="18" charset="0"/>
              </a:defRPr>
            </a:lvl4pPr>
            <a:lvl5pPr marL="2057400" indent="-228600" defTabSz="923925">
              <a:defRPr kumimoji="1" sz="2400">
                <a:solidFill>
                  <a:schemeClr val="tx1"/>
                </a:solidFill>
                <a:latin typeface="Times New Roman" panose="02020603050405020304" pitchFamily="18" charset="0"/>
              </a:defRPr>
            </a:lvl5pPr>
            <a:lvl6pPr marL="2514600" indent="-228600" defTabSz="923925" eaLnBrk="0" fontAlgn="base" hangingPunct="0">
              <a:spcBef>
                <a:spcPct val="0"/>
              </a:spcBef>
              <a:spcAft>
                <a:spcPct val="0"/>
              </a:spcAft>
              <a:defRPr kumimoji="1" sz="2400">
                <a:solidFill>
                  <a:schemeClr val="tx1"/>
                </a:solidFill>
                <a:latin typeface="Times New Roman" panose="02020603050405020304" pitchFamily="18" charset="0"/>
              </a:defRPr>
            </a:lvl6pPr>
            <a:lvl7pPr marL="2971800" indent="-228600" defTabSz="923925" eaLnBrk="0" fontAlgn="base" hangingPunct="0">
              <a:spcBef>
                <a:spcPct val="0"/>
              </a:spcBef>
              <a:spcAft>
                <a:spcPct val="0"/>
              </a:spcAft>
              <a:defRPr kumimoji="1" sz="2400">
                <a:solidFill>
                  <a:schemeClr val="tx1"/>
                </a:solidFill>
                <a:latin typeface="Times New Roman" panose="02020603050405020304" pitchFamily="18" charset="0"/>
              </a:defRPr>
            </a:lvl7pPr>
            <a:lvl8pPr marL="3429000" indent="-228600" defTabSz="923925" eaLnBrk="0" fontAlgn="base" hangingPunct="0">
              <a:spcBef>
                <a:spcPct val="0"/>
              </a:spcBef>
              <a:spcAft>
                <a:spcPct val="0"/>
              </a:spcAft>
              <a:defRPr kumimoji="1" sz="2400">
                <a:solidFill>
                  <a:schemeClr val="tx1"/>
                </a:solidFill>
                <a:latin typeface="Times New Roman" panose="02020603050405020304" pitchFamily="18" charset="0"/>
              </a:defRPr>
            </a:lvl8pPr>
            <a:lvl9pPr marL="3886200" indent="-228600" defTabSz="923925" eaLnBrk="0" fontAlgn="base" hangingPunct="0">
              <a:spcBef>
                <a:spcPct val="0"/>
              </a:spcBef>
              <a:spcAft>
                <a:spcPct val="0"/>
              </a:spcAft>
              <a:defRPr kumimoji="1" sz="2400">
                <a:solidFill>
                  <a:schemeClr val="tx1"/>
                </a:solidFill>
                <a:latin typeface="Times New Roman" panose="02020603050405020304" pitchFamily="18" charset="0"/>
              </a:defRPr>
            </a:lvl9pPr>
          </a:lstStyle>
          <a:p>
            <a:fld id="{45CF0AF7-D024-42AA-9745-1456857F1D4A}" type="slidenum">
              <a:rPr kumimoji="0" lang="en-US" sz="1200" smtClean="0"/>
              <a:pPr/>
              <a:t>4</a:t>
            </a:fld>
            <a:endParaRPr kumimoji="0" lang="en-US" sz="1200"/>
          </a:p>
        </p:txBody>
      </p:sp>
    </p:spTree>
    <p:extLst>
      <p:ext uri="{BB962C8B-B14F-4D97-AF65-F5344CB8AC3E}">
        <p14:creationId xmlns:p14="http://schemas.microsoft.com/office/powerpoint/2010/main" val="3076235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NOA’s advanced methods to Push Rate management include several revenue template options for scheduling changes based on market conditions and time of year. Additional options include Hot and Cold boosts based on time of day and day of week.</a:t>
            </a:r>
          </a:p>
        </p:txBody>
      </p:sp>
      <p:sp>
        <p:nvSpPr>
          <p:cNvPr id="4" name="Slide Number Placeholder 3"/>
          <p:cNvSpPr>
            <a:spLocks noGrp="1"/>
          </p:cNvSpPr>
          <p:nvPr>
            <p:ph type="sldNum" sz="quarter" idx="5"/>
          </p:nvPr>
        </p:nvSpPr>
        <p:spPr/>
        <p:txBody>
          <a:bodyPr/>
          <a:lstStyle/>
          <a:p>
            <a:fld id="{D7FBEDF6-2E54-438F-B5CB-CD9F400F0FBB}" type="slidenum">
              <a:rPr lang="en-US" smtClean="0"/>
              <a:t>6</a:t>
            </a:fld>
            <a:endParaRPr lang="en-US"/>
          </a:p>
        </p:txBody>
      </p:sp>
    </p:spTree>
    <p:extLst>
      <p:ext uri="{BB962C8B-B14F-4D97-AF65-F5344CB8AC3E}">
        <p14:creationId xmlns:p14="http://schemas.microsoft.com/office/powerpoint/2010/main" val="2260873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Expanding on typical Tenant Rate settings, NOA offers advanced options for when, how much and why to increase specific tenants based on various criteria</a:t>
            </a:r>
          </a:p>
        </p:txBody>
      </p:sp>
      <p:sp>
        <p:nvSpPr>
          <p:cNvPr id="4" name="Slide Number Placeholder 3"/>
          <p:cNvSpPr>
            <a:spLocks noGrp="1"/>
          </p:cNvSpPr>
          <p:nvPr>
            <p:ph type="sldNum" sz="quarter" idx="5"/>
          </p:nvPr>
        </p:nvSpPr>
        <p:spPr/>
        <p:txBody>
          <a:bodyPr/>
          <a:lstStyle/>
          <a:p>
            <a:fld id="{D7FBEDF6-2E54-438F-B5CB-CD9F400F0FBB}" type="slidenum">
              <a:rPr lang="en-US" smtClean="0"/>
              <a:t>7</a:t>
            </a:fld>
            <a:endParaRPr lang="en-US"/>
          </a:p>
        </p:txBody>
      </p:sp>
    </p:spTree>
    <p:extLst>
      <p:ext uri="{BB962C8B-B14F-4D97-AF65-F5344CB8AC3E}">
        <p14:creationId xmlns:p14="http://schemas.microsoft.com/office/powerpoint/2010/main" val="2825584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528E5-4384-E1DD-2831-BB02595F1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B1012-8225-3008-06E4-CFA045F37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46748-E7B4-6CE5-0B1E-89DFC0CEDA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DDA1B9-1697-02D3-2183-7BFFD5729E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BEDF6-2E54-438F-B5CB-CD9F400F0FB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2145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EC9D4-F7E3-5833-83AF-9F094FC38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21DF9-7D0B-9A3A-A1C6-EE933C4A2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2ECB6C-A5DE-29EB-0DB1-8B104FD55FD3}"/>
              </a:ext>
            </a:extLst>
          </p:cNvPr>
          <p:cNvSpPr>
            <a:spLocks noGrp="1"/>
          </p:cNvSpPr>
          <p:nvPr>
            <p:ph type="body" idx="1"/>
          </p:nvPr>
        </p:nvSpPr>
        <p:spPr/>
        <p:txBody>
          <a:bodyPr/>
          <a:lstStyle/>
          <a:p>
            <a:r>
              <a:rPr lang="en-US">
                <a:latin typeface="Times New Roman"/>
                <a:cs typeface="Times New Roman"/>
              </a:rPr>
              <a:t>Low price leader and king of the hill</a:t>
            </a:r>
            <a:endParaRPr lang="en-US"/>
          </a:p>
        </p:txBody>
      </p:sp>
      <p:sp>
        <p:nvSpPr>
          <p:cNvPr id="4" name="Slide Number Placeholder 3">
            <a:extLst>
              <a:ext uri="{FF2B5EF4-FFF2-40B4-BE49-F238E27FC236}">
                <a16:creationId xmlns:a16="http://schemas.microsoft.com/office/drawing/2014/main" id="{27773AB4-EF4D-B884-0458-2296842446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BEDF6-2E54-438F-B5CB-CD9F400F0FB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4719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9E6F0-AD06-6C7C-09B4-F5D991072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4B936-95EE-6D51-5381-80F766C4C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CF33C-1ED4-37FD-5C68-A030D07231B6}"/>
              </a:ext>
            </a:extLst>
          </p:cNvPr>
          <p:cNvSpPr>
            <a:spLocks noGrp="1"/>
          </p:cNvSpPr>
          <p:nvPr>
            <p:ph type="body" idx="1"/>
          </p:nvPr>
        </p:nvSpPr>
        <p:spPr/>
        <p:txBody>
          <a:bodyPr/>
          <a:lstStyle/>
          <a:p>
            <a:r>
              <a:rPr lang="en-US">
                <a:latin typeface="Times New Roman"/>
                <a:cs typeface="Times New Roman"/>
              </a:rPr>
              <a:t>As unit size and type occupancy increases or decreases, specials and rate are automatically adjusted. No need to delay the change by waiting for your approval. You have already set the thresholds</a:t>
            </a:r>
            <a:endParaRPr lang="en-US"/>
          </a:p>
        </p:txBody>
      </p:sp>
      <p:sp>
        <p:nvSpPr>
          <p:cNvPr id="4" name="Slide Number Placeholder 3">
            <a:extLst>
              <a:ext uri="{FF2B5EF4-FFF2-40B4-BE49-F238E27FC236}">
                <a16:creationId xmlns:a16="http://schemas.microsoft.com/office/drawing/2014/main" id="{6C1A7D1B-9559-8977-35B9-D6B251B304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BEDF6-2E54-438F-B5CB-CD9F400F0FB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6732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FBEDF6-2E54-438F-B5CB-CD9F400F0FBB}" type="slidenum">
              <a:rPr lang="en-US" smtClean="0"/>
              <a:t>12</a:t>
            </a:fld>
            <a:endParaRPr lang="en-US"/>
          </a:p>
        </p:txBody>
      </p:sp>
    </p:spTree>
    <p:extLst>
      <p:ext uri="{BB962C8B-B14F-4D97-AF65-F5344CB8AC3E}">
        <p14:creationId xmlns:p14="http://schemas.microsoft.com/office/powerpoint/2010/main" val="4205585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3D90C-AE5D-E8E3-83E7-078C3034C3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EB5409-2FF4-281C-0563-67C262CE7E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20DC33-C603-90EF-BB82-691D41407324}"/>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5" name="Footer Placeholder 4">
            <a:extLst>
              <a:ext uri="{FF2B5EF4-FFF2-40B4-BE49-F238E27FC236}">
                <a16:creationId xmlns:a16="http://schemas.microsoft.com/office/drawing/2014/main" id="{C0647A93-0D41-5FF0-C1A7-962ECCAFB0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D5C145-C32E-15C9-E640-0E422F377526}"/>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10473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300B7-87B9-BC89-9DA6-76C652E50A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3BEE77-FE56-097C-2337-7FC3B75739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58A22-443A-1A0D-D83F-A14E6E96CB57}"/>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5" name="Footer Placeholder 4">
            <a:extLst>
              <a:ext uri="{FF2B5EF4-FFF2-40B4-BE49-F238E27FC236}">
                <a16:creationId xmlns:a16="http://schemas.microsoft.com/office/drawing/2014/main" id="{8AAC28AD-D3E6-C48A-F1FC-1F29744605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FC3612-D5E9-A129-A5FD-F7CB5F9442CA}"/>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2612972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7887C-B778-85E3-A023-6FB585EA24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30A209-87BD-F9A8-F935-DAE42BDF83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042744-30B8-0FC3-C618-980402812297}"/>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5" name="Footer Placeholder 4">
            <a:extLst>
              <a:ext uri="{FF2B5EF4-FFF2-40B4-BE49-F238E27FC236}">
                <a16:creationId xmlns:a16="http://schemas.microsoft.com/office/drawing/2014/main" id="{D1CA8CBB-1D96-73BA-439F-9F294BB032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5B191-8235-4851-F4DB-FB179DBDF68F}"/>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1159579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9F24-CFCB-6CB1-1EE4-C752D0EC33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91804C-A5E9-91BC-265C-FAE58CC0C5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61319B-4A21-CD7A-13D6-66754FE7F5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F61A0A-085C-B729-B9DB-F160EFD417BE}"/>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6" name="Footer Placeholder 5">
            <a:extLst>
              <a:ext uri="{FF2B5EF4-FFF2-40B4-BE49-F238E27FC236}">
                <a16:creationId xmlns:a16="http://schemas.microsoft.com/office/drawing/2014/main" id="{CDF2A7F5-B783-AC7D-8B84-BE462EA033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832FDD-16FF-B5FF-D478-2840D685126F}"/>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498451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EB5FC-7803-C969-0EB6-CFCB21CA3D1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8D2BA0-AD5A-9FA8-5C8F-47F710B4FE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E22EB9-696D-4D9D-D4E5-B12183281B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CBC7C3-0887-85AB-6A99-60E087A927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B5FDDF-CED7-2486-91F0-9E61892EBE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302790-48E9-7C95-9754-D3D7B92178D2}"/>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8" name="Footer Placeholder 7">
            <a:extLst>
              <a:ext uri="{FF2B5EF4-FFF2-40B4-BE49-F238E27FC236}">
                <a16:creationId xmlns:a16="http://schemas.microsoft.com/office/drawing/2014/main" id="{9B83832F-447D-99C0-10B4-B4EA29C9BF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51203D-2F5E-9B0A-BCEF-8C05394F230A}"/>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3966970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B4372-D75B-C6CB-7143-EA5A6F5230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CAA631A-9D29-9BE1-54D1-63B30933D9AC}"/>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4" name="Footer Placeholder 3">
            <a:extLst>
              <a:ext uri="{FF2B5EF4-FFF2-40B4-BE49-F238E27FC236}">
                <a16:creationId xmlns:a16="http://schemas.microsoft.com/office/drawing/2014/main" id="{5F68CBB1-D6E4-4DE1-B1C3-23DA434A22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95E453-AF91-0449-8DBB-C4CA50C5224D}"/>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3667984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1BAD40-E0E8-48FC-A391-D237B94C81D8}"/>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3" name="Footer Placeholder 2">
            <a:extLst>
              <a:ext uri="{FF2B5EF4-FFF2-40B4-BE49-F238E27FC236}">
                <a16:creationId xmlns:a16="http://schemas.microsoft.com/office/drawing/2014/main" id="{B80E445C-952E-C968-4239-5600536938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BD9C18-A2E9-80B4-F3EE-4B5119C0CC36}"/>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3297055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07FEB-220F-92F9-BAED-36D4231183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198D7C-DEE1-F95A-452F-1736AC2592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F8FABE-C232-AE4F-F30E-52B6955D20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9B7501-EE94-060D-BF37-B1B9047B3DD6}"/>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6" name="Footer Placeholder 5">
            <a:extLst>
              <a:ext uri="{FF2B5EF4-FFF2-40B4-BE49-F238E27FC236}">
                <a16:creationId xmlns:a16="http://schemas.microsoft.com/office/drawing/2014/main" id="{9B737FF7-DA5C-E97B-5F61-8D8772BC4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348034-2D1C-B53B-67EF-60E4F410E861}"/>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3738405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871A6-44D1-452D-8B2C-6C13411404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0A3B53-CC06-B55C-5FEA-8CEDB3D4DD7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D29A22-8C6C-26D6-1E7C-5CD6BF46BF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BD152E-1D6D-D87F-DD58-D80BBEC29BB1}"/>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6" name="Footer Placeholder 5">
            <a:extLst>
              <a:ext uri="{FF2B5EF4-FFF2-40B4-BE49-F238E27FC236}">
                <a16:creationId xmlns:a16="http://schemas.microsoft.com/office/drawing/2014/main" id="{95E98B8D-DF6E-0582-7A97-AE2BBB82EA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970842-6EFB-5FE6-368E-2A7228FEE8D5}"/>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1593859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D3C1-71AA-1DD9-8E18-917A95827C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BDB63F-EDAD-3C17-7951-F57B52FDFC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CE7C08-0ECF-D5A6-6229-9720631975EC}"/>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5" name="Footer Placeholder 4">
            <a:extLst>
              <a:ext uri="{FF2B5EF4-FFF2-40B4-BE49-F238E27FC236}">
                <a16:creationId xmlns:a16="http://schemas.microsoft.com/office/drawing/2014/main" id="{4234A249-BC9F-E96E-8173-0BFEF69EA9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B00425-738F-B8C2-0403-2B7A787BEC69}"/>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956222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E55B84-BEAC-A6E0-1A0B-F4EFCEEFC7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047D0D-6476-1EE9-B024-5DFC07B1BD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EA1DF4-4B99-8F88-B70F-6263F18E576A}"/>
              </a:ext>
            </a:extLst>
          </p:cNvPr>
          <p:cNvSpPr>
            <a:spLocks noGrp="1"/>
          </p:cNvSpPr>
          <p:nvPr>
            <p:ph type="dt" sz="half" idx="10"/>
          </p:nvPr>
        </p:nvSpPr>
        <p:spPr/>
        <p:txBody>
          <a:bodyPr/>
          <a:lstStyle/>
          <a:p>
            <a:fld id="{07A34856-7E8F-4A58-8696-C22183C1A883}" type="datetimeFigureOut">
              <a:rPr lang="en-US" smtClean="0"/>
              <a:t>10/28/2026</a:t>
            </a:fld>
            <a:endParaRPr lang="en-US"/>
          </a:p>
        </p:txBody>
      </p:sp>
      <p:sp>
        <p:nvSpPr>
          <p:cNvPr id="5" name="Footer Placeholder 4">
            <a:extLst>
              <a:ext uri="{FF2B5EF4-FFF2-40B4-BE49-F238E27FC236}">
                <a16:creationId xmlns:a16="http://schemas.microsoft.com/office/drawing/2014/main" id="{A72302A1-E203-252C-EBE2-6869CA2914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3517C7-320A-F70F-B929-2EAF122EC5AF}"/>
              </a:ext>
            </a:extLst>
          </p:cNvPr>
          <p:cNvSpPr>
            <a:spLocks noGrp="1"/>
          </p:cNvSpPr>
          <p:nvPr>
            <p:ph type="sldNum" sz="quarter" idx="12"/>
          </p:nvPr>
        </p:nvSpPr>
        <p:spPr/>
        <p:txBody>
          <a:bodyPr/>
          <a:lstStyle/>
          <a:p>
            <a:fld id="{EE6B1162-D572-4486-9934-9E559970DB07}" type="slidenum">
              <a:rPr lang="en-US" smtClean="0"/>
              <a:t>‹#›</a:t>
            </a:fld>
            <a:endParaRPr lang="en-US"/>
          </a:p>
        </p:txBody>
      </p:sp>
    </p:spTree>
    <p:extLst>
      <p:ext uri="{BB962C8B-B14F-4D97-AF65-F5344CB8AC3E}">
        <p14:creationId xmlns:p14="http://schemas.microsoft.com/office/powerpoint/2010/main" val="3412192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5041900" y="52388"/>
            <a:ext cx="7112000" cy="1219200"/>
          </a:xfrm>
        </p:spPr>
        <p:txBody>
          <a:bodyPr/>
          <a:lstStyle/>
          <a:p>
            <a:r>
              <a:rPr lang="en-US"/>
              <a:t>Click to edit Master title style</a:t>
            </a:r>
          </a:p>
        </p:txBody>
      </p:sp>
      <p:sp>
        <p:nvSpPr>
          <p:cNvPr id="3" name="ClipArt Placeholder 2"/>
          <p:cNvSpPr>
            <a:spLocks noGrp="1"/>
          </p:cNvSpPr>
          <p:nvPr>
            <p:ph type="clipArt" sz="half" idx="1"/>
          </p:nvPr>
        </p:nvSpPr>
        <p:spPr>
          <a:xfrm>
            <a:off x="2133600" y="2590800"/>
            <a:ext cx="4775200" cy="3200400"/>
          </a:xfrm>
        </p:spPr>
        <p:txBody>
          <a:bodyPr/>
          <a:lstStyle/>
          <a:p>
            <a:pPr lvl="0"/>
            <a:endParaRPr lang="en-US" noProof="0"/>
          </a:p>
        </p:txBody>
      </p:sp>
      <p:sp>
        <p:nvSpPr>
          <p:cNvPr id="4" name="Text Placeholder 3"/>
          <p:cNvSpPr>
            <a:spLocks noGrp="1"/>
          </p:cNvSpPr>
          <p:nvPr>
            <p:ph type="body" sz="half" idx="2"/>
          </p:nvPr>
        </p:nvSpPr>
        <p:spPr>
          <a:xfrm>
            <a:off x="7112000" y="2590800"/>
            <a:ext cx="47752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31A5E9F8-6196-4696-9A3A-3D2113E9FF7B}" type="slidenum">
              <a:rPr lang="en-US"/>
              <a:pPr>
                <a:defRPr/>
              </a:pPr>
              <a:t>‹#›</a:t>
            </a:fld>
            <a:endParaRPr lang="en-US"/>
          </a:p>
        </p:txBody>
      </p:sp>
    </p:spTree>
    <p:extLst>
      <p:ext uri="{BB962C8B-B14F-4D97-AF65-F5344CB8AC3E}">
        <p14:creationId xmlns:p14="http://schemas.microsoft.com/office/powerpoint/2010/main" val="3101035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85F372-1477-61D3-A778-7238AE7ECF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3E820F-920C-F563-697C-27524417D5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1B9393-9BFB-AD01-9644-27198FA9D4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A34856-7E8F-4A58-8696-C22183C1A883}" type="datetimeFigureOut">
              <a:rPr lang="en-US" smtClean="0"/>
              <a:t>10/28/2026</a:t>
            </a:fld>
            <a:endParaRPr lang="en-US"/>
          </a:p>
        </p:txBody>
      </p:sp>
      <p:sp>
        <p:nvSpPr>
          <p:cNvPr id="5" name="Footer Placeholder 4">
            <a:extLst>
              <a:ext uri="{FF2B5EF4-FFF2-40B4-BE49-F238E27FC236}">
                <a16:creationId xmlns:a16="http://schemas.microsoft.com/office/drawing/2014/main" id="{17C9DC87-003D-8BB9-4B39-E77225C483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FC990B-E002-EDB5-9BD7-E8DA1A5E82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6B1162-D572-4486-9934-9E559970DB07}" type="slidenum">
              <a:rPr lang="en-US" smtClean="0"/>
              <a:t>‹#›</a:t>
            </a:fld>
            <a:endParaRPr lang="en-US"/>
          </a:p>
        </p:txBody>
      </p:sp>
    </p:spTree>
    <p:extLst>
      <p:ext uri="{BB962C8B-B14F-4D97-AF65-F5344CB8AC3E}">
        <p14:creationId xmlns:p14="http://schemas.microsoft.com/office/powerpoint/2010/main" val="1839474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6FF20F-C4F0-C12C-7644-FD60A25AD3E2}"/>
              </a:ext>
            </a:extLst>
          </p:cNvPr>
          <p:cNvPicPr>
            <a:picLocks noChangeAspect="1"/>
          </p:cNvPicPr>
          <p:nvPr/>
        </p:nvPicPr>
        <p:blipFill>
          <a:blip r:embed="rId3">
            <a:alphaModFix amt="20000"/>
          </a:blip>
          <a:stretch>
            <a:fillRect/>
          </a:stretch>
        </p:blipFill>
        <p:spPr>
          <a:xfrm>
            <a:off x="-1397724" y="-385802"/>
            <a:ext cx="13589724" cy="7243802"/>
          </a:xfrm>
          <a:prstGeom prst="rect">
            <a:avLst/>
          </a:prstGeom>
        </p:spPr>
      </p:pic>
      <p:pic>
        <p:nvPicPr>
          <p:cNvPr id="5" name="Picture 4">
            <a:extLst>
              <a:ext uri="{FF2B5EF4-FFF2-40B4-BE49-F238E27FC236}">
                <a16:creationId xmlns:a16="http://schemas.microsoft.com/office/drawing/2014/main" id="{0AD42E37-065E-64FC-69AB-684A7E729C3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792941" y="1600200"/>
            <a:ext cx="8606117" cy="3657599"/>
          </a:xfrm>
          <a:prstGeom prst="rect">
            <a:avLst/>
          </a:prstGeom>
        </p:spPr>
      </p:pic>
      <p:sp>
        <p:nvSpPr>
          <p:cNvPr id="6" name="TextBox 5">
            <a:extLst>
              <a:ext uri="{FF2B5EF4-FFF2-40B4-BE49-F238E27FC236}">
                <a16:creationId xmlns:a16="http://schemas.microsoft.com/office/drawing/2014/main" id="{D5646761-D712-5BAC-0707-DD758BDDCCE4}"/>
              </a:ext>
            </a:extLst>
          </p:cNvPr>
          <p:cNvSpPr txBox="1"/>
          <p:nvPr/>
        </p:nvSpPr>
        <p:spPr>
          <a:xfrm>
            <a:off x="3463291" y="540978"/>
            <a:ext cx="6795950" cy="461665"/>
          </a:xfrm>
          <a:prstGeom prst="rect">
            <a:avLst/>
          </a:prstGeom>
          <a:noFill/>
        </p:spPr>
        <p:txBody>
          <a:bodyPr wrap="square">
            <a:spAutoFit/>
          </a:bodyPr>
          <a:lstStyle/>
          <a:p>
            <a:pPr algn="ctr">
              <a:buNone/>
            </a:pPr>
            <a:r>
              <a:rPr lang="en-US" sz="2400" b="1" i="0">
                <a:solidFill>
                  <a:schemeClr val="bg1"/>
                </a:solidFill>
                <a:effectLst/>
                <a:latin typeface="Calibri" panose="020F0502020204030204" pitchFamily="34" charset="0"/>
                <a:ea typeface="Calibri" panose="020F0502020204030204" pitchFamily="34" charset="0"/>
                <a:cs typeface="Calibri" panose="020F0502020204030204" pitchFamily="34" charset="0"/>
              </a:rPr>
              <a:t>Taking the Guesswork out of Revenue Management</a:t>
            </a:r>
            <a:endParaRPr lang="en-US" sz="2800" b="1" i="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494BAE8-4368-7F7E-DB79-3F3635F9EAAE}"/>
              </a:ext>
            </a:extLst>
          </p:cNvPr>
          <p:cNvSpPr txBox="1"/>
          <p:nvPr/>
        </p:nvSpPr>
        <p:spPr>
          <a:xfrm>
            <a:off x="7473586" y="4502997"/>
            <a:ext cx="4387489" cy="523220"/>
          </a:xfrm>
          <a:prstGeom prst="rect">
            <a:avLst/>
          </a:prstGeom>
          <a:noFill/>
        </p:spPr>
        <p:txBody>
          <a:bodyPr wrap="square">
            <a:spAutoFit/>
          </a:bodyPr>
          <a:lstStyle/>
          <a:p>
            <a:r>
              <a:rPr lang="en-US" sz="2400" b="1" i="0">
                <a:solidFill>
                  <a:schemeClr val="bg1"/>
                </a:solidFill>
                <a:effectLst/>
                <a:latin typeface="Calibri" panose="020F0502020204030204" pitchFamily="34" charset="0"/>
                <a:ea typeface="Calibri" panose="020F0502020204030204" pitchFamily="34" charset="0"/>
                <a:cs typeface="Calibri" panose="020F0502020204030204" pitchFamily="34" charset="0"/>
              </a:rPr>
              <a:t>Your Virtual </a:t>
            </a:r>
            <a:r>
              <a:rPr lang="en-US" sz="2800" b="1" i="0">
                <a:solidFill>
                  <a:schemeClr val="bg1"/>
                </a:solidFill>
                <a:effectLst/>
                <a:latin typeface="Calibri" panose="020F0502020204030204" pitchFamily="34" charset="0"/>
                <a:ea typeface="Calibri" panose="020F0502020204030204" pitchFamily="34" charset="0"/>
                <a:cs typeface="Calibri" panose="020F0502020204030204" pitchFamily="34" charset="0"/>
              </a:rPr>
              <a:t>REVENUE GENIUS</a:t>
            </a:r>
            <a:endParaRPr lang="en-US"/>
          </a:p>
        </p:txBody>
      </p:sp>
    </p:spTree>
    <p:extLst>
      <p:ext uri="{BB962C8B-B14F-4D97-AF65-F5344CB8AC3E}">
        <p14:creationId xmlns:p14="http://schemas.microsoft.com/office/powerpoint/2010/main" val="223834219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000" fill="hold"/>
                                        <p:tgtEl>
                                          <p:spTgt spid="5"/>
                                        </p:tgtEl>
                                        <p:attrNameLst>
                                          <p:attrName>ppt_w</p:attrName>
                                        </p:attrNameLst>
                                      </p:cBhvr>
                                      <p:tavLst>
                                        <p:tav tm="0">
                                          <p:val>
                                            <p:fltVal val="0"/>
                                          </p:val>
                                        </p:tav>
                                        <p:tav tm="100000">
                                          <p:val>
                                            <p:strVal val="#ppt_w"/>
                                          </p:val>
                                        </p:tav>
                                      </p:tavLst>
                                    </p:anim>
                                    <p:anim calcmode="lin" valueType="num">
                                      <p:cBhvr>
                                        <p:cTn id="8" dur="2000" fill="hold"/>
                                        <p:tgtEl>
                                          <p:spTgt spid="5"/>
                                        </p:tgtEl>
                                        <p:attrNameLst>
                                          <p:attrName>ppt_h</p:attrName>
                                        </p:attrNameLst>
                                      </p:cBhvr>
                                      <p:tavLst>
                                        <p:tav tm="0">
                                          <p:val>
                                            <p:fltVal val="0"/>
                                          </p:val>
                                        </p:tav>
                                        <p:tav tm="100000">
                                          <p:val>
                                            <p:strVal val="#ppt_h"/>
                                          </p:val>
                                        </p:tav>
                                      </p:tavLst>
                                    </p:anim>
                                    <p:anim calcmode="lin" valueType="num">
                                      <p:cBhvr>
                                        <p:cTn id="9" dur="2000" fill="hold"/>
                                        <p:tgtEl>
                                          <p:spTgt spid="5"/>
                                        </p:tgtEl>
                                        <p:attrNameLst>
                                          <p:attrName>style.rotation</p:attrName>
                                        </p:attrNameLst>
                                      </p:cBhvr>
                                      <p:tavLst>
                                        <p:tav tm="0">
                                          <p:val>
                                            <p:fltVal val="90"/>
                                          </p:val>
                                        </p:tav>
                                        <p:tav tm="100000">
                                          <p:val>
                                            <p:fltVal val="0"/>
                                          </p:val>
                                        </p:tav>
                                      </p:tavLst>
                                    </p:anim>
                                    <p:animEffect transition="in" filter="fade">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103A-0E7E-6000-0E61-31663A9CEA84}"/>
            </a:ext>
          </a:extLst>
        </p:cNvPr>
        <p:cNvGrpSpPr/>
        <p:nvPr/>
      </p:nvGrpSpPr>
      <p:grpSpPr>
        <a:xfrm>
          <a:off x="0" y="0"/>
          <a:ext cx="0" cy="0"/>
          <a:chOff x="0" y="0"/>
          <a:chExt cx="0" cy="0"/>
        </a:xfrm>
      </p:grpSpPr>
      <p:pic>
        <p:nvPicPr>
          <p:cNvPr id="4" name="Map" descr="A map of a building&#10;&#10;AI-generated content may be incorrect.">
            <a:extLst>
              <a:ext uri="{FF2B5EF4-FFF2-40B4-BE49-F238E27FC236}">
                <a16:creationId xmlns:a16="http://schemas.microsoft.com/office/drawing/2014/main" id="{270A54F2-5BE2-65EE-5448-2819E58D5D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362819" y="609380"/>
            <a:ext cx="7730321" cy="4404105"/>
          </a:xfrm>
          <a:prstGeom prst="rect">
            <a:avLst/>
          </a:prstGeom>
          <a:ln>
            <a:noFill/>
          </a:ln>
          <a:effectLst>
            <a:outerShdw blurRad="190500" algn="tl" rotWithShape="0">
              <a:srgbClr val="000000">
                <a:alpha val="70000"/>
              </a:srgbClr>
            </a:outerShdw>
          </a:effectLst>
        </p:spPr>
      </p:pic>
      <p:pic>
        <p:nvPicPr>
          <p:cNvPr id="5" name="Attributes" descr="image001">
            <a:extLst>
              <a:ext uri="{FF2B5EF4-FFF2-40B4-BE49-F238E27FC236}">
                <a16:creationId xmlns:a16="http://schemas.microsoft.com/office/drawing/2014/main" id="{B79398D5-6A22-6D8F-9DCF-768E356E7E9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a:fillRect/>
          </a:stretch>
        </p:blipFill>
        <p:spPr bwMode="auto">
          <a:xfrm>
            <a:off x="7046206" y="1264192"/>
            <a:ext cx="2695576" cy="340678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Yellow outline">
            <a:extLst>
              <a:ext uri="{FF2B5EF4-FFF2-40B4-BE49-F238E27FC236}">
                <a16:creationId xmlns:a16="http://schemas.microsoft.com/office/drawing/2014/main" id="{32EC32A6-B0C9-B17B-5CA9-95F4FAF67F6E}"/>
              </a:ext>
            </a:extLst>
          </p:cNvPr>
          <p:cNvSpPr/>
          <p:nvPr/>
        </p:nvSpPr>
        <p:spPr>
          <a:xfrm>
            <a:off x="7333290" y="1567849"/>
            <a:ext cx="2121408" cy="2487168"/>
          </a:xfrm>
          <a:prstGeom prst="rect">
            <a:avLst/>
          </a:prstGeom>
          <a:noFill/>
          <a:ln w="76200"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C000"/>
              </a:solidFill>
              <a:effectLst/>
              <a:uLnTx/>
              <a:uFillTx/>
              <a:latin typeface="Calibri" panose="020F0502020204030204"/>
              <a:ea typeface="+mn-ea"/>
              <a:cs typeface="+mn-cs"/>
            </a:endParaRPr>
          </a:p>
        </p:txBody>
      </p:sp>
      <p:pic>
        <p:nvPicPr>
          <p:cNvPr id="7" name="Genius still">
            <a:extLst>
              <a:ext uri="{FF2B5EF4-FFF2-40B4-BE49-F238E27FC236}">
                <a16:creationId xmlns:a16="http://schemas.microsoft.com/office/drawing/2014/main" id="{F4E93F3C-B9AE-D718-8F5C-9919FB049661}"/>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9326882" y="1264192"/>
            <a:ext cx="3024659" cy="5581650"/>
          </a:xfrm>
          <a:prstGeom prst="rect">
            <a:avLst/>
          </a:prstGeom>
        </p:spPr>
      </p:pic>
      <p:pic>
        <p:nvPicPr>
          <p:cNvPr id="9" name="Genius point left">
            <a:extLst>
              <a:ext uri="{FF2B5EF4-FFF2-40B4-BE49-F238E27FC236}">
                <a16:creationId xmlns:a16="http://schemas.microsoft.com/office/drawing/2014/main" id="{FAFA2F00-9C51-F1DF-34DA-40761812BFF4}"/>
              </a:ext>
            </a:extLst>
          </p:cNvPr>
          <p:cNvPicPr>
            <a:picLocks noChangeAspect="1"/>
          </p:cNvPicPr>
          <p:nvPr/>
        </p:nvPicPr>
        <p:blipFill>
          <a:blip r:embed="rId6" cstate="screen">
            <a:extLst>
              <a:ext uri="{28A0092B-C50C-407E-A947-70E740481C1C}">
                <a14:useLocalDpi xmlns:a14="http://schemas.microsoft.com/office/drawing/2010/main" val="0"/>
              </a:ext>
            </a:extLst>
          </a:blip>
          <a:srcRect/>
          <a:stretch/>
        </p:blipFill>
        <p:spPr>
          <a:xfrm>
            <a:off x="6859398" y="1264192"/>
            <a:ext cx="6279356" cy="5581649"/>
          </a:xfrm>
          <a:prstGeom prst="rect">
            <a:avLst/>
          </a:prstGeom>
        </p:spPr>
      </p:pic>
      <p:sp>
        <p:nvSpPr>
          <p:cNvPr id="11" name="TextBox 10">
            <a:extLst>
              <a:ext uri="{FF2B5EF4-FFF2-40B4-BE49-F238E27FC236}">
                <a16:creationId xmlns:a16="http://schemas.microsoft.com/office/drawing/2014/main" id="{3712148C-7A62-2805-0BC4-E757A2234F4D}"/>
              </a:ext>
            </a:extLst>
          </p:cNvPr>
          <p:cNvSpPr txBox="1"/>
          <p:nvPr/>
        </p:nvSpPr>
        <p:spPr>
          <a:xfrm>
            <a:off x="-1352788" y="5935168"/>
            <a:ext cx="1219199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Receive increased revenue on popular units such as those based on proximity </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and/or receive increased occupancy on units that are typically more difficult to rent</a:t>
            </a:r>
          </a:p>
        </p:txBody>
      </p:sp>
    </p:spTree>
    <p:extLst>
      <p:ext uri="{BB962C8B-B14F-4D97-AF65-F5344CB8AC3E}">
        <p14:creationId xmlns:p14="http://schemas.microsoft.com/office/powerpoint/2010/main" val="1260293343"/>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par>
                                <p:cTn id="9" presetID="1" presetClass="exit" presetSubtype="0" fill="hold" grpId="0" nodeType="withEffect">
                                  <p:stCondLst>
                                    <p:cond delay="450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xit" presetSubtype="0" fill="hold" nodeType="withEffect">
                                  <p:stCondLst>
                                    <p:cond delay="4500"/>
                                  </p:stCondLst>
                                  <p:childTnLst>
                                    <p:set>
                                      <p:cBhvr>
                                        <p:cTn id="12" dur="1" fill="hold">
                                          <p:stCondLst>
                                            <p:cond delay="0"/>
                                          </p:stCondLst>
                                        </p:cTn>
                                        <p:tgtEl>
                                          <p:spTgt spid="5"/>
                                        </p:tgtEl>
                                        <p:attrNameLst>
                                          <p:attrName>style.visibility</p:attrName>
                                        </p:attrNameLst>
                                      </p:cBhvr>
                                      <p:to>
                                        <p:strVal val="hidden"/>
                                      </p:to>
                                    </p:set>
                                  </p:childTnLst>
                                </p:cTn>
                              </p:par>
                            </p:childTnLst>
                          </p:cTn>
                        </p:par>
                        <p:par>
                          <p:cTn id="13" fill="hold">
                            <p:stCondLst>
                              <p:cond delay="4500"/>
                            </p:stCondLst>
                            <p:childTnLst>
                              <p:par>
                                <p:cTn id="14" presetID="2" presetClass="entr" presetSubtype="8"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0-#ppt_w/2"/>
                                          </p:val>
                                        </p:tav>
                                        <p:tav tm="100000">
                                          <p:val>
                                            <p:strVal val="#ppt_x"/>
                                          </p:val>
                                        </p:tav>
                                      </p:tavLst>
                                    </p:anim>
                                    <p:anim calcmode="lin" valueType="num">
                                      <p:cBhvr additive="base">
                                        <p:cTn id="17" dur="500" fill="hold"/>
                                        <p:tgtEl>
                                          <p:spTgt spid="4"/>
                                        </p:tgtEl>
                                        <p:attrNameLst>
                                          <p:attrName>ppt_y</p:attrName>
                                        </p:attrNameLst>
                                      </p:cBhvr>
                                      <p:tavLst>
                                        <p:tav tm="0">
                                          <p:val>
                                            <p:strVal val="#ppt_y"/>
                                          </p:val>
                                        </p:tav>
                                        <p:tav tm="100000">
                                          <p:val>
                                            <p:strVal val="#ppt_y"/>
                                          </p:val>
                                        </p:tav>
                                      </p:tavLst>
                                    </p:anim>
                                  </p:childTnLst>
                                </p:cTn>
                              </p:par>
                              <p:par>
                                <p:cTn id="18" presetID="14" presetClass="exit" presetSubtype="10" fill="hold" nodeType="withEffect">
                                  <p:stCondLst>
                                    <p:cond delay="0"/>
                                  </p:stCondLst>
                                  <p:childTnLst>
                                    <p:animEffect transition="out" filter="randombar(horizontal)">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4" presetClass="entr" presetSubtype="1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randombar(horizontal)">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A0361-F541-FCCA-3919-5F2C2A0BC72B}"/>
              </a:ext>
            </a:extLst>
          </p:cNvPr>
          <p:cNvSpPr/>
          <p:nvPr/>
        </p:nvSpPr>
        <p:spPr bwMode="auto">
          <a:xfrm>
            <a:off x="9635613" y="1150374"/>
            <a:ext cx="757084" cy="275303"/>
          </a:xfrm>
          <a:prstGeom prst="rect">
            <a:avLst/>
          </a:prstGeom>
          <a:solidFill>
            <a:srgbClr val="F4F4F4"/>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graphicFrame>
        <p:nvGraphicFramePr>
          <p:cNvPr id="3" name="Table 2">
            <a:extLst>
              <a:ext uri="{FF2B5EF4-FFF2-40B4-BE49-F238E27FC236}">
                <a16:creationId xmlns:a16="http://schemas.microsoft.com/office/drawing/2014/main" id="{F3BB6297-E8C4-2B5B-9654-852173D268A1}"/>
              </a:ext>
            </a:extLst>
          </p:cNvPr>
          <p:cNvGraphicFramePr>
            <a:graphicFrameLocks noGrp="1"/>
          </p:cNvGraphicFramePr>
          <p:nvPr/>
        </p:nvGraphicFramePr>
        <p:xfrm>
          <a:off x="589935" y="719666"/>
          <a:ext cx="4395020" cy="5933440"/>
        </p:xfrm>
        <a:graphic>
          <a:graphicData uri="http://schemas.openxmlformats.org/drawingml/2006/table">
            <a:tbl>
              <a:tblPr firstRow="1" bandRow="1">
                <a:tableStyleId>{8799B23B-EC83-4686-B30A-512413B5E67A}</a:tableStyleId>
              </a:tblPr>
              <a:tblGrid>
                <a:gridCol w="3153111">
                  <a:extLst>
                    <a:ext uri="{9D8B030D-6E8A-4147-A177-3AD203B41FA5}">
                      <a16:colId xmlns:a16="http://schemas.microsoft.com/office/drawing/2014/main" val="1990031574"/>
                    </a:ext>
                  </a:extLst>
                </a:gridCol>
                <a:gridCol w="1241909">
                  <a:extLst>
                    <a:ext uri="{9D8B030D-6E8A-4147-A177-3AD203B41FA5}">
                      <a16:colId xmlns:a16="http://schemas.microsoft.com/office/drawing/2014/main" val="172595706"/>
                    </a:ext>
                  </a:extLst>
                </a:gridCol>
              </a:tblGrid>
              <a:tr h="370840">
                <a:tc>
                  <a:txBody>
                    <a:bodyPr/>
                    <a:lstStyle/>
                    <a:p>
                      <a:r>
                        <a:rPr lang="en-US" sz="1400">
                          <a:solidFill>
                            <a:schemeClr val="bg1"/>
                          </a:solidFill>
                          <a:latin typeface="Calibri" panose="020F0502020204030204" pitchFamily="34" charset="0"/>
                          <a:ea typeface="Calibri" panose="020F0502020204030204" pitchFamily="34" charset="0"/>
                          <a:cs typeface="Calibri" panose="020F0502020204030204" pitchFamily="34" charset="0"/>
                        </a:rPr>
                        <a:t>QV Attributes </a:t>
                      </a:r>
                      <a:r>
                        <a:rPr lang="en-US" sz="1400" b="0" i="1">
                          <a:solidFill>
                            <a:schemeClr val="bg1"/>
                          </a:solidFill>
                          <a:latin typeface="Calibri" panose="020F0502020204030204" pitchFamily="34" charset="0"/>
                          <a:ea typeface="Calibri" panose="020F0502020204030204" pitchFamily="34" charset="0"/>
                          <a:cs typeface="Calibri" panose="020F0502020204030204" pitchFamily="34" charset="0"/>
                        </a:rPr>
                        <a:t>(sample list; incomplete)</a:t>
                      </a:r>
                    </a:p>
                  </a:txBody>
                  <a:tcPr/>
                </a:tc>
                <a:tc>
                  <a:txBody>
                    <a:bodyPr/>
                    <a:lstStyle/>
                    <a:p>
                      <a:r>
                        <a:rPr lang="en-US" sz="1400">
                          <a:solidFill>
                            <a:schemeClr val="bg1"/>
                          </a:solidFill>
                          <a:latin typeface="Calibri" panose="020F0502020204030204" pitchFamily="34" charset="0"/>
                          <a:ea typeface="Calibri" panose="020F0502020204030204" pitchFamily="34" charset="0"/>
                          <a:cs typeface="Calibri" panose="020F0502020204030204" pitchFamily="34" charset="0"/>
                        </a:rPr>
                        <a:t>Value</a:t>
                      </a:r>
                    </a:p>
                  </a:txBody>
                  <a:tcPr/>
                </a:tc>
                <a:extLst>
                  <a:ext uri="{0D108BD9-81ED-4DB2-BD59-A6C34878D82A}">
                    <a16:rowId xmlns:a16="http://schemas.microsoft.com/office/drawing/2014/main" val="1846743457"/>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Door Alarm</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+3</a:t>
                      </a:r>
                    </a:p>
                  </a:txBody>
                  <a:tcPr/>
                </a:tc>
                <a:extLst>
                  <a:ext uri="{0D108BD9-81ED-4DB2-BD59-A6C34878D82A}">
                    <a16:rowId xmlns:a16="http://schemas.microsoft.com/office/drawing/2014/main" val="229006940"/>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Humidity Controlled</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+3</a:t>
                      </a:r>
                    </a:p>
                  </a:txBody>
                  <a:tcPr/>
                </a:tc>
                <a:extLst>
                  <a:ext uri="{0D108BD9-81ED-4DB2-BD59-A6C34878D82A}">
                    <a16:rowId xmlns:a16="http://schemas.microsoft.com/office/drawing/2014/main" val="1876731398"/>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Extra High Ceilings</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+3</a:t>
                      </a:r>
                    </a:p>
                  </a:txBody>
                  <a:tcPr/>
                </a:tc>
                <a:extLst>
                  <a:ext uri="{0D108BD9-81ED-4DB2-BD59-A6C34878D82A}">
                    <a16:rowId xmlns:a16="http://schemas.microsoft.com/office/drawing/2014/main" val="1666463230"/>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Electronically Controlled Doors</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+3</a:t>
                      </a:r>
                    </a:p>
                  </a:txBody>
                  <a:tcPr/>
                </a:tc>
                <a:extLst>
                  <a:ext uri="{0D108BD9-81ED-4DB2-BD59-A6C34878D82A}">
                    <a16:rowId xmlns:a16="http://schemas.microsoft.com/office/drawing/2014/main" val="1941316758"/>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24 Hour Access</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+3</a:t>
                      </a:r>
                    </a:p>
                  </a:txBody>
                  <a:tcPr/>
                </a:tc>
                <a:extLst>
                  <a:ext uri="{0D108BD9-81ED-4DB2-BD59-A6C34878D82A}">
                    <a16:rowId xmlns:a16="http://schemas.microsoft.com/office/drawing/2014/main" val="2783696653"/>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Immediate Access</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+3</a:t>
                      </a:r>
                    </a:p>
                  </a:txBody>
                  <a:tcPr/>
                </a:tc>
                <a:extLst>
                  <a:ext uri="{0D108BD9-81ED-4DB2-BD59-A6C34878D82A}">
                    <a16:rowId xmlns:a16="http://schemas.microsoft.com/office/drawing/2014/main" val="2493669520"/>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Shelving</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extLst>
                  <a:ext uri="{0D108BD9-81ED-4DB2-BD59-A6C34878D82A}">
                    <a16:rowId xmlns:a16="http://schemas.microsoft.com/office/drawing/2014/main" val="3820186478"/>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Front &amp; Back Doors</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extLst>
                  <a:ext uri="{0D108BD9-81ED-4DB2-BD59-A6C34878D82A}">
                    <a16:rowId xmlns:a16="http://schemas.microsoft.com/office/drawing/2014/main" val="4147710629"/>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Extra Tall Door</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extLst>
                  <a:ext uri="{0D108BD9-81ED-4DB2-BD59-A6C34878D82A}">
                    <a16:rowId xmlns:a16="http://schemas.microsoft.com/office/drawing/2014/main" val="3834517748"/>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Multiple Doors</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extLst>
                  <a:ext uri="{0D108BD9-81ED-4DB2-BD59-A6C34878D82A}">
                    <a16:rowId xmlns:a16="http://schemas.microsoft.com/office/drawing/2014/main" val="1391502561"/>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Extra Wide Door</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extLst>
                  <a:ext uri="{0D108BD9-81ED-4DB2-BD59-A6C34878D82A}">
                    <a16:rowId xmlns:a16="http://schemas.microsoft.com/office/drawing/2014/main" val="3650166000"/>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Interior Obstruction</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extLst>
                  <a:ext uri="{0D108BD9-81ED-4DB2-BD59-A6C34878D82A}">
                    <a16:rowId xmlns:a16="http://schemas.microsoft.com/office/drawing/2014/main" val="1893212755"/>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Exterior Obstruction</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extLst>
                  <a:ext uri="{0D108BD9-81ED-4DB2-BD59-A6C34878D82A}">
                    <a16:rowId xmlns:a16="http://schemas.microsoft.com/office/drawing/2014/main" val="2746140461"/>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Irregular Shape</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extLst>
                  <a:ext uri="{0D108BD9-81ED-4DB2-BD59-A6C34878D82A}">
                    <a16:rowId xmlns:a16="http://schemas.microsoft.com/office/drawing/2014/main" val="3565704093"/>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Proximity Challenged</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extLst>
                  <a:ext uri="{0D108BD9-81ED-4DB2-BD59-A6C34878D82A}">
                    <a16:rowId xmlns:a16="http://schemas.microsoft.com/office/drawing/2014/main" val="2345745512"/>
                  </a:ext>
                </a:extLst>
              </a:tr>
            </a:tbl>
          </a:graphicData>
        </a:graphic>
      </p:graphicFrame>
      <p:graphicFrame>
        <p:nvGraphicFramePr>
          <p:cNvPr id="4" name="Table 3">
            <a:extLst>
              <a:ext uri="{FF2B5EF4-FFF2-40B4-BE49-F238E27FC236}">
                <a16:creationId xmlns:a16="http://schemas.microsoft.com/office/drawing/2014/main" id="{7A6A9B21-199D-7661-4A4A-02441CC1836E}"/>
              </a:ext>
            </a:extLst>
          </p:cNvPr>
          <p:cNvGraphicFramePr>
            <a:graphicFrameLocks noGrp="1"/>
          </p:cNvGraphicFramePr>
          <p:nvPr/>
        </p:nvGraphicFramePr>
        <p:xfrm>
          <a:off x="6613833" y="719666"/>
          <a:ext cx="4988232" cy="4079240"/>
        </p:xfrm>
        <a:graphic>
          <a:graphicData uri="http://schemas.openxmlformats.org/drawingml/2006/table">
            <a:tbl>
              <a:tblPr firstRow="1" bandRow="1">
                <a:tableStyleId>{0505E3EF-67EA-436B-97B2-0124C06EBD24}</a:tableStyleId>
              </a:tblPr>
              <a:tblGrid>
                <a:gridCol w="2494116">
                  <a:extLst>
                    <a:ext uri="{9D8B030D-6E8A-4147-A177-3AD203B41FA5}">
                      <a16:colId xmlns:a16="http://schemas.microsoft.com/office/drawing/2014/main" val="2821823056"/>
                    </a:ext>
                  </a:extLst>
                </a:gridCol>
                <a:gridCol w="2494116">
                  <a:extLst>
                    <a:ext uri="{9D8B030D-6E8A-4147-A177-3AD203B41FA5}">
                      <a16:colId xmlns:a16="http://schemas.microsoft.com/office/drawing/2014/main" val="3167495563"/>
                    </a:ext>
                  </a:extLst>
                </a:gridCol>
              </a:tblGrid>
              <a:tr h="370840">
                <a:tc>
                  <a:txBody>
                    <a:bodyPr/>
                    <a:lstStyle/>
                    <a:p>
                      <a:r>
                        <a:rPr lang="en-US" sz="1400">
                          <a:solidFill>
                            <a:schemeClr val="bg1"/>
                          </a:solidFill>
                          <a:latin typeface="Calibri" panose="020F0502020204030204" pitchFamily="34" charset="0"/>
                          <a:ea typeface="Calibri" panose="020F0502020204030204" pitchFamily="34" charset="0"/>
                          <a:cs typeface="Calibri" panose="020F0502020204030204" pitchFamily="34" charset="0"/>
                        </a:rPr>
                        <a:t>Point Value Score</a:t>
                      </a:r>
                    </a:p>
                  </a:txBody>
                  <a:tcPr/>
                </a:tc>
                <a:tc>
                  <a:txBody>
                    <a:bodyPr/>
                    <a:lstStyle/>
                    <a:p>
                      <a:r>
                        <a:rPr lang="en-US" sz="1400">
                          <a:solidFill>
                            <a:schemeClr val="bg1"/>
                          </a:solidFill>
                          <a:latin typeface="Calibri" panose="020F0502020204030204" pitchFamily="34" charset="0"/>
                          <a:ea typeface="Calibri" panose="020F0502020204030204" pitchFamily="34" charset="0"/>
                          <a:cs typeface="Calibri" panose="020F0502020204030204" pitchFamily="34" charset="0"/>
                        </a:rPr>
                        <a:t>Rate Change</a:t>
                      </a:r>
                    </a:p>
                  </a:txBody>
                  <a:tcPr/>
                </a:tc>
                <a:extLst>
                  <a:ext uri="{0D108BD9-81ED-4DB2-BD59-A6C34878D82A}">
                    <a16:rowId xmlns:a16="http://schemas.microsoft.com/office/drawing/2014/main" val="2386317013"/>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-3</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-10%</a:t>
                      </a:r>
                    </a:p>
                  </a:txBody>
                  <a:tcPr/>
                </a:tc>
                <a:extLst>
                  <a:ext uri="{0D108BD9-81ED-4DB2-BD59-A6C34878D82A}">
                    <a16:rowId xmlns:a16="http://schemas.microsoft.com/office/drawing/2014/main" val="1901067850"/>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-2</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-8%</a:t>
                      </a:r>
                    </a:p>
                  </a:txBody>
                  <a:tcPr/>
                </a:tc>
                <a:extLst>
                  <a:ext uri="{0D108BD9-81ED-4DB2-BD59-A6C34878D82A}">
                    <a16:rowId xmlns:a16="http://schemas.microsoft.com/office/drawing/2014/main" val="1473521985"/>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-5%</a:t>
                      </a:r>
                    </a:p>
                  </a:txBody>
                  <a:tcPr/>
                </a:tc>
                <a:extLst>
                  <a:ext uri="{0D108BD9-81ED-4DB2-BD59-A6C34878D82A}">
                    <a16:rowId xmlns:a16="http://schemas.microsoft.com/office/drawing/2014/main" val="319001051"/>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0</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0%</a:t>
                      </a:r>
                    </a:p>
                  </a:txBody>
                  <a:tcPr/>
                </a:tc>
                <a:extLst>
                  <a:ext uri="{0D108BD9-81ED-4DB2-BD59-A6C34878D82A}">
                    <a16:rowId xmlns:a16="http://schemas.microsoft.com/office/drawing/2014/main" val="1811799059"/>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5%</a:t>
                      </a:r>
                    </a:p>
                  </a:txBody>
                  <a:tcPr/>
                </a:tc>
                <a:extLst>
                  <a:ext uri="{0D108BD9-81ED-4DB2-BD59-A6C34878D82A}">
                    <a16:rowId xmlns:a16="http://schemas.microsoft.com/office/drawing/2014/main" val="3336370431"/>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2</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8%</a:t>
                      </a:r>
                    </a:p>
                  </a:txBody>
                  <a:tcPr/>
                </a:tc>
                <a:extLst>
                  <a:ext uri="{0D108BD9-81ED-4DB2-BD59-A6C34878D82A}">
                    <a16:rowId xmlns:a16="http://schemas.microsoft.com/office/drawing/2014/main" val="2467625469"/>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3</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10%</a:t>
                      </a:r>
                    </a:p>
                  </a:txBody>
                  <a:tcPr/>
                </a:tc>
                <a:extLst>
                  <a:ext uri="{0D108BD9-81ED-4DB2-BD59-A6C34878D82A}">
                    <a16:rowId xmlns:a16="http://schemas.microsoft.com/office/drawing/2014/main" val="3522536680"/>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4</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12%</a:t>
                      </a:r>
                    </a:p>
                  </a:txBody>
                  <a:tcPr/>
                </a:tc>
                <a:extLst>
                  <a:ext uri="{0D108BD9-81ED-4DB2-BD59-A6C34878D82A}">
                    <a16:rowId xmlns:a16="http://schemas.microsoft.com/office/drawing/2014/main" val="1550173667"/>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5</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15%</a:t>
                      </a:r>
                    </a:p>
                  </a:txBody>
                  <a:tcPr/>
                </a:tc>
                <a:extLst>
                  <a:ext uri="{0D108BD9-81ED-4DB2-BD59-A6C34878D82A}">
                    <a16:rowId xmlns:a16="http://schemas.microsoft.com/office/drawing/2014/main" val="575377309"/>
                  </a:ext>
                </a:extLst>
              </a:tr>
              <a:tr h="370840">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6</a:t>
                      </a:r>
                    </a:p>
                  </a:txBody>
                  <a:tcPr/>
                </a:tc>
                <a:tc>
                  <a:txBody>
                    <a:bodyPr/>
                    <a:lstStyle/>
                    <a:p>
                      <a:r>
                        <a:rPr lang="en-US" sz="1400">
                          <a:solidFill>
                            <a:srgbClr val="1E90C3"/>
                          </a:solidFill>
                          <a:latin typeface="Calibri" panose="020F0502020204030204" pitchFamily="34" charset="0"/>
                          <a:ea typeface="Calibri" panose="020F0502020204030204" pitchFamily="34" charset="0"/>
                          <a:cs typeface="Calibri" panose="020F0502020204030204" pitchFamily="34" charset="0"/>
                        </a:rPr>
                        <a:t>20%</a:t>
                      </a:r>
                    </a:p>
                  </a:txBody>
                  <a:tcPr/>
                </a:tc>
                <a:extLst>
                  <a:ext uri="{0D108BD9-81ED-4DB2-BD59-A6C34878D82A}">
                    <a16:rowId xmlns:a16="http://schemas.microsoft.com/office/drawing/2014/main" val="4130832855"/>
                  </a:ext>
                </a:extLst>
              </a:tr>
            </a:tbl>
          </a:graphicData>
        </a:graphic>
      </p:graphicFrame>
      <p:sp>
        <p:nvSpPr>
          <p:cNvPr id="5" name="Arrow: Bent-Up 4">
            <a:extLst>
              <a:ext uri="{FF2B5EF4-FFF2-40B4-BE49-F238E27FC236}">
                <a16:creationId xmlns:a16="http://schemas.microsoft.com/office/drawing/2014/main" id="{70FD77AF-4BAB-9F2A-B985-6CDBF078FD4C}"/>
              </a:ext>
            </a:extLst>
          </p:cNvPr>
          <p:cNvSpPr/>
          <p:nvPr/>
        </p:nvSpPr>
        <p:spPr bwMode="auto">
          <a:xfrm rot="10800000" flipH="1" flipV="1">
            <a:off x="5083277" y="4886634"/>
            <a:ext cx="4277033" cy="983226"/>
          </a:xfrm>
          <a:prstGeom prst="bentUpArrow">
            <a:avLst/>
          </a:prstGeom>
          <a:solidFill>
            <a:srgbClr val="1E90C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4236371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42"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par>
                                <p:cTn id="17" presetID="15"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6EF67C-F852-43B2-BE70-43A985F612A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27198" y="380134"/>
            <a:ext cx="9585204" cy="609773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847292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37DFE-8B06-8B49-AB6A-249C4D7F61F6}"/>
              </a:ext>
            </a:extLst>
          </p:cNvPr>
          <p:cNvSpPr txBox="1"/>
          <p:nvPr/>
        </p:nvSpPr>
        <p:spPr>
          <a:xfrm>
            <a:off x="7699589" y="234283"/>
            <a:ext cx="1904432" cy="307777"/>
          </a:xfrm>
          <a:prstGeom prst="rect">
            <a:avLst/>
          </a:prstGeom>
          <a:noFill/>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1E90C3"/>
                </a:solidFill>
                <a:effectLst/>
                <a:uLnTx/>
                <a:uFillTx/>
                <a:latin typeface="Calibri" panose="020F0502020204030204"/>
                <a:ea typeface="+mn-ea"/>
                <a:cs typeface="+mn-cs"/>
              </a:rPr>
              <a:t>PUSH RATE TEMPLATES</a:t>
            </a:r>
          </a:p>
        </p:txBody>
      </p:sp>
      <p:graphicFrame>
        <p:nvGraphicFramePr>
          <p:cNvPr id="3" name="Table 2">
            <a:extLst>
              <a:ext uri="{FF2B5EF4-FFF2-40B4-BE49-F238E27FC236}">
                <a16:creationId xmlns:a16="http://schemas.microsoft.com/office/drawing/2014/main" id="{AB30944C-AA1A-EE01-239B-AD6DC2ED6373}"/>
              </a:ext>
            </a:extLst>
          </p:cNvPr>
          <p:cNvGraphicFramePr>
            <a:graphicFrameLocks noGrp="1"/>
          </p:cNvGraphicFramePr>
          <p:nvPr/>
        </p:nvGraphicFramePr>
        <p:xfrm>
          <a:off x="2650542" y="628826"/>
          <a:ext cx="6883401" cy="1143000"/>
        </p:xfrm>
        <a:graphic>
          <a:graphicData uri="http://schemas.openxmlformats.org/drawingml/2006/table">
            <a:tbl>
              <a:tblPr/>
              <a:tblGrid>
                <a:gridCol w="609319">
                  <a:extLst>
                    <a:ext uri="{9D8B030D-6E8A-4147-A177-3AD203B41FA5}">
                      <a16:colId xmlns:a16="http://schemas.microsoft.com/office/drawing/2014/main" val="806065887"/>
                    </a:ext>
                  </a:extLst>
                </a:gridCol>
                <a:gridCol w="609319">
                  <a:extLst>
                    <a:ext uri="{9D8B030D-6E8A-4147-A177-3AD203B41FA5}">
                      <a16:colId xmlns:a16="http://schemas.microsoft.com/office/drawing/2014/main" val="442579079"/>
                    </a:ext>
                  </a:extLst>
                </a:gridCol>
                <a:gridCol w="609319">
                  <a:extLst>
                    <a:ext uri="{9D8B030D-6E8A-4147-A177-3AD203B41FA5}">
                      <a16:colId xmlns:a16="http://schemas.microsoft.com/office/drawing/2014/main" val="3889291356"/>
                    </a:ext>
                  </a:extLst>
                </a:gridCol>
                <a:gridCol w="609319">
                  <a:extLst>
                    <a:ext uri="{9D8B030D-6E8A-4147-A177-3AD203B41FA5}">
                      <a16:colId xmlns:a16="http://schemas.microsoft.com/office/drawing/2014/main" val="820905920"/>
                    </a:ext>
                  </a:extLst>
                </a:gridCol>
                <a:gridCol w="675963">
                  <a:extLst>
                    <a:ext uri="{9D8B030D-6E8A-4147-A177-3AD203B41FA5}">
                      <a16:colId xmlns:a16="http://schemas.microsoft.com/office/drawing/2014/main" val="806345204"/>
                    </a:ext>
                  </a:extLst>
                </a:gridCol>
                <a:gridCol w="660096">
                  <a:extLst>
                    <a:ext uri="{9D8B030D-6E8A-4147-A177-3AD203B41FA5}">
                      <a16:colId xmlns:a16="http://schemas.microsoft.com/office/drawing/2014/main" val="1598922370"/>
                    </a:ext>
                  </a:extLst>
                </a:gridCol>
                <a:gridCol w="609319">
                  <a:extLst>
                    <a:ext uri="{9D8B030D-6E8A-4147-A177-3AD203B41FA5}">
                      <a16:colId xmlns:a16="http://schemas.microsoft.com/office/drawing/2014/main" val="1588270367"/>
                    </a:ext>
                  </a:extLst>
                </a:gridCol>
                <a:gridCol w="609319">
                  <a:extLst>
                    <a:ext uri="{9D8B030D-6E8A-4147-A177-3AD203B41FA5}">
                      <a16:colId xmlns:a16="http://schemas.microsoft.com/office/drawing/2014/main" val="1827765710"/>
                    </a:ext>
                  </a:extLst>
                </a:gridCol>
                <a:gridCol w="672790">
                  <a:extLst>
                    <a:ext uri="{9D8B030D-6E8A-4147-A177-3AD203B41FA5}">
                      <a16:colId xmlns:a16="http://schemas.microsoft.com/office/drawing/2014/main" val="298484552"/>
                    </a:ext>
                  </a:extLst>
                </a:gridCol>
                <a:gridCol w="609319">
                  <a:extLst>
                    <a:ext uri="{9D8B030D-6E8A-4147-A177-3AD203B41FA5}">
                      <a16:colId xmlns:a16="http://schemas.microsoft.com/office/drawing/2014/main" val="608560834"/>
                    </a:ext>
                  </a:extLst>
                </a:gridCol>
                <a:gridCol w="609319">
                  <a:extLst>
                    <a:ext uri="{9D8B030D-6E8A-4147-A177-3AD203B41FA5}">
                      <a16:colId xmlns:a16="http://schemas.microsoft.com/office/drawing/2014/main" val="574868187"/>
                    </a:ext>
                  </a:extLst>
                </a:gridCol>
              </a:tblGrid>
              <a:tr h="190500">
                <a:tc>
                  <a:txBody>
                    <a:bodyPr/>
                    <a:lstStyle/>
                    <a:p>
                      <a:pPr algn="l" fontAlgn="b">
                        <a:buNone/>
                      </a:pPr>
                      <a:endParaRPr lang="en-US" sz="1000" b="0" i="1" u="none" strike="noStrike">
                        <a:solidFill>
                          <a:srgbClr val="000000"/>
                        </a:solidFill>
                        <a:effectLst/>
                        <a:latin typeface="Aptos Narrow" panose="020B0004020202020204" pitchFamily="34" charset="0"/>
                      </a:endParaRPr>
                    </a:p>
                  </a:txBody>
                  <a:tcPr marL="0" marR="0" marT="0" marB="0" anchor="b">
                    <a:lnL>
                      <a:noFill/>
                    </a:lnL>
                    <a:lnR>
                      <a:noFill/>
                    </a:lnR>
                    <a:lnT>
                      <a:noFill/>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0" marR="0" marT="0" marB="0" anchor="b">
                    <a:lnL>
                      <a:noFill/>
                    </a:lnL>
                    <a:lnR>
                      <a:noFill/>
                    </a:lnR>
                    <a:lnT>
                      <a:noFill/>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153D64"/>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215C98"/>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4D93D9"/>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A6C9EC"/>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B5E6A2"/>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8ED973"/>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3C7D22"/>
                    </a:solid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275317"/>
                    </a:solidFill>
                  </a:tcPr>
                </a:tc>
                <a:extLst>
                  <a:ext uri="{0D108BD9-81ED-4DB2-BD59-A6C34878D82A}">
                    <a16:rowId xmlns:a16="http://schemas.microsoft.com/office/drawing/2014/main" val="858314217"/>
                  </a:ext>
                </a:extLst>
              </a:tr>
              <a:tr h="190500">
                <a:tc gridSpan="2">
                  <a:txBody>
                    <a:bodyPr/>
                    <a:lstStyle/>
                    <a:p>
                      <a:pPr algn="l" fontAlgn="b">
                        <a:buNone/>
                      </a:pPr>
                      <a:r>
                        <a:rPr lang="en-US" sz="1000" b="0" i="1" u="none" strike="noStrike">
                          <a:solidFill>
                            <a:srgbClr val="000000"/>
                          </a:solidFill>
                          <a:effectLst/>
                          <a:latin typeface="Aptos Narrow" panose="020B0004020202020204" pitchFamily="34" charset="0"/>
                        </a:rPr>
                        <a:t>Template Name:</a:t>
                      </a:r>
                    </a:p>
                  </a:txBody>
                  <a:tcPr marL="0" marR="0" marT="0" marB="0" anchor="b">
                    <a:lnL>
                      <a:noFill/>
                    </a:lnL>
                    <a:lnR>
                      <a:noFill/>
                    </a:lnR>
                    <a:lnT>
                      <a:noFill/>
                    </a:lnT>
                    <a:lnB>
                      <a:noFill/>
                    </a:lnB>
                    <a:noFill/>
                  </a:tcPr>
                </a:tc>
                <a:tc hMerge="1">
                  <a:txBody>
                    <a:bodyPr/>
                    <a:lstStyle/>
                    <a:p>
                      <a:endParaRPr lang="en-US"/>
                    </a:p>
                  </a:txBody>
                  <a:tcPr/>
                </a:tc>
                <a:tc>
                  <a:txBody>
                    <a:bodyPr/>
                    <a:lstStyle/>
                    <a:p>
                      <a:pPr algn="ctr" fontAlgn="b">
                        <a:buNone/>
                      </a:pPr>
                      <a:r>
                        <a:rPr lang="en-US" sz="1000" b="0" i="0" u="none" strike="noStrike">
                          <a:solidFill>
                            <a:srgbClr val="153D64"/>
                          </a:solidFill>
                          <a:effectLst/>
                          <a:latin typeface="Aptos Narrow" panose="020B0004020202020204" pitchFamily="34" charset="0"/>
                        </a:rPr>
                        <a:t>All Down </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153D64"/>
                          </a:solidFill>
                          <a:effectLst/>
                          <a:latin typeface="Aptos Narrow" panose="020B0004020202020204" pitchFamily="34" charset="0"/>
                        </a:rPr>
                        <a:t>All Down</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153D64"/>
                          </a:solidFill>
                          <a:effectLst/>
                          <a:latin typeface="Aptos Narrow" panose="020B0004020202020204" pitchFamily="34" charset="0"/>
                        </a:rPr>
                        <a:t>Competitive</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153D64"/>
                          </a:solidFill>
                          <a:effectLst/>
                          <a:latin typeface="Aptos Narrow" panose="020B0004020202020204" pitchFamily="34" charset="0"/>
                        </a:rPr>
                        <a:t>Competitive</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Standard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275317"/>
                          </a:solidFill>
                          <a:effectLst/>
                          <a:latin typeface="Aptos Narrow" panose="020B0004020202020204" pitchFamily="34" charset="0"/>
                        </a:rPr>
                        <a:t>Controlled</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275317"/>
                          </a:solidFill>
                          <a:effectLst/>
                          <a:latin typeface="Aptos Narrow" panose="020B0004020202020204" pitchFamily="34" charset="0"/>
                        </a:rPr>
                        <a:t>Controlled</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275317"/>
                          </a:solidFill>
                          <a:effectLst/>
                          <a:latin typeface="Aptos Narrow" panose="020B0004020202020204" pitchFamily="34" charset="0"/>
                        </a:rPr>
                        <a:t>All Up</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275317"/>
                          </a:solidFill>
                          <a:effectLst/>
                          <a:latin typeface="Aptos Narrow" panose="020B0004020202020204" pitchFamily="34" charset="0"/>
                        </a:rPr>
                        <a:t>All Up</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7897721"/>
                  </a:ext>
                </a:extLst>
              </a:tr>
              <a:tr h="190500">
                <a:tc>
                  <a:txBody>
                    <a:bodyPr/>
                    <a:lstStyle/>
                    <a:p>
                      <a:pPr algn="l" fontAlgn="b">
                        <a:buNone/>
                      </a:pPr>
                      <a:endParaRPr lang="en-US" sz="1000" b="0" i="1" u="none" strike="noStrike">
                        <a:solidFill>
                          <a:srgbClr val="000000"/>
                        </a:solidFill>
                        <a:effectLst/>
                        <a:latin typeface="Aptos Narrow" panose="020B0004020202020204" pitchFamily="34" charset="0"/>
                      </a:endParaRPr>
                    </a:p>
                  </a:txBody>
                  <a:tcPr marL="0" marR="0" marT="0" marB="0" anchor="b">
                    <a:lnL>
                      <a:noFill/>
                    </a:lnL>
                    <a:lnR>
                      <a:noFill/>
                    </a:lnR>
                    <a:lnT>
                      <a:noFill/>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0" marR="0" marT="0" marB="0" anchor="b">
                    <a:lnL>
                      <a:noFill/>
                    </a:lnL>
                    <a:lnR>
                      <a:noFill/>
                    </a:lnR>
                    <a:lnT>
                      <a:noFill/>
                    </a:lnT>
                    <a:lnB>
                      <a:noFill/>
                    </a:lnB>
                    <a:noFill/>
                  </a:tcPr>
                </a:tc>
                <a:tc>
                  <a:txBody>
                    <a:bodyPr/>
                    <a:lstStyle/>
                    <a:p>
                      <a:pPr algn="ctr" fontAlgn="b">
                        <a:buNone/>
                      </a:pPr>
                      <a:r>
                        <a:rPr lang="en-US" sz="1000" b="0" i="1" u="none" strike="noStrike">
                          <a:solidFill>
                            <a:srgbClr val="153D64"/>
                          </a:solidFill>
                          <a:effectLst/>
                          <a:latin typeface="Aptos Narrow" panose="020B0004020202020204" pitchFamily="34" charset="0"/>
                        </a:rPr>
                        <a:t>Extreme</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153D64"/>
                          </a:solidFill>
                          <a:effectLst/>
                          <a:latin typeface="Aptos Narrow" panose="020B00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1" u="none" strike="noStrike">
                          <a:solidFill>
                            <a:srgbClr val="153D64"/>
                          </a:solidFill>
                          <a:effectLst/>
                          <a:latin typeface="Aptos Narrow" panose="020B0004020202020204" pitchFamily="34" charset="0"/>
                        </a:rPr>
                        <a:t>Extreme</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153D64"/>
                          </a:solidFill>
                          <a:effectLst/>
                          <a:latin typeface="Aptos Narrow" panose="020B00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275317"/>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1" u="none" strike="noStrike">
                          <a:solidFill>
                            <a:srgbClr val="275317"/>
                          </a:solidFill>
                          <a:effectLst/>
                          <a:latin typeface="Aptos Narrow" panose="020B0004020202020204" pitchFamily="34" charset="0"/>
                        </a:rPr>
                        <a:t>Extreme</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275317"/>
                          </a:solidFill>
                          <a:effectLst/>
                          <a:latin typeface="Aptos Narrow" panose="020B00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1" u="none" strike="noStrike">
                          <a:solidFill>
                            <a:srgbClr val="275317"/>
                          </a:solidFill>
                          <a:effectLst/>
                          <a:latin typeface="Aptos Narrow" panose="020B0004020202020204" pitchFamily="34" charset="0"/>
                        </a:rPr>
                        <a:t>Extreme</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6554325"/>
                  </a:ext>
                </a:extLst>
              </a:tr>
              <a:tr h="190500">
                <a:tc gridSpan="2">
                  <a:txBody>
                    <a:bodyPr/>
                    <a:lstStyle/>
                    <a:p>
                      <a:pPr algn="l" fontAlgn="b">
                        <a:buNone/>
                      </a:pPr>
                      <a:r>
                        <a:rPr lang="en-US" sz="1000" b="0" i="1" u="none" strike="noStrike">
                          <a:solidFill>
                            <a:srgbClr val="000000"/>
                          </a:solidFill>
                          <a:effectLst/>
                          <a:latin typeface="Aptos Narrow" panose="020B0004020202020204" pitchFamily="34" charset="0"/>
                        </a:rPr>
                        <a:t>Push Effect:</a:t>
                      </a:r>
                    </a:p>
                  </a:txBody>
                  <a:tcPr marL="0" marR="0" marT="0" marB="0" anchor="b">
                    <a:lnL>
                      <a:noFill/>
                    </a:lnL>
                    <a:lnR>
                      <a:noFill/>
                    </a:lnR>
                    <a:lnT>
                      <a:noFill/>
                    </a:lnT>
                    <a:lnB>
                      <a:noFill/>
                    </a:lnB>
                    <a:noFill/>
                  </a:tcPr>
                </a:tc>
                <a:tc hMerge="1">
                  <a:txBody>
                    <a:bodyPr/>
                    <a:lstStyle/>
                    <a:p>
                      <a:endParaRPr lang="en-US"/>
                    </a:p>
                  </a:txBody>
                  <a:tcPr/>
                </a:tc>
                <a:tc>
                  <a:txBody>
                    <a:bodyPr/>
                    <a:lstStyle/>
                    <a:p>
                      <a:pPr algn="ctr" fontAlgn="b">
                        <a:buNone/>
                      </a:pPr>
                      <a:r>
                        <a:rPr lang="en-US" sz="800" b="0" i="1" u="none" strike="noStrike">
                          <a:solidFill>
                            <a:srgbClr val="000000"/>
                          </a:solidFill>
                          <a:effectLst/>
                          <a:latin typeface="Aptos Narrow" panose="020B0004020202020204" pitchFamily="34" charset="0"/>
                        </a:rPr>
                        <a:t>All Negative</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800" b="0" i="1" u="none" strike="noStrike">
                          <a:solidFill>
                            <a:srgbClr val="000000"/>
                          </a:solidFill>
                          <a:effectLst/>
                          <a:latin typeface="Aptos Narrow" panose="020B0004020202020204" pitchFamily="34" charset="0"/>
                        </a:rPr>
                        <a:t>All Negative</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800" b="0" i="1" u="none" strike="noStrike">
                          <a:solidFill>
                            <a:srgbClr val="000000"/>
                          </a:solidFill>
                          <a:effectLst/>
                          <a:latin typeface="Aptos Narrow" panose="020B0004020202020204" pitchFamily="34" charset="0"/>
                        </a:rPr>
                        <a:t>Mostly Negative</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800" b="0" i="1" u="none" strike="noStrike">
                          <a:solidFill>
                            <a:srgbClr val="000000"/>
                          </a:solidFill>
                          <a:effectLst/>
                          <a:latin typeface="Aptos Narrow" panose="020B0004020202020204" pitchFamily="34" charset="0"/>
                        </a:rPr>
                        <a:t>Mixed</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800" b="0" i="1" u="none" strike="noStrike">
                          <a:solidFill>
                            <a:srgbClr val="000000"/>
                          </a:solidFill>
                          <a:effectLst/>
                          <a:latin typeface="Aptos Narrow" panose="020B0004020202020204" pitchFamily="34" charset="0"/>
                        </a:rPr>
                        <a:t>Mixed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800" b="0" i="1" u="none" strike="noStrike">
                          <a:solidFill>
                            <a:srgbClr val="000000"/>
                          </a:solidFill>
                          <a:effectLst/>
                          <a:latin typeface="Aptos Narrow" panose="020B0004020202020204" pitchFamily="34" charset="0"/>
                        </a:rPr>
                        <a:t>Mixed</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800" b="0" i="1" u="none" strike="noStrike">
                          <a:solidFill>
                            <a:srgbClr val="000000"/>
                          </a:solidFill>
                          <a:effectLst/>
                          <a:latin typeface="Aptos Narrow" panose="020B0004020202020204" pitchFamily="34" charset="0"/>
                        </a:rPr>
                        <a:t>Mostly Positive</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800" b="0" i="1" u="none" strike="noStrike">
                          <a:solidFill>
                            <a:srgbClr val="000000"/>
                          </a:solidFill>
                          <a:effectLst/>
                          <a:latin typeface="Aptos Narrow" panose="020B0004020202020204" pitchFamily="34" charset="0"/>
                        </a:rPr>
                        <a:t>All Positive</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800" b="0" i="1" u="none" strike="noStrike">
                          <a:solidFill>
                            <a:srgbClr val="000000"/>
                          </a:solidFill>
                          <a:effectLst/>
                          <a:latin typeface="Aptos Narrow" panose="020B0004020202020204" pitchFamily="34" charset="0"/>
                        </a:rPr>
                        <a:t>All Positive</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268363228"/>
                  </a:ext>
                </a:extLst>
              </a:tr>
              <a:tr h="190500">
                <a:tc gridSpan="2">
                  <a:txBody>
                    <a:bodyPr/>
                    <a:lstStyle/>
                    <a:p>
                      <a:pPr algn="l" fontAlgn="b">
                        <a:buNone/>
                      </a:pPr>
                      <a:r>
                        <a:rPr lang="en-US" sz="1000" b="0" i="1" u="none" strike="noStrike">
                          <a:solidFill>
                            <a:srgbClr val="000000"/>
                          </a:solidFill>
                          <a:effectLst/>
                          <a:latin typeface="Aptos Narrow" panose="020B0004020202020204" pitchFamily="34" charset="0"/>
                        </a:rPr>
                        <a:t>Revenue Effect:</a:t>
                      </a:r>
                    </a:p>
                  </a:txBody>
                  <a:tcPr marL="0" marR="0" marT="0" marB="0" anchor="b">
                    <a:lnL>
                      <a:noFill/>
                    </a:lnL>
                    <a:lnR>
                      <a:noFill/>
                    </a:lnR>
                    <a:lnT>
                      <a:noFill/>
                    </a:lnT>
                    <a:lnB>
                      <a:noFill/>
                    </a:lnB>
                    <a:noFill/>
                  </a:tcPr>
                </a:tc>
                <a:tc hMerge="1">
                  <a:txBody>
                    <a:bodyPr/>
                    <a:lstStyle/>
                    <a:p>
                      <a:endParaRPr lang="en-US"/>
                    </a:p>
                  </a:txBody>
                  <a:tcPr/>
                </a:tc>
                <a:tc>
                  <a:txBody>
                    <a:bodyPr/>
                    <a:lstStyle/>
                    <a:p>
                      <a:pPr algn="ctr" fontAlgn="b">
                        <a:buNone/>
                      </a:pPr>
                      <a:r>
                        <a:rPr lang="en-US" sz="1000" b="0" i="0" u="none" strike="noStrike">
                          <a:solidFill>
                            <a:srgbClr val="000000"/>
                          </a:solidFill>
                          <a:effectLst/>
                          <a:latin typeface="Aptos Narrow" panose="020B0004020202020204" pitchFamily="34" charset="0"/>
                        </a:rPr>
                        <a:t>-</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 + +</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 + +</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 + + +</a:t>
                      </a:r>
                    </a:p>
                  </a:txBody>
                  <a:tcPr marL="0" marR="0" marT="0" marB="0" anchor="b">
                    <a:lnL>
                      <a:noFill/>
                    </a:lnL>
                    <a:lnR>
                      <a:noFill/>
                    </a:lnR>
                    <a:lnT>
                      <a:noFill/>
                    </a:lnT>
                    <a:lnB>
                      <a:noFill/>
                    </a:lnB>
                    <a:noFill/>
                  </a:tcPr>
                </a:tc>
                <a:extLst>
                  <a:ext uri="{0D108BD9-81ED-4DB2-BD59-A6C34878D82A}">
                    <a16:rowId xmlns:a16="http://schemas.microsoft.com/office/drawing/2014/main" val="4179320174"/>
                  </a:ext>
                </a:extLst>
              </a:tr>
              <a:tr h="190500">
                <a:tc gridSpan="2">
                  <a:txBody>
                    <a:bodyPr/>
                    <a:lstStyle/>
                    <a:p>
                      <a:pPr algn="l" fontAlgn="b">
                        <a:buNone/>
                      </a:pPr>
                      <a:r>
                        <a:rPr lang="en-US" sz="1000" b="0" i="1" u="none" strike="noStrike">
                          <a:solidFill>
                            <a:srgbClr val="000000"/>
                          </a:solidFill>
                          <a:effectLst/>
                          <a:latin typeface="Aptos Narrow" panose="020B0004020202020204" pitchFamily="34" charset="0"/>
                        </a:rPr>
                        <a:t>Occupancy Effect:</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b">
                        <a:buNone/>
                      </a:pPr>
                      <a:r>
                        <a:rPr lang="en-US" sz="1000" b="0" i="0" u="none" strike="noStrike">
                          <a:solidFill>
                            <a:srgbClr val="000000"/>
                          </a:solidFill>
                          <a:effectLst/>
                          <a:latin typeface="Aptos Narrow" panose="020B0004020202020204" pitchFamily="34" charset="0"/>
                        </a:rPr>
                        <a:t>+ + + +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 +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 +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 +</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Aptos Narrow" panose="020B0004020202020204" pitchFamily="34" charset="0"/>
                        </a:rPr>
                        <a:t>-</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3831675"/>
                  </a:ext>
                </a:extLst>
              </a:tr>
            </a:tbl>
          </a:graphicData>
        </a:graphic>
      </p:graphicFrame>
      <p:pic>
        <p:nvPicPr>
          <p:cNvPr id="4" name="Picture 3">
            <a:extLst>
              <a:ext uri="{FF2B5EF4-FFF2-40B4-BE49-F238E27FC236}">
                <a16:creationId xmlns:a16="http://schemas.microsoft.com/office/drawing/2014/main" id="{A00CF6F1-E253-2312-C7E8-9CD8A70F654B}"/>
              </a:ext>
            </a:extLst>
          </p:cNvPr>
          <p:cNvPicPr>
            <a:picLocks noChangeAspect="1"/>
          </p:cNvPicPr>
          <p:nvPr/>
        </p:nvPicPr>
        <p:blipFill>
          <a:blip r:embed="rId2"/>
          <a:stretch>
            <a:fillRect/>
          </a:stretch>
        </p:blipFill>
        <p:spPr>
          <a:xfrm>
            <a:off x="1785129" y="1945357"/>
            <a:ext cx="8614228" cy="48459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79432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2712A5-C36E-F132-77F8-D40E75FD7D0A}"/>
              </a:ext>
            </a:extLst>
          </p:cNvPr>
          <p:cNvPicPr>
            <a:picLocks noChangeAspect="1"/>
          </p:cNvPicPr>
          <p:nvPr/>
        </p:nvPicPr>
        <p:blipFill>
          <a:blip r:embed="rId3"/>
          <a:stretch>
            <a:fillRect/>
          </a:stretch>
        </p:blipFill>
        <p:spPr>
          <a:xfrm>
            <a:off x="2304520" y="1375699"/>
            <a:ext cx="7582958" cy="2495898"/>
          </a:xfrm>
          <a:prstGeom prst="rect">
            <a:avLst/>
          </a:prstGeom>
          <a:ln>
            <a:noFill/>
          </a:ln>
          <a:effectLst>
            <a:outerShdw blurRad="190500" algn="tl" rotWithShape="0">
              <a:srgbClr val="1E8EC0">
                <a:alpha val="70000"/>
              </a:srgbClr>
            </a:outerShdw>
          </a:effectLst>
        </p:spPr>
      </p:pic>
      <p:sp>
        <p:nvSpPr>
          <p:cNvPr id="3" name="TextBox 2">
            <a:extLst>
              <a:ext uri="{FF2B5EF4-FFF2-40B4-BE49-F238E27FC236}">
                <a16:creationId xmlns:a16="http://schemas.microsoft.com/office/drawing/2014/main" id="{F3FE2CCD-CEBE-CE2D-F3F7-EC2E7900DD9A}"/>
              </a:ext>
            </a:extLst>
          </p:cNvPr>
          <p:cNvSpPr txBox="1"/>
          <p:nvPr/>
        </p:nvSpPr>
        <p:spPr>
          <a:xfrm>
            <a:off x="0" y="830745"/>
            <a:ext cx="1219200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E8EC0"/>
                </a:solidFill>
                <a:effectLst/>
                <a:uLnTx/>
                <a:uFillTx/>
                <a:latin typeface="Calibri" panose="020F0502020204030204"/>
                <a:ea typeface="+mn-ea"/>
                <a:cs typeface="+mn-cs"/>
              </a:rPr>
              <a:t>Revenue Pro Templates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can adjust dynamically by Time of Year and even Time of Day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6DA1C6F-E1D0-FB58-A4B2-3D9779BD15AF}"/>
              </a:ext>
            </a:extLst>
          </p:cNvPr>
          <p:cNvPicPr>
            <a:picLocks noChangeAspect="1"/>
          </p:cNvPicPr>
          <p:nvPr/>
        </p:nvPicPr>
        <p:blipFill>
          <a:blip r:embed="rId4"/>
          <a:stretch>
            <a:fillRect/>
          </a:stretch>
        </p:blipFill>
        <p:spPr>
          <a:xfrm>
            <a:off x="6761509" y="4263751"/>
            <a:ext cx="4876168" cy="2083453"/>
          </a:xfrm>
          <a:prstGeom prst="rect">
            <a:avLst/>
          </a:prstGeom>
          <a:ln>
            <a:noFill/>
          </a:ln>
          <a:effectLst>
            <a:outerShdw blurRad="190500" algn="tl" rotWithShape="0">
              <a:srgbClr val="1E8EC0">
                <a:alpha val="70000"/>
              </a:srgbClr>
            </a:outerShdw>
          </a:effectLst>
        </p:spPr>
      </p:pic>
      <p:pic>
        <p:nvPicPr>
          <p:cNvPr id="5" name="Picture 4">
            <a:extLst>
              <a:ext uri="{FF2B5EF4-FFF2-40B4-BE49-F238E27FC236}">
                <a16:creationId xmlns:a16="http://schemas.microsoft.com/office/drawing/2014/main" id="{7A83489A-DB32-54F6-2F62-C17A0FE71407}"/>
              </a:ext>
            </a:extLst>
          </p:cNvPr>
          <p:cNvPicPr>
            <a:picLocks noChangeAspect="1"/>
          </p:cNvPicPr>
          <p:nvPr/>
        </p:nvPicPr>
        <p:blipFill>
          <a:blip r:embed="rId5"/>
          <a:stretch>
            <a:fillRect/>
          </a:stretch>
        </p:blipFill>
        <p:spPr>
          <a:xfrm>
            <a:off x="332570" y="4103873"/>
            <a:ext cx="5763429" cy="1743318"/>
          </a:xfrm>
          <a:prstGeom prst="rect">
            <a:avLst/>
          </a:prstGeom>
          <a:effectLst>
            <a:outerShdw blurRad="63500" sx="102000" sy="102000" algn="ctr" rotWithShape="0">
              <a:srgbClr val="00B0F0">
                <a:alpha val="40000"/>
              </a:srgbClr>
            </a:outerShdw>
          </a:effectLst>
        </p:spPr>
      </p:pic>
    </p:spTree>
    <p:extLst>
      <p:ext uri="{BB962C8B-B14F-4D97-AF65-F5344CB8AC3E}">
        <p14:creationId xmlns:p14="http://schemas.microsoft.com/office/powerpoint/2010/main" val="397061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1CEC7E-6DA4-41EE-D20C-4757FDC5CD86}"/>
              </a:ext>
            </a:extLst>
          </p:cNvPr>
          <p:cNvPicPr>
            <a:picLocks noChangeAspect="1"/>
          </p:cNvPicPr>
          <p:nvPr/>
        </p:nvPicPr>
        <p:blipFill>
          <a:blip r:embed="rId3"/>
          <a:stretch>
            <a:fillRect/>
          </a:stretch>
        </p:blipFill>
        <p:spPr>
          <a:xfrm>
            <a:off x="21483" y="868957"/>
            <a:ext cx="12149033" cy="5120086"/>
          </a:xfrm>
          <a:prstGeom prst="rect">
            <a:avLst/>
          </a:prstGeom>
          <a:ln>
            <a:noFill/>
          </a:ln>
          <a:effectLst>
            <a:outerShdw blurRad="292100" dist="139700" dir="2700000" algn="tl" rotWithShape="0">
              <a:srgbClr val="333333">
                <a:alpha val="65000"/>
              </a:srgbClr>
            </a:outerShdw>
          </a:effectLst>
        </p:spPr>
      </p:pic>
      <p:sp>
        <p:nvSpPr>
          <p:cNvPr id="5" name="Rectangle: Rounded Corners 4">
            <a:extLst>
              <a:ext uri="{FF2B5EF4-FFF2-40B4-BE49-F238E27FC236}">
                <a16:creationId xmlns:a16="http://schemas.microsoft.com/office/drawing/2014/main" id="{27EA88F5-3BAA-19BF-9AD5-2C2991D90D74}"/>
              </a:ext>
            </a:extLst>
          </p:cNvPr>
          <p:cNvSpPr/>
          <p:nvPr/>
        </p:nvSpPr>
        <p:spPr>
          <a:xfrm>
            <a:off x="4133088" y="2057400"/>
            <a:ext cx="3355848" cy="2898648"/>
          </a:xfrm>
          <a:prstGeom prst="roundRect">
            <a:avLst/>
          </a:prstGeom>
          <a:noFill/>
          <a:ln w="381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2661866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6D841-F9B8-1880-AA9E-6FCBD15869C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A8D6884-4BF0-BCC7-F1BB-E906D68341E3}"/>
              </a:ext>
            </a:extLst>
          </p:cNvPr>
          <p:cNvSpPr txBox="1"/>
          <p:nvPr/>
        </p:nvSpPr>
        <p:spPr>
          <a:xfrm>
            <a:off x="5283053" y="165091"/>
            <a:ext cx="162589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1E90C3"/>
                </a:solidFill>
                <a:effectLst/>
                <a:uLnTx/>
                <a:uFillTx/>
                <a:latin typeface="Calibri" panose="020F0502020204030204"/>
                <a:ea typeface="+mn-ea"/>
                <a:cs typeface="+mn-cs"/>
              </a:rPr>
              <a:t>DYNAMIC SPECIALS</a:t>
            </a:r>
          </a:p>
        </p:txBody>
      </p:sp>
      <p:pic>
        <p:nvPicPr>
          <p:cNvPr id="3" name="Picture 2" descr="A cartoon of a person standing on a graph&#10;&#10;AI-generated content may be incorrect.">
            <a:extLst>
              <a:ext uri="{FF2B5EF4-FFF2-40B4-BE49-F238E27FC236}">
                <a16:creationId xmlns:a16="http://schemas.microsoft.com/office/drawing/2014/main" id="{9114CA35-FF6C-94D6-2CFD-8CF4E67627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9663" y="79513"/>
            <a:ext cx="9632674" cy="642178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2" name="Picture 1" descr="A logo with a black background&#10;&#10;Description automatically generated">
            <a:extLst>
              <a:ext uri="{FF2B5EF4-FFF2-40B4-BE49-F238E27FC236}">
                <a16:creationId xmlns:a16="http://schemas.microsoft.com/office/drawing/2014/main" id="{9F36E176-529B-7339-D94A-D818AF79C672}"/>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7544939" y="472868"/>
            <a:ext cx="1323758" cy="562597"/>
          </a:xfrm>
          <a:prstGeom prst="rect">
            <a:avLst/>
          </a:prstGeom>
        </p:spPr>
      </p:pic>
    </p:spTree>
    <p:extLst>
      <p:ext uri="{BB962C8B-B14F-4D97-AF65-F5344CB8AC3E}">
        <p14:creationId xmlns:p14="http://schemas.microsoft.com/office/powerpoint/2010/main" val="86581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8AAF0-444A-968C-8154-0EDBCFA3200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CC6FF8A-1E65-9B02-A79C-865F7EAD904E}"/>
              </a:ext>
            </a:extLst>
          </p:cNvPr>
          <p:cNvPicPr>
            <a:picLocks noChangeAspect="1"/>
          </p:cNvPicPr>
          <p:nvPr/>
        </p:nvPicPr>
        <p:blipFill>
          <a:blip r:embed="rId3"/>
          <a:stretch>
            <a:fillRect/>
          </a:stretch>
        </p:blipFill>
        <p:spPr>
          <a:xfrm>
            <a:off x="10174726" y="704733"/>
            <a:ext cx="1736448" cy="4866727"/>
          </a:xfrm>
          <a:prstGeom prst="roundRect">
            <a:avLst>
              <a:gd name="adj" fmla="val 4167"/>
            </a:avLst>
          </a:prstGeom>
          <a:solidFill>
            <a:srgbClr val="FFFFFF"/>
          </a:solidFill>
          <a:ln w="7620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1026" name="Picture 2">
            <a:extLst>
              <a:ext uri="{FF2B5EF4-FFF2-40B4-BE49-F238E27FC236}">
                <a16:creationId xmlns:a16="http://schemas.microsoft.com/office/drawing/2014/main" id="{5A341558-0662-908B-45D1-9340C2C0E3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558" y="704733"/>
            <a:ext cx="9816682" cy="59881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2993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3043F-F9DB-A126-1B46-2DC62044DBAE}"/>
            </a:ext>
          </a:extLst>
        </p:cNvPr>
        <p:cNvGrpSpPr/>
        <p:nvPr/>
      </p:nvGrpSpPr>
      <p:grpSpPr>
        <a:xfrm>
          <a:off x="0" y="0"/>
          <a:ext cx="0" cy="0"/>
          <a:chOff x="0" y="0"/>
          <a:chExt cx="0" cy="0"/>
        </a:xfrm>
      </p:grpSpPr>
      <p:pic>
        <p:nvPicPr>
          <p:cNvPr id="7" name="Picture 6" descr="A group of tags with text&#10;&#10;AI-generated content may be incorrect.">
            <a:extLst>
              <a:ext uri="{FF2B5EF4-FFF2-40B4-BE49-F238E27FC236}">
                <a16:creationId xmlns:a16="http://schemas.microsoft.com/office/drawing/2014/main" id="{EC1E8982-8FFE-02B7-32A6-764FAF8970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 y="0"/>
            <a:ext cx="12189023" cy="6858000"/>
          </a:xfrm>
          <a:prstGeom prst="rect">
            <a:avLst/>
          </a:prstGeom>
        </p:spPr>
      </p:pic>
      <p:pic>
        <p:nvPicPr>
          <p:cNvPr id="5" name="Picture 4" descr="Cartoon person holding a stick&#10;&#10;AI-generated content may be incorrect.">
            <a:extLst>
              <a:ext uri="{FF2B5EF4-FFF2-40B4-BE49-F238E27FC236}">
                <a16:creationId xmlns:a16="http://schemas.microsoft.com/office/drawing/2014/main" id="{B5448064-8907-2CE3-92E3-200A2C51611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7513982" y="1395288"/>
            <a:ext cx="3945835" cy="5462712"/>
          </a:xfrm>
          <a:prstGeom prst="rect">
            <a:avLst/>
          </a:prstGeom>
        </p:spPr>
      </p:pic>
    </p:spTree>
    <p:extLst>
      <p:ext uri="{BB962C8B-B14F-4D97-AF65-F5344CB8AC3E}">
        <p14:creationId xmlns:p14="http://schemas.microsoft.com/office/powerpoint/2010/main" val="4059335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Scale>
                                      <p:cBhvr>
                                        <p:cTn id="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5"/>
                                        </p:tgtEl>
                                        <p:attrNameLst>
                                          <p:attrName>ppt_x</p:attrName>
                                          <p:attrName>ppt_y</p:attrName>
                                        </p:attrNameLst>
                                      </p:cBhvr>
                                    </p:animMotion>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200002-6D34-5B7D-6392-9755ED6337D0}"/>
              </a:ext>
            </a:extLst>
          </p:cNvPr>
          <p:cNvPicPr>
            <a:picLocks noChangeAspect="1"/>
          </p:cNvPicPr>
          <p:nvPr/>
        </p:nvPicPr>
        <p:blipFill>
          <a:blip r:embed="rId2"/>
          <a:stretch>
            <a:fillRect/>
          </a:stretch>
        </p:blipFill>
        <p:spPr>
          <a:xfrm>
            <a:off x="52279" y="843915"/>
            <a:ext cx="12087442" cy="3394805"/>
          </a:xfrm>
          <a:prstGeom prst="rect">
            <a:avLst/>
          </a:prstGeom>
          <a:ln>
            <a:noFill/>
          </a:ln>
          <a:effectLst>
            <a:outerShdw blurRad="190500" algn="tl" rotWithShape="0">
              <a:srgbClr val="000000">
                <a:alpha val="70000"/>
              </a:srgbClr>
            </a:outerShdw>
          </a:effectLst>
        </p:spPr>
      </p:pic>
      <p:pic>
        <p:nvPicPr>
          <p:cNvPr id="3" name="Picture 2">
            <a:extLst>
              <a:ext uri="{FF2B5EF4-FFF2-40B4-BE49-F238E27FC236}">
                <a16:creationId xmlns:a16="http://schemas.microsoft.com/office/drawing/2014/main" id="{53CCB392-3414-0E06-ACF6-B9E7C010830D}"/>
              </a:ext>
            </a:extLst>
          </p:cNvPr>
          <p:cNvPicPr>
            <a:picLocks noChangeAspect="1"/>
          </p:cNvPicPr>
          <p:nvPr/>
        </p:nvPicPr>
        <p:blipFill>
          <a:blip r:embed="rId3"/>
          <a:srcRect b="44667"/>
          <a:stretch>
            <a:fillRect/>
          </a:stretch>
        </p:blipFill>
        <p:spPr>
          <a:xfrm>
            <a:off x="52279" y="3715242"/>
            <a:ext cx="12088368" cy="307297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1165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59AEA9-C42A-51F7-F86A-31949BAD9FDC}"/>
              </a:ext>
            </a:extLst>
          </p:cNvPr>
          <p:cNvSpPr txBox="1"/>
          <p:nvPr/>
        </p:nvSpPr>
        <p:spPr>
          <a:xfrm>
            <a:off x="104558" y="1289935"/>
            <a:ext cx="10093910" cy="3600986"/>
          </a:xfrm>
          <a:prstGeom prst="rect">
            <a:avLst/>
          </a:prstGeom>
          <a:noFill/>
        </p:spPr>
        <p:txBody>
          <a:bodyPr wrap="square" rtlCol="0">
            <a:spAutoFit/>
          </a:bodyPr>
          <a:lstStyle/>
          <a:p>
            <a:r>
              <a:rPr lang="en-US">
                <a:solidFill>
                  <a:srgbClr val="1E90C3"/>
                </a:solidFill>
                <a:latin typeface="Calibri" panose="020F0502020204030204" pitchFamily="34" charset="0"/>
                <a:ea typeface="Calibri" panose="020F0502020204030204" pitchFamily="34" charset="0"/>
                <a:cs typeface="Calibri" panose="020F0502020204030204" pitchFamily="34" charset="0"/>
              </a:rPr>
              <a:t>Alerts for Key Thresholds and Measurables </a:t>
            </a:r>
            <a:br>
              <a:rPr lang="en-US">
                <a:solidFill>
                  <a:srgbClr val="1E90C3"/>
                </a:solidFill>
                <a:latin typeface="Calibri" panose="020F0502020204030204" pitchFamily="34" charset="0"/>
                <a:ea typeface="Calibri" panose="020F0502020204030204" pitchFamily="34" charset="0"/>
                <a:cs typeface="Calibri" panose="020F0502020204030204" pitchFamily="34" charset="0"/>
              </a:rPr>
            </a:br>
            <a:endParaRPr lang="en-US">
              <a:solidFill>
                <a:srgbClr val="1E90C3"/>
              </a:solidFill>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Occupancy Trends</a:t>
            </a:r>
          </a:p>
          <a:p>
            <a:pPr marL="742950" lvl="1" indent="-285750">
              <a:buFont typeface="Arial" panose="020B0604020202020204" pitchFamily="34" charset="0"/>
              <a:buChar char="•"/>
            </a:pPr>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Revenue Thresholds</a:t>
            </a:r>
          </a:p>
          <a:p>
            <a:pPr marL="742950" lvl="1" indent="-285750">
              <a:buFont typeface="Arial" panose="020B0604020202020204" pitchFamily="34" charset="0"/>
              <a:buChar char="•"/>
            </a:pPr>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Delinquency Thresholds</a:t>
            </a:r>
          </a:p>
          <a:p>
            <a:pPr marL="742950" lvl="1" indent="-285750">
              <a:buFont typeface="Arial" panose="020B0604020202020204" pitchFamily="34" charset="0"/>
              <a:buChar char="•"/>
            </a:pPr>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Auction Alert – Tenant Accounts &gt; 90 Days Past Due</a:t>
            </a:r>
          </a:p>
          <a:p>
            <a:pPr marL="742950" lvl="1" indent="-285750">
              <a:buFont typeface="Arial" panose="020B0604020202020204" pitchFamily="34" charset="0"/>
              <a:buChar char="•"/>
            </a:pPr>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Rate Increase Alert – No Increase &gt; 1 Year</a:t>
            </a:r>
          </a:p>
          <a:p>
            <a:pPr marL="742950" lvl="1" indent="-285750">
              <a:buFont typeface="Arial" panose="020B0604020202020204" pitchFamily="34" charset="0"/>
              <a:buChar char="•"/>
            </a:pPr>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Variance Alert – Variance &gt; 20% Below Standard Rate</a:t>
            </a:r>
          </a:p>
          <a:p>
            <a:pPr marL="742950" lvl="1" indent="-285750">
              <a:buFont typeface="Arial" panose="020B0604020202020204" pitchFamily="34" charset="0"/>
              <a:buChar char="•"/>
            </a:pPr>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Unit Type Occupancy less than 80% with No Push Rate Down</a:t>
            </a:r>
          </a:p>
          <a:p>
            <a:pPr marL="742950" lvl="1" indent="-285750">
              <a:buFont typeface="Arial" panose="020B0604020202020204" pitchFamily="34" charset="0"/>
              <a:buChar char="•"/>
            </a:pPr>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Unit Type Occupancy greater than 92% with No Push Rate Up</a:t>
            </a:r>
          </a:p>
          <a:p>
            <a:endParaRPr lang="en-US" sz="20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132A19C-719B-1A13-C9DC-37A1404DE49A}"/>
              </a:ext>
            </a:extLst>
          </p:cNvPr>
          <p:cNvSpPr txBox="1"/>
          <p:nvPr/>
        </p:nvSpPr>
        <p:spPr>
          <a:xfrm>
            <a:off x="381915" y="4932462"/>
            <a:ext cx="10093910" cy="830997"/>
          </a:xfrm>
          <a:prstGeom prst="rect">
            <a:avLst/>
          </a:prstGeom>
          <a:noFill/>
        </p:spPr>
        <p:txBody>
          <a:bodyPr wrap="square">
            <a:spAutoFit/>
          </a:bodyPr>
          <a:lstStyle/>
          <a:p>
            <a:pPr lvl="1"/>
            <a:r>
              <a:rPr lang="en-US">
                <a:solidFill>
                  <a:srgbClr val="4498BF"/>
                </a:solidFill>
                <a:latin typeface="Calibri" panose="020F0502020204030204" pitchFamily="34" charset="0"/>
                <a:ea typeface="Calibri" panose="020F0502020204030204" pitchFamily="34" charset="0"/>
                <a:cs typeface="Calibri" panose="020F0502020204030204" pitchFamily="34" charset="0"/>
              </a:rPr>
              <a:t>Customizable by Location, </a:t>
            </a:r>
            <a:br>
              <a:rPr lang="en-US">
                <a:solidFill>
                  <a:srgbClr val="4498BF"/>
                </a:solidFill>
                <a:latin typeface="Calibri" panose="020F0502020204030204" pitchFamily="34" charset="0"/>
                <a:ea typeface="Calibri" panose="020F0502020204030204" pitchFamily="34" charset="0"/>
                <a:cs typeface="Calibri" panose="020F0502020204030204" pitchFamily="34" charset="0"/>
              </a:rPr>
            </a:br>
            <a:r>
              <a:rPr lang="en-US">
                <a:solidFill>
                  <a:srgbClr val="4498BF"/>
                </a:solidFill>
                <a:latin typeface="Calibri" panose="020F0502020204030204" pitchFamily="34" charset="0"/>
                <a:ea typeface="Calibri" panose="020F0502020204030204" pitchFamily="34" charset="0"/>
                <a:cs typeface="Calibri" panose="020F0502020204030204" pitchFamily="34" charset="0"/>
              </a:rPr>
              <a:t>Frequency, Recipients, Trends and Metrics</a:t>
            </a:r>
          </a:p>
        </p:txBody>
      </p:sp>
      <p:pic>
        <p:nvPicPr>
          <p:cNvPr id="9" name="Picture 8">
            <a:extLst>
              <a:ext uri="{FF2B5EF4-FFF2-40B4-BE49-F238E27FC236}">
                <a16:creationId xmlns:a16="http://schemas.microsoft.com/office/drawing/2014/main" id="{8213A8C3-9881-C176-3841-DE22349C52AE}"/>
              </a:ext>
            </a:extLst>
          </p:cNvPr>
          <p:cNvPicPr>
            <a:picLocks noChangeAspect="1"/>
          </p:cNvPicPr>
          <p:nvPr/>
        </p:nvPicPr>
        <p:blipFill>
          <a:blip r:embed="rId3"/>
          <a:stretch>
            <a:fillRect/>
          </a:stretch>
        </p:blipFill>
        <p:spPr>
          <a:xfrm>
            <a:off x="7313411" y="785324"/>
            <a:ext cx="4555431" cy="5308784"/>
          </a:xfrm>
          <a:prstGeom prst="rect">
            <a:avLst/>
          </a:prstGeom>
          <a:ln>
            <a:noFill/>
          </a:ln>
          <a:effectLst>
            <a:outerShdw blurRad="190500" algn="tl" rotWithShape="0">
              <a:srgbClr val="000000">
                <a:alpha val="70000"/>
              </a:srgbClr>
            </a:outerShdw>
          </a:effectLst>
        </p:spPr>
      </p:pic>
      <p:sp>
        <p:nvSpPr>
          <p:cNvPr id="4" name="Rectangle 3">
            <a:extLst>
              <a:ext uri="{FF2B5EF4-FFF2-40B4-BE49-F238E27FC236}">
                <a16:creationId xmlns:a16="http://schemas.microsoft.com/office/drawing/2014/main" id="{4DAFEA3F-B6B1-005E-6521-B23A1EB7CCA5}"/>
              </a:ext>
            </a:extLst>
          </p:cNvPr>
          <p:cNvSpPr/>
          <p:nvPr/>
        </p:nvSpPr>
        <p:spPr>
          <a:xfrm>
            <a:off x="7863840" y="2624328"/>
            <a:ext cx="3218688" cy="95410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ogo with a black background&#10;&#10;Description automatically generated">
            <a:extLst>
              <a:ext uri="{FF2B5EF4-FFF2-40B4-BE49-F238E27FC236}">
                <a16:creationId xmlns:a16="http://schemas.microsoft.com/office/drawing/2014/main" id="{1016DA43-8E60-941C-60ED-4FFC24DEF275}"/>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8435938" y="2742819"/>
            <a:ext cx="1828800" cy="777240"/>
          </a:xfrm>
          <a:prstGeom prst="rect">
            <a:avLst/>
          </a:prstGeom>
        </p:spPr>
      </p:pic>
    </p:spTree>
    <p:extLst>
      <p:ext uri="{BB962C8B-B14F-4D97-AF65-F5344CB8AC3E}">
        <p14:creationId xmlns:p14="http://schemas.microsoft.com/office/powerpoint/2010/main" val="2207810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00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10" fill="hold">
                            <p:stCondLst>
                              <p:cond delay="2000"/>
                            </p:stCondLst>
                            <p:childTnLst>
                              <p:par>
                                <p:cTn id="11" presetID="42" presetClass="entr" presetSubtype="0" fill="hold" nodeType="afterEffect">
                                  <p:stCondLst>
                                    <p:cond delay="100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1000"/>
                                        <p:tgtEl>
                                          <p:spTgt spid="7">
                                            <p:txEl>
                                              <p:pRg st="2" end="2"/>
                                            </p:txEl>
                                          </p:spTgt>
                                        </p:tgtEl>
                                      </p:cBhvr>
                                    </p:animEffect>
                                    <p:anim calcmode="lin" valueType="num">
                                      <p:cBhvr>
                                        <p:cTn id="14"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4000"/>
                            </p:stCondLst>
                            <p:childTnLst>
                              <p:par>
                                <p:cTn id="17" presetID="42" presetClass="entr" presetSubtype="0" fill="hold" nodeType="afterEffect">
                                  <p:stCondLst>
                                    <p:cond delay="100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fade">
                                      <p:cBhvr>
                                        <p:cTn id="19" dur="1000"/>
                                        <p:tgtEl>
                                          <p:spTgt spid="7">
                                            <p:txEl>
                                              <p:pRg st="3" end="3"/>
                                            </p:txEl>
                                          </p:spTgt>
                                        </p:tgtEl>
                                      </p:cBhvr>
                                    </p:animEffect>
                                    <p:anim calcmode="lin" valueType="num">
                                      <p:cBhvr>
                                        <p:cTn id="2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par>
                          <p:cTn id="22" fill="hold">
                            <p:stCondLst>
                              <p:cond delay="6000"/>
                            </p:stCondLst>
                            <p:childTnLst>
                              <p:par>
                                <p:cTn id="23" presetID="42" presetClass="entr" presetSubtype="0" fill="hold" nodeType="afterEffect">
                                  <p:stCondLst>
                                    <p:cond delay="100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fade">
                                      <p:cBhvr>
                                        <p:cTn id="25" dur="1000"/>
                                        <p:tgtEl>
                                          <p:spTgt spid="7">
                                            <p:txEl>
                                              <p:pRg st="4" end="4"/>
                                            </p:txEl>
                                          </p:spTgt>
                                        </p:tgtEl>
                                      </p:cBhvr>
                                    </p:animEffect>
                                    <p:anim calcmode="lin" valueType="num">
                                      <p:cBhvr>
                                        <p:cTn id="2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par>
                          <p:cTn id="28" fill="hold">
                            <p:stCondLst>
                              <p:cond delay="8000"/>
                            </p:stCondLst>
                            <p:childTnLst>
                              <p:par>
                                <p:cTn id="29" presetID="42" presetClass="entr" presetSubtype="0" fill="hold" nodeType="afterEffect">
                                  <p:stCondLst>
                                    <p:cond delay="1000"/>
                                  </p:stCondLst>
                                  <p:childTnLst>
                                    <p:set>
                                      <p:cBhvr>
                                        <p:cTn id="30" dur="1" fill="hold">
                                          <p:stCondLst>
                                            <p:cond delay="0"/>
                                          </p:stCondLst>
                                        </p:cTn>
                                        <p:tgtEl>
                                          <p:spTgt spid="7">
                                            <p:txEl>
                                              <p:pRg st="5" end="5"/>
                                            </p:txEl>
                                          </p:spTgt>
                                        </p:tgtEl>
                                        <p:attrNameLst>
                                          <p:attrName>style.visibility</p:attrName>
                                        </p:attrNameLst>
                                      </p:cBhvr>
                                      <p:to>
                                        <p:strVal val="visible"/>
                                      </p:to>
                                    </p:set>
                                    <p:animEffect transition="in" filter="fade">
                                      <p:cBhvr>
                                        <p:cTn id="31" dur="1000"/>
                                        <p:tgtEl>
                                          <p:spTgt spid="7">
                                            <p:txEl>
                                              <p:pRg st="5" end="5"/>
                                            </p:txEl>
                                          </p:spTgt>
                                        </p:tgtEl>
                                      </p:cBhvr>
                                    </p:animEffect>
                                    <p:anim calcmode="lin" valueType="num">
                                      <p:cBhvr>
                                        <p:cTn id="3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0"/>
                            </p:stCondLst>
                            <p:childTnLst>
                              <p:par>
                                <p:cTn id="35" presetID="42" presetClass="entr" presetSubtype="0" fill="hold" nodeType="afterEffect">
                                  <p:stCondLst>
                                    <p:cond delay="100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1000"/>
                                        <p:tgtEl>
                                          <p:spTgt spid="7">
                                            <p:txEl>
                                              <p:pRg st="6" end="6"/>
                                            </p:txEl>
                                          </p:spTgt>
                                        </p:tgtEl>
                                      </p:cBhvr>
                                    </p:animEffect>
                                    <p:anim calcmode="lin" valueType="num">
                                      <p:cBhvr>
                                        <p:cTn id="3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par>
                          <p:cTn id="40" fill="hold">
                            <p:stCondLst>
                              <p:cond delay="12000"/>
                            </p:stCondLst>
                            <p:childTnLst>
                              <p:par>
                                <p:cTn id="41" presetID="42" presetClass="entr" presetSubtype="0" fill="hold" nodeType="afterEffect">
                                  <p:stCondLst>
                                    <p:cond delay="1000"/>
                                  </p:stCondLst>
                                  <p:childTnLst>
                                    <p:set>
                                      <p:cBhvr>
                                        <p:cTn id="42" dur="1" fill="hold">
                                          <p:stCondLst>
                                            <p:cond delay="0"/>
                                          </p:stCondLst>
                                        </p:cTn>
                                        <p:tgtEl>
                                          <p:spTgt spid="7">
                                            <p:txEl>
                                              <p:pRg st="7" end="7"/>
                                            </p:txEl>
                                          </p:spTgt>
                                        </p:tgtEl>
                                        <p:attrNameLst>
                                          <p:attrName>style.visibility</p:attrName>
                                        </p:attrNameLst>
                                      </p:cBhvr>
                                      <p:to>
                                        <p:strVal val="visible"/>
                                      </p:to>
                                    </p:set>
                                    <p:animEffect transition="in" filter="fade">
                                      <p:cBhvr>
                                        <p:cTn id="43" dur="1000"/>
                                        <p:tgtEl>
                                          <p:spTgt spid="7">
                                            <p:txEl>
                                              <p:pRg st="7" end="7"/>
                                            </p:txEl>
                                          </p:spTgt>
                                        </p:tgtEl>
                                      </p:cBhvr>
                                    </p:animEffect>
                                    <p:anim calcmode="lin" valueType="num">
                                      <p:cBhvr>
                                        <p:cTn id="4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par>
                          <p:cTn id="46" fill="hold">
                            <p:stCondLst>
                              <p:cond delay="14000"/>
                            </p:stCondLst>
                            <p:childTnLst>
                              <p:par>
                                <p:cTn id="47" presetID="42" presetClass="entr" presetSubtype="0" fill="hold" nodeType="afterEffect">
                                  <p:stCondLst>
                                    <p:cond delay="1000"/>
                                  </p:stCondLst>
                                  <p:childTnLst>
                                    <p:set>
                                      <p:cBhvr>
                                        <p:cTn id="48" dur="1" fill="hold">
                                          <p:stCondLst>
                                            <p:cond delay="0"/>
                                          </p:stCondLst>
                                        </p:cTn>
                                        <p:tgtEl>
                                          <p:spTgt spid="7">
                                            <p:txEl>
                                              <p:pRg st="8" end="8"/>
                                            </p:txEl>
                                          </p:spTgt>
                                        </p:tgtEl>
                                        <p:attrNameLst>
                                          <p:attrName>style.visibility</p:attrName>
                                        </p:attrNameLst>
                                      </p:cBhvr>
                                      <p:to>
                                        <p:strVal val="visible"/>
                                      </p:to>
                                    </p:set>
                                    <p:animEffect transition="in" filter="fade">
                                      <p:cBhvr>
                                        <p:cTn id="49" dur="1000"/>
                                        <p:tgtEl>
                                          <p:spTgt spid="7">
                                            <p:txEl>
                                              <p:pRg st="8" end="8"/>
                                            </p:txEl>
                                          </p:spTgt>
                                        </p:tgtEl>
                                      </p:cBhvr>
                                    </p:animEffect>
                                    <p:anim calcmode="lin" valueType="num">
                                      <p:cBhvr>
                                        <p:cTn id="50"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539</Words>
  <Application>Microsoft Office PowerPoint</Application>
  <PresentationFormat>Widescreen</PresentationFormat>
  <Paragraphs>143</Paragraphs>
  <Slides>12</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Aptos Narrow</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Mega Storage Units</dc:creator>
  <cp:lastModifiedBy>Mega Storage Units</cp:lastModifiedBy>
  <cp:revision>1</cp:revision>
  <dcterms:created xsi:type="dcterms:W3CDTF">2026-10-28T23:53:12Z</dcterms:created>
  <dcterms:modified xsi:type="dcterms:W3CDTF">2026-10-28T23:53:26Z</dcterms:modified>
</cp:coreProperties>
</file>