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650" r:id="rId2"/>
    <p:sldId id="345" r:id="rId3"/>
    <p:sldId id="286" r:id="rId4"/>
    <p:sldId id="651" r:id="rId5"/>
    <p:sldId id="680" r:id="rId6"/>
    <p:sldId id="661" r:id="rId7"/>
    <p:sldId id="652" r:id="rId8"/>
    <p:sldId id="347" r:id="rId9"/>
    <p:sldId id="69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OAWEB" id="{CB30930E-77C9-41E5-8D78-3D0C916B40CF}">
          <p14:sldIdLst>
            <p14:sldId id="650"/>
            <p14:sldId id="345"/>
            <p14:sldId id="286"/>
            <p14:sldId id="651"/>
            <p14:sldId id="680"/>
            <p14:sldId id="661"/>
            <p14:sldId id="652"/>
            <p14:sldId id="347"/>
            <p14:sldId id="6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05" d="100"/>
          <a:sy n="105" d="100"/>
        </p:scale>
        <p:origin x="24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5B68BF-0195-48AE-86E5-EEE949E910B7}"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CAACE-638E-4CBF-824B-ACAF828587A0}" type="slidenum">
              <a:rPr lang="en-US" smtClean="0"/>
              <a:t>‹#›</a:t>
            </a:fld>
            <a:endParaRPr lang="en-US"/>
          </a:p>
        </p:txBody>
      </p:sp>
    </p:spTree>
    <p:extLst>
      <p:ext uri="{BB962C8B-B14F-4D97-AF65-F5344CB8AC3E}">
        <p14:creationId xmlns:p14="http://schemas.microsoft.com/office/powerpoint/2010/main" val="2755708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1</a:t>
            </a:fld>
            <a:endParaRPr lang="en-US"/>
          </a:p>
        </p:txBody>
      </p:sp>
    </p:spTree>
    <p:extLst>
      <p:ext uri="{BB962C8B-B14F-4D97-AF65-F5344CB8AC3E}">
        <p14:creationId xmlns:p14="http://schemas.microsoft.com/office/powerpoint/2010/main" val="3484728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2</a:t>
            </a:fld>
            <a:endParaRPr lang="en-US"/>
          </a:p>
        </p:txBody>
      </p:sp>
    </p:spTree>
    <p:extLst>
      <p:ext uri="{BB962C8B-B14F-4D97-AF65-F5344CB8AC3E}">
        <p14:creationId xmlns:p14="http://schemas.microsoft.com/office/powerpoint/2010/main" val="3300246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3</a:t>
            </a:fld>
            <a:endParaRPr lang="en-US"/>
          </a:p>
        </p:txBody>
      </p:sp>
    </p:spTree>
    <p:extLst>
      <p:ext uri="{BB962C8B-B14F-4D97-AF65-F5344CB8AC3E}">
        <p14:creationId xmlns:p14="http://schemas.microsoft.com/office/powerpoint/2010/main" val="522919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4</a:t>
            </a:fld>
            <a:endParaRPr lang="en-US"/>
          </a:p>
        </p:txBody>
      </p:sp>
    </p:spTree>
    <p:extLst>
      <p:ext uri="{BB962C8B-B14F-4D97-AF65-F5344CB8AC3E}">
        <p14:creationId xmlns:p14="http://schemas.microsoft.com/office/powerpoint/2010/main" val="298543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a:cs typeface="Times New Roman"/>
              </a:rPr>
              <a:t>Our website uses dynamic pricing and specials based on Rentable Occupancy. If the occupancy decreases, it will slash the standard rate and offer a lower rate and better special to entice rental of that size. On the flip side, if the occupancy increases and you starting to sell out of a particular unit size, it will increase the rate and decrease the special offer. In this scenario, the website will use "Compare Local" instead of an in-store rate so it does not show a slashed standard rate that is lower than the new advertised rate.</a:t>
            </a:r>
            <a:endParaRPr lang="en-US">
              <a:cs typeface="Times New Roman" pitchFamily="18" charset="0"/>
            </a:endParaRPr>
          </a:p>
          <a:p>
            <a:r>
              <a:rPr lang="en-US">
                <a:latin typeface="Times New Roman"/>
                <a:cs typeface="Times New Roman"/>
              </a:rPr>
              <a:t>This is all based on Rentable Occupancy, which differs from your physical occupancy in that it takes unrentable, reserved and pre-rented units from the occupancy equation. This is important because those units are not truly available and can skew your occupancy numbers. For example – if you have multiple 10x10 units down for maintenance for a while, you don't want the 1 10x10 unit you do have to have the best special and lowest price because your FMS thinks you have 20 vacant and is pushing the rate down.</a:t>
            </a:r>
            <a:endParaRPr lang="en-US">
              <a:cs typeface="Times New Roman"/>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3326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927D-39FF-9D68-39E5-1CA652D5A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1078F-EE60-1812-C1F7-9D250C3CB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F0F16-3CE7-CD1A-8F99-9B3480815DEC}"/>
              </a:ext>
            </a:extLst>
          </p:cNvPr>
          <p:cNvSpPr>
            <a:spLocks noGrp="1"/>
          </p:cNvSpPr>
          <p:nvPr>
            <p:ph type="body" idx="1"/>
          </p:nvPr>
        </p:nvSpPr>
        <p:spPr/>
        <p:txBody>
          <a:bodyPr/>
          <a:lstStyle/>
          <a:p>
            <a:r>
              <a:rPr lang="en-US">
                <a:latin typeface="Times New Roman"/>
                <a:cs typeface="Times New Roman"/>
              </a:rPr>
              <a:t>Our website features good better and best options to give tenants more choice on what's most important to them whether they want the cheapest or the best unit. This is done using value pricing, where units that are less desirable like being farther from a entrance door are priced slightly lower than those that are considered premium by being closest to the entrance. </a:t>
            </a:r>
            <a:endParaRPr lang="en-US">
              <a:cs typeface="Times New Roman"/>
            </a:endParaRPr>
          </a:p>
        </p:txBody>
      </p:sp>
      <p:sp>
        <p:nvSpPr>
          <p:cNvPr id="4" name="Slide Number Placeholder 3">
            <a:extLst>
              <a:ext uri="{FF2B5EF4-FFF2-40B4-BE49-F238E27FC236}">
                <a16:creationId xmlns:a16="http://schemas.microsoft.com/office/drawing/2014/main" id="{C9AA03C8-EA80-1FE5-7749-3B105D3045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5843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NOA’s Dynamic Waiting List: If your store is opening soon (not ready to rent yet) or if you’ve reached 100% Rentable Occupancy on any unit class, NOA will display the Waiting List. Customers on the waiting list will be automatically notified when units become available to rent or reserve, and Managers are alerted to new signups on the waiting list.</a:t>
            </a:r>
          </a:p>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7</a:t>
            </a:fld>
            <a:endParaRPr lang="en-US"/>
          </a:p>
        </p:txBody>
      </p:sp>
    </p:spTree>
    <p:extLst>
      <p:ext uri="{BB962C8B-B14F-4D97-AF65-F5344CB8AC3E}">
        <p14:creationId xmlns:p14="http://schemas.microsoft.com/office/powerpoint/2010/main" val="3294732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t>When a customer begins a rental (or reservation) but does not complete the payment, that is referred to as an Abandoned Cart.</a:t>
            </a:r>
            <a:br>
              <a:rPr lang="en-US"/>
            </a:br>
            <a:br>
              <a:rPr lang="en-US"/>
            </a:br>
            <a:r>
              <a:rPr lang="en-US"/>
              <a:t>When this occurs, NOA sends messages to the customer (text and/or email) attempting to complete the transaction. This occurs without any additional cost or man power.</a:t>
            </a:r>
            <a:br>
              <a:rPr lang="en-US"/>
            </a:br>
            <a:br>
              <a:rPr lang="en-US"/>
            </a:br>
            <a:r>
              <a:rPr lang="en-US">
                <a:solidFill>
                  <a:srgbClr val="FFFF00"/>
                </a:solidFill>
              </a:rPr>
              <a:t>Direct</a:t>
            </a:r>
            <a:r>
              <a:rPr lang="en-US"/>
              <a:t> Recovery = Customer followed the links and completed the rental.</a:t>
            </a:r>
          </a:p>
          <a:p>
            <a:pPr algn="l"/>
            <a:r>
              <a:rPr lang="en-US">
                <a:solidFill>
                  <a:srgbClr val="FFFF00"/>
                </a:solidFill>
              </a:rPr>
              <a:t>Indirect</a:t>
            </a:r>
            <a:r>
              <a:rPr lang="en-US"/>
              <a:t> Recovery = Customer ultimately rented, but not via following the links.</a:t>
            </a:r>
          </a:p>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8</a:t>
            </a:fld>
            <a:endParaRPr lang="en-US"/>
          </a:p>
        </p:txBody>
      </p:sp>
    </p:spTree>
    <p:extLst>
      <p:ext uri="{BB962C8B-B14F-4D97-AF65-F5344CB8AC3E}">
        <p14:creationId xmlns:p14="http://schemas.microsoft.com/office/powerpoint/2010/main" val="857669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FFADB-1C88-2432-8FE8-60C2E89FF7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83CA5D-1FD9-FF54-99F7-801DE97E75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515E43-FBA9-B423-6B98-106924B0A08C}"/>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1605D7B7-2F3D-E98D-2491-CC490B3C78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CBBDD-FF29-6E2E-719B-81486ABE9F95}"/>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3923389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FB618-75F5-393B-DDE2-A812CAE175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69101A-52A5-7D3F-EFFC-D3E5313CA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2C7567-3863-EDC3-B3EA-052868D92335}"/>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D4ADC19B-CE58-1D27-CA59-467B38460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7ECB2C-6D11-69E7-2AD1-F56EA4315090}"/>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1482543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2E62-9EB9-0D72-2A40-175B9B2AA1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D81AF9-4529-4096-1E22-AE41344C5A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8BFFB4-C52F-CF16-2604-A3E52F6DC572}"/>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EEC4A078-6B53-1031-A0D9-53E5FD8DD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1C77FF-1B9D-0C40-2B03-A05F074E101F}"/>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1888145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B95D-3A60-4C9C-74F5-2EE6EEB96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05370D-F71D-8254-6A2A-9233082E2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752681-9464-6513-0B1B-4A386A083D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7207F1-564B-9FA1-DC93-ED5CBC34C9C9}"/>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6" name="Footer Placeholder 5">
            <a:extLst>
              <a:ext uri="{FF2B5EF4-FFF2-40B4-BE49-F238E27FC236}">
                <a16:creationId xmlns:a16="http://schemas.microsoft.com/office/drawing/2014/main" id="{51120170-D7F3-A43F-769C-ECA6902E97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A27CB-5B76-54FB-C9FC-B5622B70963A}"/>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81075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271F-7243-F0B6-AA0A-4C0D581408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2FD7F-FE57-1448-E2D5-E18E0E376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E9F924-C5D4-C298-B7FA-24CA8D482B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FF3E2A-9B2F-917A-92E5-AB89ADCCD6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C15C28-2A44-D332-6ABC-1A66786E50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C2C795-40EA-5199-790D-5664F71A76F3}"/>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8" name="Footer Placeholder 7">
            <a:extLst>
              <a:ext uri="{FF2B5EF4-FFF2-40B4-BE49-F238E27FC236}">
                <a16:creationId xmlns:a16="http://schemas.microsoft.com/office/drawing/2014/main" id="{CCCF322A-9FA3-B98B-46D3-E9F3C8D9B3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10978B-238B-0579-7E38-96F1B771A9E4}"/>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2933517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18ECE-52A3-EDF8-F6D3-9221C4330D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FDC682-85FE-51E0-9590-D307372B896E}"/>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4" name="Footer Placeholder 3">
            <a:extLst>
              <a:ext uri="{FF2B5EF4-FFF2-40B4-BE49-F238E27FC236}">
                <a16:creationId xmlns:a16="http://schemas.microsoft.com/office/drawing/2014/main" id="{C401AA89-50B0-7D21-9F1F-44A84E2D57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8047C1-51CA-4D7C-3345-421B3177ECAC}"/>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3426509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8FDD2D-A0F7-78AE-0C45-2F31D062EDA2}"/>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3" name="Footer Placeholder 2">
            <a:extLst>
              <a:ext uri="{FF2B5EF4-FFF2-40B4-BE49-F238E27FC236}">
                <a16:creationId xmlns:a16="http://schemas.microsoft.com/office/drawing/2014/main" id="{21F5FFE7-2C19-4589-3EE5-6BF7CA8AB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59DFA4-1AF1-5DE2-7D08-11749B78E2E5}"/>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125670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8123C-7B0D-B48B-0332-057C970605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F6D9E4-1402-800C-1F70-F32D63ED5E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19DBEA-AF77-9AF1-3C78-9C71EAED20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40B04B-8FDF-4575-E478-85E2E2F1D40B}"/>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6" name="Footer Placeholder 5">
            <a:extLst>
              <a:ext uri="{FF2B5EF4-FFF2-40B4-BE49-F238E27FC236}">
                <a16:creationId xmlns:a16="http://schemas.microsoft.com/office/drawing/2014/main" id="{BFA13919-5B08-F571-ECC2-359AD3A016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534360-7B4E-22E2-31F4-A14863268070}"/>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623236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B281-19BE-0CB2-80D0-AFA2460B3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3D7E89-3C25-890B-8541-42F15E4B0F3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BAB6B0-71E4-ED1D-F616-59C038F90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AA31F9-0F74-B36F-B19B-BC3DA2047F53}"/>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6" name="Footer Placeholder 5">
            <a:extLst>
              <a:ext uri="{FF2B5EF4-FFF2-40B4-BE49-F238E27FC236}">
                <a16:creationId xmlns:a16="http://schemas.microsoft.com/office/drawing/2014/main" id="{5C8FB254-8013-4CAB-4D96-6259046604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50B1A0-CD0A-0E47-F51A-E937DC0C0C9E}"/>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2702940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A242-9F5C-13DE-5747-B11E1EFD55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78037E-4403-4673-D206-CC45B95BE8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73C3AE-305A-8B21-F498-24BE2481708E}"/>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26442A5A-A90E-8E6D-2E46-F933EBA9D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32FC4-DABC-3A73-2E18-E8781B3B1B9F}"/>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2670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5E15E-79F7-34BE-A54D-713152E4F7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F7E4DD-B561-01F1-F424-1DD7E9851E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9841B-F440-CD79-62A9-C322F2526591}"/>
              </a:ext>
            </a:extLst>
          </p:cNvPr>
          <p:cNvSpPr>
            <a:spLocks noGrp="1"/>
          </p:cNvSpPr>
          <p:nvPr>
            <p:ph type="dt" sz="half" idx="10"/>
          </p:nvPr>
        </p:nvSpPr>
        <p:spPr/>
        <p:txBody>
          <a:body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325C7F1B-928B-075D-08A6-26E328CEA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67360-79AB-30EA-26A1-42AD2AD7196C}"/>
              </a:ext>
            </a:extLst>
          </p:cNvPr>
          <p:cNvSpPr>
            <a:spLocks noGrp="1"/>
          </p:cNvSpPr>
          <p:nvPr>
            <p:ph type="sldNum" sz="quarter" idx="12"/>
          </p:nvPr>
        </p:nvSpPr>
        <p:spPr/>
        <p:txBody>
          <a:bodyPr/>
          <a:lstStyle/>
          <a:p>
            <a:fld id="{B1EED5E9-4ACF-4AE0-A326-80C9ACB2E85C}" type="slidenum">
              <a:rPr lang="en-US" smtClean="0"/>
              <a:t>‹#›</a:t>
            </a:fld>
            <a:endParaRPr lang="en-US"/>
          </a:p>
        </p:txBody>
      </p:sp>
    </p:spTree>
    <p:extLst>
      <p:ext uri="{BB962C8B-B14F-4D97-AF65-F5344CB8AC3E}">
        <p14:creationId xmlns:p14="http://schemas.microsoft.com/office/powerpoint/2010/main" val="2134391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07FB3C-8562-8125-5AE6-5F138E788E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C80C29-BA92-9F94-EDBC-D8CD1E99A5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5DAF7-01DE-470E-6E12-834BE0AE60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4A586D-261F-47FF-BB35-8A4C920835D4}" type="datetimeFigureOut">
              <a:rPr lang="en-US" smtClean="0"/>
              <a:t>10/28/2026</a:t>
            </a:fld>
            <a:endParaRPr lang="en-US"/>
          </a:p>
        </p:txBody>
      </p:sp>
      <p:sp>
        <p:nvSpPr>
          <p:cNvPr id="5" name="Footer Placeholder 4">
            <a:extLst>
              <a:ext uri="{FF2B5EF4-FFF2-40B4-BE49-F238E27FC236}">
                <a16:creationId xmlns:a16="http://schemas.microsoft.com/office/drawing/2014/main" id="{9BC88188-6DDB-B9A8-E5E1-1C36B72912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62442A-9D69-9694-19C3-A441CC174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EED5E9-4ACF-4AE0-A326-80C9ACB2E85C}" type="slidenum">
              <a:rPr lang="en-US" smtClean="0"/>
              <a:t>‹#›</a:t>
            </a:fld>
            <a:endParaRPr lang="en-US"/>
          </a:p>
        </p:txBody>
      </p:sp>
    </p:spTree>
    <p:extLst>
      <p:ext uri="{BB962C8B-B14F-4D97-AF65-F5344CB8AC3E}">
        <p14:creationId xmlns:p14="http://schemas.microsoft.com/office/powerpoint/2010/main" val="2242542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31C787-81B0-7759-51BC-863B4B71188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92941" y="1600200"/>
            <a:ext cx="8606118" cy="3657600"/>
          </a:xfrm>
          <a:prstGeom prst="rect">
            <a:avLst/>
          </a:prstGeom>
        </p:spPr>
      </p:pic>
    </p:spTree>
    <p:extLst>
      <p:ext uri="{BB962C8B-B14F-4D97-AF65-F5344CB8AC3E}">
        <p14:creationId xmlns:p14="http://schemas.microsoft.com/office/powerpoint/2010/main" val="7547668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000" fill="hold"/>
                                        <p:tgtEl>
                                          <p:spTgt spid="5"/>
                                        </p:tgtEl>
                                        <p:attrNameLst>
                                          <p:attrName>ppt_w</p:attrName>
                                        </p:attrNameLst>
                                      </p:cBhvr>
                                      <p:tavLst>
                                        <p:tav tm="0">
                                          <p:val>
                                            <p:fltVal val="0"/>
                                          </p:val>
                                        </p:tav>
                                        <p:tav tm="100000">
                                          <p:val>
                                            <p:strVal val="#ppt_w"/>
                                          </p:val>
                                        </p:tav>
                                      </p:tavLst>
                                    </p:anim>
                                    <p:anim calcmode="lin" valueType="num">
                                      <p:cBhvr>
                                        <p:cTn id="8" dur="2000" fill="hold"/>
                                        <p:tgtEl>
                                          <p:spTgt spid="5"/>
                                        </p:tgtEl>
                                        <p:attrNameLst>
                                          <p:attrName>ppt_h</p:attrName>
                                        </p:attrNameLst>
                                      </p:cBhvr>
                                      <p:tavLst>
                                        <p:tav tm="0">
                                          <p:val>
                                            <p:fltVal val="0"/>
                                          </p:val>
                                        </p:tav>
                                        <p:tav tm="100000">
                                          <p:val>
                                            <p:strVal val="#ppt_h"/>
                                          </p:val>
                                        </p:tav>
                                      </p:tavLst>
                                    </p:anim>
                                    <p:anim calcmode="lin" valueType="num">
                                      <p:cBhvr>
                                        <p:cTn id="9" dur="2000" fill="hold"/>
                                        <p:tgtEl>
                                          <p:spTgt spid="5"/>
                                        </p:tgtEl>
                                        <p:attrNameLst>
                                          <p:attrName>style.rotation</p:attrName>
                                        </p:attrNameLst>
                                      </p:cBhvr>
                                      <p:tavLst>
                                        <p:tav tm="0">
                                          <p:val>
                                            <p:fltVal val="90"/>
                                          </p:val>
                                        </p:tav>
                                        <p:tav tm="100000">
                                          <p:val>
                                            <p:fltVal val="0"/>
                                          </p:val>
                                        </p:tav>
                                      </p:tavLst>
                                    </p:anim>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webclip">
            <a:hlinkClick r:id="" action="ppaction://media"/>
            <a:extLst>
              <a:ext uri="{FF2B5EF4-FFF2-40B4-BE49-F238E27FC236}">
                <a16:creationId xmlns:a16="http://schemas.microsoft.com/office/drawing/2014/main" id="{0F7622A3-190F-E983-B608-24CAC153D87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25352" y="1508776"/>
            <a:ext cx="6799384" cy="3884335"/>
          </a:xfrm>
          <a:prstGeom prst="rect">
            <a:avLst/>
          </a:prstGeom>
        </p:spPr>
      </p:pic>
      <p:sp>
        <p:nvSpPr>
          <p:cNvPr id="3" name="Rectangle: Rounded Corners 2">
            <a:extLst>
              <a:ext uri="{FF2B5EF4-FFF2-40B4-BE49-F238E27FC236}">
                <a16:creationId xmlns:a16="http://schemas.microsoft.com/office/drawing/2014/main" id="{DDD7C37A-B207-41E0-40F3-393ECEFD4400}"/>
              </a:ext>
            </a:extLst>
          </p:cNvPr>
          <p:cNvSpPr/>
          <p:nvPr/>
        </p:nvSpPr>
        <p:spPr>
          <a:xfrm>
            <a:off x="1313822" y="1748571"/>
            <a:ext cx="952144" cy="383498"/>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57696368-6B2D-9678-F3E4-304A01C33007}"/>
              </a:ext>
            </a:extLst>
          </p:cNvPr>
          <p:cNvSpPr txBox="1"/>
          <p:nvPr/>
        </p:nvSpPr>
        <p:spPr>
          <a:xfrm>
            <a:off x="1399333" y="1727589"/>
            <a:ext cx="781122" cy="307777"/>
          </a:xfrm>
          <a:prstGeom prst="rect">
            <a:avLst/>
          </a:prstGeom>
          <a:noFill/>
        </p:spPr>
        <p:txBody>
          <a:bodyPr wrap="square" rtlCol="0">
            <a:spAutoFit/>
          </a:bodyPr>
          <a:lstStyle/>
          <a:p>
            <a:pPr algn="ctr"/>
            <a:r>
              <a:rPr lang="en-US" sz="1400">
                <a:solidFill>
                  <a:srgbClr val="12479F"/>
                </a:solidFill>
                <a:latin typeface="Adobe Caslon Pro Bold" panose="0205070206050A020403" pitchFamily="18" charset="0"/>
              </a:rPr>
              <a:t>Your</a:t>
            </a:r>
            <a:endParaRPr lang="en-US" sz="1400">
              <a:solidFill>
                <a:srgbClr val="FF0000"/>
              </a:solidFill>
              <a:latin typeface="Adobe Caslon Pro Bold" panose="0205070206050A020403" pitchFamily="18" charset="0"/>
            </a:endParaRPr>
          </a:p>
        </p:txBody>
      </p:sp>
      <p:sp>
        <p:nvSpPr>
          <p:cNvPr id="6" name="TextBox 5">
            <a:extLst>
              <a:ext uri="{FF2B5EF4-FFF2-40B4-BE49-F238E27FC236}">
                <a16:creationId xmlns:a16="http://schemas.microsoft.com/office/drawing/2014/main" id="{86C94E59-FA13-4B0A-4B94-1F3B69D9542F}"/>
              </a:ext>
            </a:extLst>
          </p:cNvPr>
          <p:cNvSpPr txBox="1"/>
          <p:nvPr/>
        </p:nvSpPr>
        <p:spPr>
          <a:xfrm>
            <a:off x="1313822" y="1899766"/>
            <a:ext cx="1017898" cy="276999"/>
          </a:xfrm>
          <a:prstGeom prst="rect">
            <a:avLst/>
          </a:prstGeom>
          <a:noFill/>
        </p:spPr>
        <p:txBody>
          <a:bodyPr wrap="square">
            <a:spAutoFit/>
          </a:bodyPr>
          <a:lstStyle/>
          <a:p>
            <a:r>
              <a:rPr lang="en-US" sz="1200">
                <a:solidFill>
                  <a:srgbClr val="FF0000"/>
                </a:solidFill>
                <a:latin typeface="Adobe Caslon Pro Bold" panose="0205070206050A020403" pitchFamily="18" charset="0"/>
              </a:rPr>
              <a:t>Self Storage</a:t>
            </a:r>
            <a:endParaRPr lang="en-US" sz="1200"/>
          </a:p>
        </p:txBody>
      </p:sp>
      <p:sp>
        <p:nvSpPr>
          <p:cNvPr id="5" name="Callout: Line 4">
            <a:extLst>
              <a:ext uri="{FF2B5EF4-FFF2-40B4-BE49-F238E27FC236}">
                <a16:creationId xmlns:a16="http://schemas.microsoft.com/office/drawing/2014/main" id="{B14A5112-856C-F27E-8338-2BFDEE7F0EB1}"/>
              </a:ext>
            </a:extLst>
          </p:cNvPr>
          <p:cNvSpPr/>
          <p:nvPr/>
        </p:nvSpPr>
        <p:spPr>
          <a:xfrm>
            <a:off x="1317446" y="5762091"/>
            <a:ext cx="9259410" cy="577048"/>
          </a:xfrm>
          <a:prstGeom prst="borderCallout1">
            <a:avLst>
              <a:gd name="adj1" fmla="val -73156"/>
              <a:gd name="adj2" fmla="val 10038"/>
              <a:gd name="adj3" fmla="val 1177"/>
              <a:gd name="adj4" fmla="val 9985"/>
            </a:avLst>
          </a:prstGeom>
          <a:solidFill>
            <a:srgbClr val="F9F9F9"/>
          </a:solidFill>
          <a:ln>
            <a:solidFill>
              <a:srgbClr val="1F90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20A4F4-6391-8C17-1E05-0D7A08D719A2}"/>
              </a:ext>
            </a:extLst>
          </p:cNvPr>
          <p:cNvSpPr txBox="1"/>
          <p:nvPr/>
        </p:nvSpPr>
        <p:spPr>
          <a:xfrm>
            <a:off x="2073942" y="5865949"/>
            <a:ext cx="8584707" cy="400110"/>
          </a:xfrm>
          <a:prstGeom prst="rect">
            <a:avLst/>
          </a:prstGeom>
          <a:noFill/>
        </p:spPr>
        <p:txBody>
          <a:bodyPr wrap="square" rtlCol="0">
            <a:spAutoFit/>
          </a:bodyPr>
          <a:lstStyle/>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Dynamic, Responsive Website with Call To Action, Search and Fast Load Times</a:t>
            </a:r>
          </a:p>
        </p:txBody>
      </p:sp>
      <p:sp>
        <p:nvSpPr>
          <p:cNvPr id="8" name="Callout: Line 7">
            <a:extLst>
              <a:ext uri="{FF2B5EF4-FFF2-40B4-BE49-F238E27FC236}">
                <a16:creationId xmlns:a16="http://schemas.microsoft.com/office/drawing/2014/main" id="{5B4B8E1D-9291-482A-B799-EE08C4372C08}"/>
              </a:ext>
            </a:extLst>
          </p:cNvPr>
          <p:cNvSpPr/>
          <p:nvPr/>
        </p:nvSpPr>
        <p:spPr>
          <a:xfrm>
            <a:off x="2331720" y="770123"/>
            <a:ext cx="7230863" cy="411397"/>
          </a:xfrm>
          <a:prstGeom prst="borderCallout1">
            <a:avLst>
              <a:gd name="adj1" fmla="val 253287"/>
              <a:gd name="adj2" fmla="val -2936"/>
              <a:gd name="adj3" fmla="val 101579"/>
              <a:gd name="adj4" fmla="val -35"/>
            </a:avLst>
          </a:prstGeom>
          <a:solidFill>
            <a:srgbClr val="F9F9F9"/>
          </a:solidFill>
          <a:ln>
            <a:solidFill>
              <a:srgbClr val="1F90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F9006-7194-34A6-4F2A-FE722A6C0649}"/>
              </a:ext>
            </a:extLst>
          </p:cNvPr>
          <p:cNvSpPr txBox="1"/>
          <p:nvPr/>
        </p:nvSpPr>
        <p:spPr>
          <a:xfrm>
            <a:off x="2331720" y="783211"/>
            <a:ext cx="7291552" cy="369332"/>
          </a:xfrm>
          <a:prstGeom prst="rect">
            <a:avLst/>
          </a:prstGeom>
          <a:noFill/>
        </p:spPr>
        <p:txBody>
          <a:bodyPr wrap="square" rtlCol="0">
            <a:spAutoFit/>
          </a:bodyPr>
          <a:lstStyle/>
          <a:p>
            <a:pPr algn="ctr"/>
            <a:r>
              <a:rPr lang="en-US" sz="1800">
                <a:solidFill>
                  <a:schemeClr val="bg1"/>
                </a:solidFill>
                <a:latin typeface="Calibri" panose="020F0502020204030204" pitchFamily="34" charset="0"/>
                <a:ea typeface="Calibri" panose="020F0502020204030204" pitchFamily="34" charset="0"/>
                <a:cs typeface="Calibri" panose="020F0502020204030204" pitchFamily="34" charset="0"/>
              </a:rPr>
              <a:t>Part of a Large Nationally Recognized Website, but with Custom Branding</a:t>
            </a:r>
          </a:p>
        </p:txBody>
      </p:sp>
      <p:pic>
        <p:nvPicPr>
          <p:cNvPr id="10" name="Picture 9">
            <a:extLst>
              <a:ext uri="{FF2B5EF4-FFF2-40B4-BE49-F238E27FC236}">
                <a16:creationId xmlns:a16="http://schemas.microsoft.com/office/drawing/2014/main" id="{8A7843F9-49C2-2616-76BC-0E5E6F70B2BD}"/>
              </a:ext>
            </a:extLst>
          </p:cNvPr>
          <p:cNvPicPr>
            <a:picLocks noChangeAspect="1"/>
          </p:cNvPicPr>
          <p:nvPr/>
        </p:nvPicPr>
        <p:blipFill>
          <a:blip r:embed="rId6"/>
          <a:stretch>
            <a:fillRect/>
          </a:stretch>
        </p:blipFill>
        <p:spPr>
          <a:xfrm>
            <a:off x="9225370" y="2252104"/>
            <a:ext cx="1830184" cy="24594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6456409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mediacall" presetSubtype="0" fill="hold" nodeType="withEffect">
                                  <p:stCondLst>
                                    <p:cond delay="0"/>
                                  </p:stCondLst>
                                  <p:childTnLst>
                                    <p:cmd type="call" cmd="togglePause">
                                      <p:cBhvr>
                                        <p:cTn id="6" dur="1" fill="hold"/>
                                        <p:tgtEl>
                                          <p:spTgt spid="11"/>
                                        </p:tgtEl>
                                      </p:cBhvr>
                                    </p:cmd>
                                  </p:childTnLst>
                                </p:cTn>
                              </p:par>
                              <p:par>
                                <p:cTn id="7" presetID="47"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par>
                                <p:cTn id="12" presetID="47"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30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30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repeatCount="indefinite" fill="hold" display="0">
                  <p:stCondLst>
                    <p:cond delay="indefinite"/>
                  </p:stCondLst>
                </p:cTn>
                <p:tgtEl>
                  <p:spTgt spid="11"/>
                </p:tgtEl>
              </p:cMediaNode>
            </p:video>
          </p:childTnLst>
        </p:cTn>
      </p:par>
    </p:tnLst>
    <p:bldLst>
      <p:bldP spid="5" grpId="0" animBg="1"/>
      <p:bldP spid="7" grpId="0"/>
      <p:bldP spid="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A300217-1AC0-7F5C-0024-1CE4BA0C858E}"/>
              </a:ext>
            </a:extLst>
          </p:cNvPr>
          <p:cNvSpPr/>
          <p:nvPr/>
        </p:nvSpPr>
        <p:spPr bwMode="auto">
          <a:xfrm>
            <a:off x="1656974" y="1796547"/>
            <a:ext cx="8723376" cy="3374136"/>
          </a:xfrm>
          <a:prstGeom prst="roundRect">
            <a:avLst/>
          </a:prstGeom>
          <a:solidFill>
            <a:srgbClr val="FFFFFF">
              <a:alpha val="50000"/>
            </a:srgbClr>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
        <p:nvSpPr>
          <p:cNvPr id="5" name="TextBox 4">
            <a:extLst>
              <a:ext uri="{FF2B5EF4-FFF2-40B4-BE49-F238E27FC236}">
                <a16:creationId xmlns:a16="http://schemas.microsoft.com/office/drawing/2014/main" id="{3AAF8971-F71D-E157-5C92-A4A2CF47727B}"/>
              </a:ext>
            </a:extLst>
          </p:cNvPr>
          <p:cNvSpPr txBox="1"/>
          <p:nvPr/>
        </p:nvSpPr>
        <p:spPr>
          <a:xfrm>
            <a:off x="2143947" y="2024116"/>
            <a:ext cx="7828017" cy="31393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FF0000"/>
                </a:solidFill>
                <a:latin typeface="Century Gothic" panose="020B0502020202020204"/>
              </a:rPr>
              <a:t>PRIMARY FEATURES AND BENEFITS</a:t>
            </a:r>
            <a:r>
              <a:rPr lang="en-US">
                <a:solidFill>
                  <a:srgbClr val="211D1E"/>
                </a:solidFill>
                <a:latin typeface="Century Gothic" panose="020B0502020202020204"/>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solidFill>
                <a:srgbClr val="211D1E"/>
              </a:solidFill>
              <a:latin typeface="Century Gothic" panose="020B0502020202020204"/>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a:solidFill>
                  <a:srgbClr val="211D1E"/>
                </a:solidFill>
                <a:latin typeface="Century Gothic" panose="020B0502020202020204"/>
              </a:rPr>
              <a:t>Responsive Desktop &amp; Mobile Designs</a:t>
            </a: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rPr>
              <a:t>Self Service Online </a:t>
            </a:r>
            <a:r>
              <a:rPr lang="en-US" sz="1600">
                <a:solidFill>
                  <a:srgbClr val="211D1E"/>
                </a:solidFill>
                <a:latin typeface="Century Gothic" panose="020B0502020202020204"/>
              </a:rPr>
              <a:t>Rentals, </a:t>
            </a:r>
            <a:r>
              <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rPr>
              <a:t>Reservations &amp; Waiting Lists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rPr>
              <a:t>Automatic</a:t>
            </a:r>
            <a:r>
              <a:rPr kumimoji="0" lang="en-US" sz="1600" b="0" i="0" u="none" strike="noStrike" kern="1200" cap="none" spc="0" normalizeH="0" noProof="0">
                <a:ln>
                  <a:noFill/>
                </a:ln>
                <a:solidFill>
                  <a:srgbClr val="211D1E"/>
                </a:solidFill>
                <a:effectLst/>
                <a:uLnTx/>
                <a:uFillTx/>
                <a:latin typeface="Century Gothic" panose="020B0502020202020204"/>
                <a:ea typeface="+mn-ea"/>
                <a:cs typeface="+mn-cs"/>
              </a:rPr>
              <a:t> Texting of Access Codes for unattended online rentals</a:t>
            </a: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a:solidFill>
                  <a:srgbClr val="211D1E"/>
                </a:solidFill>
                <a:latin typeface="Century Gothic" panose="020B0502020202020204"/>
              </a:rPr>
              <a:t>Dynamic Pricing &amp; Promotions beyond that of Sitelink’s capabilities</a:t>
            </a:r>
            <a:endPar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a:solidFill>
                <a:srgbClr val="211D1E"/>
              </a:solidFill>
              <a:latin typeface="Century Gothic" panose="020B0502020202020204"/>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11D1E"/>
                </a:solidFill>
                <a:effectLst/>
                <a:uLnTx/>
                <a:uFillTx/>
                <a:latin typeface="Century Gothic" panose="020B0502020202020204"/>
                <a:ea typeface="+mn-ea"/>
                <a:cs typeface="+mn-cs"/>
              </a:rPr>
              <a:t>Ongoing In-house SEO / Ongoing In-house Support / Ongoing Development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11D1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520800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42" presetClass="entr" presetSubtype="0" fill="hold" nodeType="withEffect">
                                  <p:stCondLst>
                                    <p:cond delay="50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1000"/>
                                        <p:tgtEl>
                                          <p:spTgt spid="5">
                                            <p:txEl>
                                              <p:pRg st="2" end="2"/>
                                            </p:txEl>
                                          </p:spTgt>
                                        </p:tgtEl>
                                      </p:cBhvr>
                                    </p:animEffect>
                                    <p:anim calcmode="lin" valueType="num">
                                      <p:cBhvr>
                                        <p:cTn id="1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1000"/>
                                        <p:tgtEl>
                                          <p:spTgt spid="5">
                                            <p:txEl>
                                              <p:pRg st="4" end="4"/>
                                            </p:txEl>
                                          </p:spTgt>
                                        </p:tgtEl>
                                      </p:cBhvr>
                                    </p:animEffect>
                                    <p:anim calcmode="lin" valueType="num">
                                      <p:cBhvr>
                                        <p:cTn id="2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1000"/>
                                        <p:tgtEl>
                                          <p:spTgt spid="5">
                                            <p:txEl>
                                              <p:pRg st="6" end="6"/>
                                            </p:txEl>
                                          </p:spTgt>
                                        </p:tgtEl>
                                      </p:cBhvr>
                                    </p:animEffect>
                                    <p:anim calcmode="lin" valueType="num">
                                      <p:cBhvr>
                                        <p:cTn id="2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nodeType="after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fade">
                                      <p:cBhvr>
                                        <p:cTn id="31" dur="1000"/>
                                        <p:tgtEl>
                                          <p:spTgt spid="5">
                                            <p:txEl>
                                              <p:pRg st="8" end="8"/>
                                            </p:txEl>
                                          </p:spTgt>
                                        </p:tgtEl>
                                      </p:cBhvr>
                                    </p:animEffect>
                                    <p:anim calcmode="lin" valueType="num">
                                      <p:cBhvr>
                                        <p:cTn id="32"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2" presetClass="entr" presetSubtype="0" fill="hold" nodeType="after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1000"/>
                                        <p:tgtEl>
                                          <p:spTgt spid="5">
                                            <p:txEl>
                                              <p:pRg st="10" end="10"/>
                                            </p:txEl>
                                          </p:spTgt>
                                        </p:tgtEl>
                                      </p:cBhvr>
                                    </p:animEffect>
                                    <p:anim calcmode="lin" valueType="num">
                                      <p:cBhvr>
                                        <p:cTn id="38"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D006691-F15F-70D5-0C3C-8CFA8BE85269}"/>
              </a:ext>
            </a:extLst>
          </p:cNvPr>
          <p:cNvSpPr txBox="1"/>
          <p:nvPr/>
        </p:nvSpPr>
        <p:spPr>
          <a:xfrm>
            <a:off x="1825762" y="3230562"/>
            <a:ext cx="9771352" cy="2554545"/>
          </a:xfrm>
          <a:prstGeom prst="rect">
            <a:avLst/>
          </a:prstGeom>
          <a:noFill/>
        </p:spPr>
        <p:txBody>
          <a:bodyPr wrap="square" rtlCol="0">
            <a:spAutoFit/>
          </a:bodyPr>
          <a:lstStyle/>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Customer selects unit from website inventory list or map view (map view varies by location)</a:t>
            </a:r>
            <a:b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Customer completes rental online (or over the phone with our Sales Center) in </a:t>
            </a:r>
            <a:b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000" b="1">
                <a:solidFill>
                  <a:srgbClr val="FF0000"/>
                </a:solidFill>
                <a:latin typeface="Calibri" panose="020F0502020204030204" pitchFamily="34" charset="0"/>
                <a:ea typeface="Calibri" panose="020F0502020204030204" pitchFamily="34" charset="0"/>
                <a:cs typeface="Calibri" panose="020F0502020204030204" pitchFamily="34" charset="0"/>
              </a:rPr>
              <a:t>under 2 Minutes </a:t>
            </a: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in most situations</a:t>
            </a:r>
            <a:b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Customer signs lease, submits ID and payment digitally</a:t>
            </a:r>
            <a:b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Customer receives access code and Self Service lock code via text or email</a:t>
            </a:r>
          </a:p>
        </p:txBody>
      </p:sp>
      <p:sp>
        <p:nvSpPr>
          <p:cNvPr id="5" name="TextBox 4">
            <a:extLst>
              <a:ext uri="{FF2B5EF4-FFF2-40B4-BE49-F238E27FC236}">
                <a16:creationId xmlns:a16="http://schemas.microsoft.com/office/drawing/2014/main" id="{0EC3EEDD-A387-B579-4A19-EA6E47F42A79}"/>
              </a:ext>
            </a:extLst>
          </p:cNvPr>
          <p:cNvSpPr txBox="1"/>
          <p:nvPr/>
        </p:nvSpPr>
        <p:spPr>
          <a:xfrm>
            <a:off x="1825762" y="1644995"/>
            <a:ext cx="9575860" cy="1200329"/>
          </a:xfrm>
          <a:prstGeom prst="rect">
            <a:avLst/>
          </a:prstGeom>
          <a:noFill/>
        </p:spPr>
        <p:txBody>
          <a:bodyPr wrap="square">
            <a:spAutoFit/>
          </a:bodyPr>
          <a:lstStyle/>
          <a:p>
            <a:pPr algn="l"/>
            <a:r>
              <a:rPr lang="en-US" b="1" i="0">
                <a:solidFill>
                  <a:srgbClr val="1F90C2"/>
                </a:solidFill>
                <a:effectLst/>
                <a:latin typeface="Segoe"/>
              </a:rPr>
              <a:t>OPTIMUM EXPERIENCE. </a:t>
            </a:r>
            <a:r>
              <a:rPr lang="en-US" b="1" i="1">
                <a:solidFill>
                  <a:srgbClr val="1F90C2"/>
                </a:solidFill>
                <a:effectLst/>
                <a:latin typeface="Segoe"/>
              </a:rPr>
              <a:t>INSTANT ACCESS.</a:t>
            </a:r>
            <a:br>
              <a:rPr lang="en-US" b="0" i="0">
                <a:solidFill>
                  <a:srgbClr val="1F90C2"/>
                </a:solidFill>
                <a:effectLst/>
                <a:latin typeface="Segoe"/>
              </a:rPr>
            </a:br>
            <a:br>
              <a:rPr lang="en-US" b="0" i="0">
                <a:solidFill>
                  <a:srgbClr val="1F90C2"/>
                </a:solidFill>
                <a:effectLst/>
                <a:latin typeface="Segoe"/>
              </a:rPr>
            </a:br>
            <a:r>
              <a:rPr lang="en-US" b="0" i="0">
                <a:solidFill>
                  <a:srgbClr val="1F90C2"/>
                </a:solidFill>
                <a:effectLst/>
                <a:latin typeface="Segoe"/>
              </a:rPr>
              <a:t>Skip the office and go straight to your new unit. Rent online now. </a:t>
            </a:r>
          </a:p>
        </p:txBody>
      </p:sp>
    </p:spTree>
    <p:extLst>
      <p:ext uri="{BB962C8B-B14F-4D97-AF65-F5344CB8AC3E}">
        <p14:creationId xmlns:p14="http://schemas.microsoft.com/office/powerpoint/2010/main" val="204338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1000"/>
                                        <p:tgtEl>
                                          <p:spTgt spid="6">
                                            <p:txEl>
                                              <p:pRg st="3" end="3"/>
                                            </p:txEl>
                                          </p:spTgt>
                                        </p:tgtEl>
                                      </p:cBhvr>
                                    </p:animEffect>
                                    <p:anim calcmode="lin" valueType="num">
                                      <p:cBhvr>
                                        <p:cTn id="2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DB0D56F-FEAA-A2B7-DCE3-BB4096891D6E}"/>
              </a:ext>
            </a:extLst>
          </p:cNvPr>
          <p:cNvPicPr>
            <a:picLocks noChangeAspect="1"/>
          </p:cNvPicPr>
          <p:nvPr/>
        </p:nvPicPr>
        <p:blipFill>
          <a:blip r:embed="rId3"/>
          <a:stretch>
            <a:fillRect/>
          </a:stretch>
        </p:blipFill>
        <p:spPr>
          <a:xfrm>
            <a:off x="183072" y="2068424"/>
            <a:ext cx="6424205" cy="3224900"/>
          </a:xfrm>
          <a:prstGeom prst="rect">
            <a:avLst/>
          </a:prstGeom>
        </p:spPr>
      </p:pic>
      <p:sp>
        <p:nvSpPr>
          <p:cNvPr id="4" name="TextBox 3">
            <a:extLst>
              <a:ext uri="{FF2B5EF4-FFF2-40B4-BE49-F238E27FC236}">
                <a16:creationId xmlns:a16="http://schemas.microsoft.com/office/drawing/2014/main" id="{4FD22B6A-394C-A24B-794B-3FDA58AD11D9}"/>
              </a:ext>
            </a:extLst>
          </p:cNvPr>
          <p:cNvSpPr txBox="1"/>
          <p:nvPr/>
        </p:nvSpPr>
        <p:spPr>
          <a:xfrm>
            <a:off x="183072" y="758524"/>
            <a:ext cx="1172907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RO</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is </a:t>
            </a:r>
            <a:r>
              <a:rPr kumimoji="0" lang="en-US" sz="1800" b="0" i="1" u="none" strike="noStrike" kern="1200" cap="none" spc="0" normalizeH="0" baseline="0" noProof="0">
                <a:ln>
                  <a:noFill/>
                </a:ln>
                <a:solidFill>
                  <a:srgbClr val="1D88B9"/>
                </a:solidFill>
                <a:effectLst/>
                <a:uLnTx/>
                <a:uFillTx/>
                <a:latin typeface="Calibri" panose="020F0502020204030204"/>
                <a:ea typeface="+mn-ea"/>
                <a:cs typeface="+mn-cs"/>
              </a:rPr>
              <a:t>Rentable Occupancy</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Same as typical Occupancy, except </a:t>
            </a: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removes unrentable, reserved or pre-rented units from the equation. Rentable Occupancy focuses on what is </a:t>
            </a: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available</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now</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
        <p:nvSpPr>
          <p:cNvPr id="8" name="Callout: Line 7">
            <a:extLst>
              <a:ext uri="{FF2B5EF4-FFF2-40B4-BE49-F238E27FC236}">
                <a16:creationId xmlns:a16="http://schemas.microsoft.com/office/drawing/2014/main" id="{3097467E-B5D3-ACF4-1052-EB4283334640}"/>
              </a:ext>
            </a:extLst>
          </p:cNvPr>
          <p:cNvSpPr/>
          <p:nvPr/>
        </p:nvSpPr>
        <p:spPr>
          <a:xfrm>
            <a:off x="7020974" y="2497393"/>
            <a:ext cx="4891177" cy="690114"/>
          </a:xfrm>
          <a:prstGeom prst="borderCallout1">
            <a:avLst>
              <a:gd name="adj1" fmla="val 50000"/>
              <a:gd name="adj2" fmla="val -2160"/>
              <a:gd name="adj3" fmla="val 100027"/>
              <a:gd name="adj4" fmla="val -15477"/>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Pricing will change instantly based on RO</a:t>
            </a:r>
          </a:p>
        </p:txBody>
      </p:sp>
      <p:sp>
        <p:nvSpPr>
          <p:cNvPr id="9" name="Callout: Line 8">
            <a:extLst>
              <a:ext uri="{FF2B5EF4-FFF2-40B4-BE49-F238E27FC236}">
                <a16:creationId xmlns:a16="http://schemas.microsoft.com/office/drawing/2014/main" id="{393285F7-11A5-275D-29AC-823159FE1AD8}"/>
              </a:ext>
            </a:extLst>
          </p:cNvPr>
          <p:cNvSpPr/>
          <p:nvPr/>
        </p:nvSpPr>
        <p:spPr>
          <a:xfrm>
            <a:off x="7020972" y="3550301"/>
            <a:ext cx="4891177" cy="690114"/>
          </a:xfrm>
          <a:prstGeom prst="borderCallout1">
            <a:avLst>
              <a:gd name="adj1" fmla="val 45000"/>
              <a:gd name="adj2" fmla="val -1984"/>
              <a:gd name="adj3" fmla="val 118172"/>
              <a:gd name="adj4" fmla="val -63258"/>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Specials will change instantly based on RO</a:t>
            </a:r>
          </a:p>
        </p:txBody>
      </p:sp>
      <p:sp>
        <p:nvSpPr>
          <p:cNvPr id="10" name="Callout: Line 9">
            <a:extLst>
              <a:ext uri="{FF2B5EF4-FFF2-40B4-BE49-F238E27FC236}">
                <a16:creationId xmlns:a16="http://schemas.microsoft.com/office/drawing/2014/main" id="{1A34E55F-704E-982F-53AF-8EDFF0523F3D}"/>
              </a:ext>
            </a:extLst>
          </p:cNvPr>
          <p:cNvSpPr/>
          <p:nvPr/>
        </p:nvSpPr>
        <p:spPr>
          <a:xfrm>
            <a:off x="7020972" y="4603210"/>
            <a:ext cx="4891177" cy="690114"/>
          </a:xfrm>
          <a:prstGeom prst="borderCallout1">
            <a:avLst>
              <a:gd name="adj1" fmla="val 46250"/>
              <a:gd name="adj2" fmla="val -1278"/>
              <a:gd name="adj3" fmla="val 46425"/>
              <a:gd name="adj4" fmla="val -15502"/>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The ability to Rent, Reserve and/or Hold </a:t>
            </a:r>
            <a:b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1D88B9"/>
                </a:solidFill>
                <a:effectLst/>
                <a:uLnTx/>
                <a:uFillTx/>
                <a:latin typeface="Calibri" panose="020F0502020204030204"/>
                <a:ea typeface="+mn-ea"/>
                <a:cs typeface="+mn-cs"/>
              </a:rPr>
              <a:t>will change based on RO</a:t>
            </a:r>
          </a:p>
        </p:txBody>
      </p:sp>
      <p:pic>
        <p:nvPicPr>
          <p:cNvPr id="11" name="Picture 10" descr="A blue letter o with a black background&#10;&#10;Description automatically generated">
            <a:extLst>
              <a:ext uri="{FF2B5EF4-FFF2-40B4-BE49-F238E27FC236}">
                <a16:creationId xmlns:a16="http://schemas.microsoft.com/office/drawing/2014/main" id="{082E2C0A-2C75-1CFE-E761-320991A3CC78}"/>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022212" y="884042"/>
            <a:ext cx="559841" cy="146725"/>
          </a:xfrm>
          <a:prstGeom prst="rect">
            <a:avLst/>
          </a:prstGeom>
        </p:spPr>
      </p:pic>
      <p:sp>
        <p:nvSpPr>
          <p:cNvPr id="7" name="Callout: Line 6">
            <a:extLst>
              <a:ext uri="{FF2B5EF4-FFF2-40B4-BE49-F238E27FC236}">
                <a16:creationId xmlns:a16="http://schemas.microsoft.com/office/drawing/2014/main" id="{465251F0-ECB0-6C9A-9451-9E990DD0F9CA}"/>
              </a:ext>
            </a:extLst>
          </p:cNvPr>
          <p:cNvSpPr/>
          <p:nvPr/>
        </p:nvSpPr>
        <p:spPr>
          <a:xfrm>
            <a:off x="766916" y="5948516"/>
            <a:ext cx="10903974" cy="690114"/>
          </a:xfrm>
          <a:prstGeom prst="borderCallout1">
            <a:avLst>
              <a:gd name="adj1" fmla="val -216330"/>
              <a:gd name="adj2" fmla="val 40360"/>
              <a:gd name="adj3" fmla="val -7177"/>
              <a:gd name="adj4" fmla="val 40296"/>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rgbClr val="1D88B9"/>
                </a:solidFill>
              </a:rPr>
              <a:t>Alternatively, “Compare Locally” can be selected to show in place of in-store rates. This will instead display the highest comparable rate of a similar size/type within the local market radius.</a:t>
            </a:r>
          </a:p>
        </p:txBody>
      </p:sp>
    </p:spTree>
    <p:extLst>
      <p:ext uri="{BB962C8B-B14F-4D97-AF65-F5344CB8AC3E}">
        <p14:creationId xmlns:p14="http://schemas.microsoft.com/office/powerpoint/2010/main" val="2775176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100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1+#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grpId="0" nodeType="afterEffect">
                                  <p:stCondLst>
                                    <p:cond delay="100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par>
                          <p:cTn id="19" fill="hold">
                            <p:stCondLst>
                              <p:cond delay="3500"/>
                            </p:stCondLst>
                            <p:childTnLst>
                              <p:par>
                                <p:cTn id="20" presetID="2" presetClass="entr" presetSubtype="4" fill="hold" grpId="0" nodeType="afterEffect">
                                  <p:stCondLst>
                                    <p:cond delay="100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87514-3030-246F-7C70-CA567793C715}"/>
            </a:ext>
          </a:extLst>
        </p:cNvPr>
        <p:cNvGrpSpPr/>
        <p:nvPr/>
      </p:nvGrpSpPr>
      <p:grpSpPr>
        <a:xfrm>
          <a:off x="0" y="0"/>
          <a:ext cx="0" cy="0"/>
          <a:chOff x="0" y="0"/>
          <a:chExt cx="0" cy="0"/>
        </a:xfrm>
      </p:grpSpPr>
      <p:pic>
        <p:nvPicPr>
          <p:cNvPr id="2" name="Good">
            <a:extLst>
              <a:ext uri="{FF2B5EF4-FFF2-40B4-BE49-F238E27FC236}">
                <a16:creationId xmlns:a16="http://schemas.microsoft.com/office/drawing/2014/main" id="{F7CD9BFA-30E2-0D28-ED2D-33B7B43A8778}"/>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755904" y="1563329"/>
            <a:ext cx="10680192" cy="28855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3198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049720-C1D0-091B-DD45-7C4AD56C0BD0}"/>
              </a:ext>
            </a:extLst>
          </p:cNvPr>
          <p:cNvPicPr>
            <a:picLocks noChangeAspect="1"/>
          </p:cNvPicPr>
          <p:nvPr/>
        </p:nvPicPr>
        <p:blipFill>
          <a:blip r:embed="rId3"/>
          <a:stretch>
            <a:fillRect/>
          </a:stretch>
        </p:blipFill>
        <p:spPr>
          <a:xfrm>
            <a:off x="3319366" y="0"/>
            <a:ext cx="5553267" cy="6858000"/>
          </a:xfrm>
          <a:prstGeom prst="rect">
            <a:avLst/>
          </a:prstGeom>
        </p:spPr>
      </p:pic>
      <p:sp>
        <p:nvSpPr>
          <p:cNvPr id="6" name="Rectangle 5">
            <a:extLst>
              <a:ext uri="{FF2B5EF4-FFF2-40B4-BE49-F238E27FC236}">
                <a16:creationId xmlns:a16="http://schemas.microsoft.com/office/drawing/2014/main" id="{535D37C4-F43C-7193-1B7A-101D43F27C2A}"/>
              </a:ext>
            </a:extLst>
          </p:cNvPr>
          <p:cNvSpPr/>
          <p:nvPr/>
        </p:nvSpPr>
        <p:spPr>
          <a:xfrm>
            <a:off x="5056632" y="301752"/>
            <a:ext cx="2048256" cy="3474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05F2255-B9B1-DEF9-7EBB-85BB196445F7}"/>
              </a:ext>
            </a:extLst>
          </p:cNvPr>
          <p:cNvPicPr>
            <a:picLocks noChangeAspect="1"/>
          </p:cNvPicPr>
          <p:nvPr/>
        </p:nvPicPr>
        <p:blipFill>
          <a:blip r:embed="rId4"/>
          <a:stretch>
            <a:fillRect/>
          </a:stretch>
        </p:blipFill>
        <p:spPr>
          <a:xfrm>
            <a:off x="3319365" y="188169"/>
            <a:ext cx="5553267" cy="269031"/>
          </a:xfrm>
          <a:prstGeom prst="rect">
            <a:avLst/>
          </a:prstGeom>
        </p:spPr>
      </p:pic>
    </p:spTree>
    <p:extLst>
      <p:ext uri="{BB962C8B-B14F-4D97-AF65-F5344CB8AC3E}">
        <p14:creationId xmlns:p14="http://schemas.microsoft.com/office/powerpoint/2010/main" val="410931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F896-E993-6810-DFBA-927F3DE6BA7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44B5BFC-F46D-1189-4494-F0FD95A82307}"/>
              </a:ext>
            </a:extLst>
          </p:cNvPr>
          <p:cNvPicPr>
            <a:picLocks noChangeAspect="1"/>
          </p:cNvPicPr>
          <p:nvPr/>
        </p:nvPicPr>
        <p:blipFill>
          <a:blip r:embed="rId3" cstate="screen">
            <a:extLst>
              <a:ext uri="{28A0092B-C50C-407E-A947-70E740481C1C}">
                <a14:useLocalDpi xmlns:a14="http://schemas.microsoft.com/office/drawing/2010/main" val="0"/>
              </a:ext>
            </a:extLst>
          </a:blip>
          <a:srcRect l="16650"/>
          <a:stretch/>
        </p:blipFill>
        <p:spPr>
          <a:xfrm>
            <a:off x="31466" y="1881835"/>
            <a:ext cx="12129068" cy="3094329"/>
          </a:xfrm>
          <a:prstGeom prst="rect">
            <a:avLst/>
          </a:prstGeom>
        </p:spPr>
      </p:pic>
    </p:spTree>
    <p:extLst>
      <p:ext uri="{BB962C8B-B14F-4D97-AF65-F5344CB8AC3E}">
        <p14:creationId xmlns:p14="http://schemas.microsoft.com/office/powerpoint/2010/main" val="182750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38D8A133-6A5A-98B3-2BB1-4B1C8DA13E83}"/>
              </a:ext>
            </a:extLst>
          </p:cNvPr>
          <p:cNvPicPr>
            <a:picLocks noChangeAspect="1"/>
          </p:cNvPicPr>
          <p:nvPr/>
        </p:nvPicPr>
        <p:blipFill>
          <a:blip r:embed="rId2"/>
          <a:srcRect t="10678" r="-418"/>
          <a:stretch>
            <a:fillRect/>
          </a:stretch>
        </p:blipFill>
        <p:spPr>
          <a:xfrm>
            <a:off x="1965305" y="573974"/>
            <a:ext cx="8256157" cy="6125690"/>
          </a:xfrm>
          <a:prstGeom prst="rect">
            <a:avLst/>
          </a:prstGeom>
        </p:spPr>
      </p:pic>
    </p:spTree>
    <p:extLst>
      <p:ext uri="{BB962C8B-B14F-4D97-AF65-F5344CB8AC3E}">
        <p14:creationId xmlns:p14="http://schemas.microsoft.com/office/powerpoint/2010/main" val="1249070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692</Words>
  <Application>Microsoft Office PowerPoint</Application>
  <PresentationFormat>Widescreen</PresentationFormat>
  <Paragraphs>39</Paragraphs>
  <Slides>9</Slides>
  <Notes>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Adobe Caslon Pro Bold</vt:lpstr>
      <vt:lpstr>Aptos</vt:lpstr>
      <vt:lpstr>Aptos Display</vt:lpstr>
      <vt:lpstr>Arial</vt:lpstr>
      <vt:lpstr>Calibri</vt:lpstr>
      <vt:lpstr>Century Gothic</vt:lpstr>
      <vt:lpstr>Segoe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Mega Storage Units</dc:creator>
  <cp:lastModifiedBy>Mega Storage Units</cp:lastModifiedBy>
  <cp:revision>1</cp:revision>
  <dcterms:created xsi:type="dcterms:W3CDTF">2026-10-28T23:52:39Z</dcterms:created>
  <dcterms:modified xsi:type="dcterms:W3CDTF">2026-10-28T23:52:58Z</dcterms:modified>
</cp:coreProperties>
</file>