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21" r:id="rId2"/>
    <p:sldId id="700" r:id="rId3"/>
    <p:sldId id="712" r:id="rId4"/>
    <p:sldId id="708" r:id="rId5"/>
    <p:sldId id="340" r:id="rId6"/>
    <p:sldId id="698" r:id="rId7"/>
    <p:sldId id="697" r:id="rId8"/>
    <p:sldId id="683" r:id="rId9"/>
    <p:sldId id="721" r:id="rId10"/>
    <p:sldId id="699" r:id="rId11"/>
    <p:sldId id="684" r:id="rId12"/>
    <p:sldId id="714" r:id="rId13"/>
    <p:sldId id="716" r:id="rId14"/>
    <p:sldId id="717" r:id="rId15"/>
    <p:sldId id="718" r:id="rId16"/>
    <p:sldId id="719" r:id="rId17"/>
    <p:sldId id="720" r:id="rId18"/>
    <p:sldId id="69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mote Management" id="{89AE4095-5EED-4997-B22F-B116650E47CC}">
          <p14:sldIdLst>
            <p14:sldId id="321"/>
            <p14:sldId id="700"/>
            <p14:sldId id="712"/>
            <p14:sldId id="708"/>
            <p14:sldId id="340"/>
            <p14:sldId id="698"/>
            <p14:sldId id="697"/>
            <p14:sldId id="683"/>
            <p14:sldId id="721"/>
            <p14:sldId id="699"/>
            <p14:sldId id="684"/>
            <p14:sldId id="714"/>
            <p14:sldId id="716"/>
            <p14:sldId id="717"/>
            <p14:sldId id="718"/>
            <p14:sldId id="719"/>
            <p14:sldId id="720"/>
            <p14:sldId id="696"/>
          </p14:sldIdLst>
        </p14:section>
        <p14:section name="Default Section" id="{35579BBB-E232-47EA-92B0-A62BAE856B4A}">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05" d="100"/>
          <a:sy n="105" d="100"/>
        </p:scale>
        <p:origin x="246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03.19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27,'576'0,"-558"-1,0-1,32-7,32-4,615 11,-339 5,265-3,-606 1,1 0,32 9,32 3,-65-13,12 0,-1 2,52 9,-53-6,0-2,1-1,37-1,-56-2,12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07.1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0,'73'1,"0"2,107 19,-71-4,149 5,111-18,-280-5,-71 1,0 1,32 7,32 4,-79-13,42 1,75 12,-55-5,1-3,122-6,-67-2,1020 3,-1097-4,-29-1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14.08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0,'424'18,"-248"-12,-156-6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16.73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2,'196'-2,"457"18,-267 13,-153-6,-192-19,62-1,-69-4,1 2,0 2,34 6,-18-1,0-3,0-3,82-5,-23 1,55 2,-142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20.53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76,'322'-19,"-181"13,-96 6,1-2,48-9,-32 3,0 3,125 6,-67 1,-71-1,1-3,66-11,-49 4,-1 4,128 6,-76 2,803-3,-900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22.17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50,'280'-18,"-175"12,-75 6,0-2,0 0,33-8,-45 6,0 1,31-1,-29 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25.19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2,'51'-1,"11"0,0 3,76 12,54 15,-123-23,132-5,-89-3,-91 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8:27.29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0,'983'0,"-961"1,-1 2,29 5,24 3,-53-10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9:14.08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0,'418'19,"-133"21,-15-2,-200-30,126 8,559-17,-717 3,52 8,-52-4,56 1,25-8,-99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3-09T16:19:16.52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2,'151'-2,"164"5,-201 9,33 1,-98-11,97 19,-98-11,0-3,62 1,-49-9,108 15,-67 1,193 4,-230-20,-4-1,0 3,106 15,-121-10,-1-2,85-4,-64-1,-45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A5E841-EEDA-45E2-A20E-41D27BBFE076}"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D8143E-9403-4A49-BFB9-715B13AF0E73}" type="slidenum">
              <a:rPr lang="en-US" smtClean="0"/>
              <a:t>‹#›</a:t>
            </a:fld>
            <a:endParaRPr lang="en-US"/>
          </a:p>
        </p:txBody>
      </p:sp>
    </p:spTree>
    <p:extLst>
      <p:ext uri="{BB962C8B-B14F-4D97-AF65-F5344CB8AC3E}">
        <p14:creationId xmlns:p14="http://schemas.microsoft.com/office/powerpoint/2010/main" val="892315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D7FBEDF6-2E54-438F-B5CB-CD9F400F0FBB}" type="slidenum">
              <a:rPr lang="en-US" smtClean="0"/>
              <a:t>1</a:t>
            </a:fld>
            <a:endParaRPr lang="en-US"/>
          </a:p>
        </p:txBody>
      </p:sp>
    </p:spTree>
    <p:extLst>
      <p:ext uri="{BB962C8B-B14F-4D97-AF65-F5344CB8AC3E}">
        <p14:creationId xmlns:p14="http://schemas.microsoft.com/office/powerpoint/2010/main" val="2838052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1B3F3-39D1-AE4A-C926-FF69A714EB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4C619F-4EE8-F67B-779B-D34D3602A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16CC5-6448-954A-2CDF-C81F8804E95D}"/>
              </a:ext>
            </a:extLst>
          </p:cNvPr>
          <p:cNvSpPr>
            <a:spLocks noGrp="1"/>
          </p:cNvSpPr>
          <p:nvPr>
            <p:ph type="body" idx="1"/>
          </p:nvPr>
        </p:nvSpPr>
        <p:spPr/>
        <p:txBody>
          <a:bodyPr/>
          <a:lstStyle/>
          <a:p>
            <a:pPr eaLnBrk="1" fontAlgn="auto" hangingPunct="1">
              <a:spcBef>
                <a:spcPts val="0"/>
              </a:spcBef>
              <a:spcAft>
                <a:spcPts val="0"/>
              </a:spcAft>
              <a:defRPr/>
            </a:pPr>
            <a:r>
              <a:rPr lang="en-US" i="0">
                <a:effectLst/>
                <a:latin typeface="Times New Roman"/>
                <a:cs typeface="Times New Roman"/>
              </a:rPr>
              <a:t>Cut </a:t>
            </a:r>
            <a:r>
              <a:rPr lang="en-US">
                <a:latin typeface="Times New Roman"/>
                <a:cs typeface="Times New Roman"/>
              </a:rPr>
              <a:t>Y</a:t>
            </a:r>
            <a:r>
              <a:rPr lang="en-US" i="0">
                <a:effectLst/>
                <a:latin typeface="Times New Roman"/>
                <a:cs typeface="Times New Roman"/>
              </a:rPr>
              <a:t>our Payroll Costs S</a:t>
            </a:r>
            <a:r>
              <a:rPr lang="en-US">
                <a:latin typeface="Times New Roman"/>
                <a:cs typeface="Times New Roman"/>
              </a:rPr>
              <a:t>ignificantly – </a:t>
            </a:r>
            <a:r>
              <a:rPr lang="en-US" i="0">
                <a:solidFill>
                  <a:srgbClr val="FF0000"/>
                </a:solidFill>
                <a:effectLst/>
                <a:latin typeface="Times New Roman"/>
                <a:cs typeface="Times New Roman"/>
              </a:rPr>
              <a:t>Without</a:t>
            </a:r>
            <a:r>
              <a:rPr lang="en-US" i="0">
                <a:effectLst/>
                <a:latin typeface="Times New Roman"/>
                <a:cs typeface="Times New Roman"/>
              </a:rPr>
              <a:t> Cutting Your Customer Experience</a:t>
            </a:r>
            <a:r>
              <a:rPr lang="en-US">
                <a:latin typeface="Times New Roman"/>
                <a:cs typeface="Times New Roman"/>
              </a:rPr>
              <a:t> – so we only put the best of the best of our field managers as remote HUB managers. These are managers that have demonstrated exceptional performance in customer service, sales, and efficient day-to-day operations management, while having the hands-on experience gained from their time in the field. You will have 1 assigned HUB manager responsible for your site.</a:t>
            </a:r>
            <a:endParaRPr lang="en-US"/>
          </a:p>
          <a:p>
            <a:pPr eaLnBrk="1" fontAlgn="auto" hangingPunct="1">
              <a:spcBef>
                <a:spcPts val="0"/>
              </a:spcBef>
              <a:spcAft>
                <a:spcPts val="0"/>
              </a:spcAft>
              <a:defRPr/>
            </a:pPr>
            <a:endParaRPr lang="en-US">
              <a:ea typeface="Roboto"/>
              <a:cs typeface="Times New Roman"/>
            </a:endParaRPr>
          </a:p>
          <a:p>
            <a:pPr eaLnBrk="1" fontAlgn="auto" hangingPunct="1">
              <a:spcBef>
                <a:spcPts val="0"/>
              </a:spcBef>
              <a:spcAft>
                <a:spcPts val="0"/>
              </a:spcAft>
              <a:defRPr/>
            </a:pPr>
            <a:endParaRPr lang="en-US">
              <a:cs typeface="Times New Roman" pitchFamily="18" charset="0"/>
            </a:endParaRPr>
          </a:p>
          <a:p>
            <a:pPr marL="0" marR="0" lvl="0" indent="0" algn="l" defTabSz="914400" rtl="0" latinLnBrk="0">
              <a:lnSpc>
                <a:spcPct val="100000"/>
              </a:lnSpc>
              <a:buClrTx/>
              <a:buSzTx/>
              <a:buFontTx/>
              <a:buNone/>
              <a:tabLst/>
              <a:defRPr/>
            </a:pPr>
            <a:endParaRPr lang="en-US" i="0">
              <a:effectLst/>
              <a:cs typeface="Times New Roman" pitchFamily="18" charset="0"/>
            </a:endParaRPr>
          </a:p>
        </p:txBody>
      </p:sp>
      <p:sp>
        <p:nvSpPr>
          <p:cNvPr id="4" name="Slide Number Placeholder 3">
            <a:extLst>
              <a:ext uri="{FF2B5EF4-FFF2-40B4-BE49-F238E27FC236}">
                <a16:creationId xmlns:a16="http://schemas.microsoft.com/office/drawing/2014/main" id="{D3C4BD3D-F0F4-47A1-1C70-968044B06DB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25018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F33EA-4CFB-94BC-F921-B608BB0B97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1A7144-128E-4617-B1D7-E1CC036AF7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40CAA8-C7C3-05C4-5093-C9C94C8E433E}"/>
              </a:ext>
            </a:extLst>
          </p:cNvPr>
          <p:cNvSpPr>
            <a:spLocks noGrp="1"/>
          </p:cNvSpPr>
          <p:nvPr>
            <p:ph type="body" idx="1"/>
          </p:nvPr>
        </p:nvSpPr>
        <p:spPr/>
        <p:txBody>
          <a:bodyPr/>
          <a:lstStyle/>
          <a:p>
            <a:r>
              <a:rPr lang="en-US">
                <a:latin typeface="Times New Roman"/>
                <a:cs typeface="Times New Roman"/>
              </a:rPr>
              <a:t>HUB managers work Mon-Sat 9am-5pm handling the day-to-day operations, but you don't pay them hourly or salary. Instead we have a flat fee for the service.</a:t>
            </a:r>
          </a:p>
          <a:p>
            <a:r>
              <a:rPr lang="en-US">
                <a:latin typeface="Times New Roman"/>
                <a:cs typeface="Times New Roman"/>
              </a:rPr>
              <a:t>What you do need to pay hourly is the part-time FSA or MN that will do on-site tasks, but </a:t>
            </a:r>
            <a:r>
              <a:rPr lang="en-US" err="1">
                <a:latin typeface="Times New Roman"/>
                <a:cs typeface="Times New Roman"/>
              </a:rPr>
              <a:t>therir</a:t>
            </a:r>
            <a:r>
              <a:rPr lang="en-US">
                <a:latin typeface="Times New Roman"/>
                <a:cs typeface="Times New Roman"/>
              </a:rPr>
              <a:t> hours will be minimal. I would estimate ___ hours per week. </a:t>
            </a:r>
            <a:endParaRPr lang="en-US">
              <a:cs typeface="Times New Roman"/>
            </a:endParaRPr>
          </a:p>
          <a:p>
            <a:r>
              <a:rPr lang="en-US">
                <a:latin typeface="Times New Roman"/>
                <a:cs typeface="Times New Roman"/>
              </a:rPr>
              <a:t>Explain Davinci locks and </a:t>
            </a:r>
            <a:r>
              <a:rPr lang="en-US" err="1">
                <a:latin typeface="Times New Roman"/>
                <a:cs typeface="Times New Roman"/>
              </a:rPr>
              <a:t>spiderdoor</a:t>
            </a:r>
            <a:r>
              <a:rPr lang="en-US">
                <a:latin typeface="Times New Roman"/>
                <a:cs typeface="Times New Roman"/>
              </a:rPr>
              <a:t> keypads</a:t>
            </a:r>
          </a:p>
        </p:txBody>
      </p:sp>
      <p:sp>
        <p:nvSpPr>
          <p:cNvPr id="4" name="Slide Number Placeholder 3">
            <a:extLst>
              <a:ext uri="{FF2B5EF4-FFF2-40B4-BE49-F238E27FC236}">
                <a16:creationId xmlns:a16="http://schemas.microsoft.com/office/drawing/2014/main" id="{7E00F0AA-6F5F-46AD-D3E0-B31D39A7667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037182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9D779-C47C-2290-E433-AC8568C899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DAAD1-F7C4-F571-FF14-FF74C688F7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BF21CD-75E8-E69E-A83E-304D6B67F9FF}"/>
              </a:ext>
            </a:extLst>
          </p:cNvPr>
          <p:cNvSpPr>
            <a:spLocks noGrp="1"/>
          </p:cNvSpPr>
          <p:nvPr>
            <p:ph type="body" idx="1"/>
          </p:nvPr>
        </p:nvSpPr>
        <p:spPr/>
        <p:txBody>
          <a:bodyPr/>
          <a:lstStyle/>
          <a:p>
            <a:r>
              <a:rPr lang="en-US">
                <a:latin typeface="Times New Roman"/>
                <a:cs typeface="Times New Roman"/>
              </a:rPr>
              <a:t>Why leave poor performing managers in place when so much can be done remotely?</a:t>
            </a:r>
          </a:p>
          <a:p>
            <a:r>
              <a:rPr lang="en-US">
                <a:latin typeface="Times New Roman"/>
                <a:cs typeface="Times New Roman"/>
              </a:rPr>
              <a:t>Day-to-day operations – assisting with rental completion, following up with prospective renters and closing sales, managing customer information, addressing account issues and complaints, encouraging autopay enrollment, communicating with tenants, handling past due accounts, and coordinating with the boots-on-ground personnel (FSA+MN) for overlocking past due units, making vacated units ready to rent, scheduling vendor appointments or repairs, and cutting locks for auction to name a few. </a:t>
            </a:r>
          </a:p>
          <a:p>
            <a:endParaRPr lang="en-US">
              <a:cs typeface="Times New Roman"/>
            </a:endParaRPr>
          </a:p>
        </p:txBody>
      </p:sp>
      <p:sp>
        <p:nvSpPr>
          <p:cNvPr id="4" name="Slide Number Placeholder 3">
            <a:extLst>
              <a:ext uri="{FF2B5EF4-FFF2-40B4-BE49-F238E27FC236}">
                <a16:creationId xmlns:a16="http://schemas.microsoft.com/office/drawing/2014/main" id="{FA84F964-4204-30CD-BA27-FE42F829A5B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6960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D6631-3080-A7E2-94DA-43DB1782EB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FAC87-69B3-82EF-9E22-801060F54E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62872-5BF0-56D4-192E-B4D1F23CD226}"/>
              </a:ext>
            </a:extLst>
          </p:cNvPr>
          <p:cNvSpPr>
            <a:spLocks noGrp="1"/>
          </p:cNvSpPr>
          <p:nvPr>
            <p:ph type="body" idx="1"/>
          </p:nvPr>
        </p:nvSpPr>
        <p:spPr/>
        <p:txBody>
          <a:bodyPr/>
          <a:lstStyle/>
          <a:p>
            <a:r>
              <a:rPr lang="en-US">
                <a:latin typeface="Times New Roman"/>
                <a:cs typeface="Times New Roman"/>
              </a:rPr>
              <a:t>Hub managers, FSAs and MN use NOA heavily for streamlined task management so nothing is missed.</a:t>
            </a:r>
            <a:endParaRPr lang="en-US"/>
          </a:p>
          <a:p>
            <a:r>
              <a:rPr lang="en-US">
                <a:latin typeface="Times New Roman"/>
                <a:cs typeface="Times New Roman"/>
              </a:rPr>
              <a:t>Hub managers and site performance are evaluated monthly on various criteria such as delinquency percentage, proper lease execution, and sales performance scoring. We have a bonus program that rewards our managers when goals are met or exceeded. </a:t>
            </a:r>
            <a:endParaRPr lang="en-US">
              <a:cs typeface="Times New Roman"/>
            </a:endParaRPr>
          </a:p>
        </p:txBody>
      </p:sp>
      <p:sp>
        <p:nvSpPr>
          <p:cNvPr id="4" name="Slide Number Placeholder 3">
            <a:extLst>
              <a:ext uri="{FF2B5EF4-FFF2-40B4-BE49-F238E27FC236}">
                <a16:creationId xmlns:a16="http://schemas.microsoft.com/office/drawing/2014/main" id="{84BC715C-3593-AAB8-E57B-D1790086663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7FBEDF6-2E54-438F-B5CB-CD9F400F0FB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810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8B7C0-B35C-7EBB-F085-7AC43A0FAB4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8FBFB62-CBAB-8393-AD67-2A65DB0B94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267CF6-2BA4-826B-9761-9B4C96EFA19E}"/>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5" name="Footer Placeholder 4">
            <a:extLst>
              <a:ext uri="{FF2B5EF4-FFF2-40B4-BE49-F238E27FC236}">
                <a16:creationId xmlns:a16="http://schemas.microsoft.com/office/drawing/2014/main" id="{4C885023-6C9A-7E99-D54D-20932C45A2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D990-6987-A2C5-6DE6-7837C941F9DC}"/>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384709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06DF3-A2EE-62C6-F64D-A6AFF56266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811A59-8A45-189A-23DE-833D9D79E8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448960-2C5E-2718-5912-96CDC4E03BF7}"/>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5" name="Footer Placeholder 4">
            <a:extLst>
              <a:ext uri="{FF2B5EF4-FFF2-40B4-BE49-F238E27FC236}">
                <a16:creationId xmlns:a16="http://schemas.microsoft.com/office/drawing/2014/main" id="{D6442753-03AC-DA5A-0897-F1B1F96261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32D272-EBEC-A2DD-FA2A-F2310E2C8F21}"/>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1335791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02D0A-3CE4-3ED4-201D-F049A460E9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31BB3B-9AE8-3202-ED29-C2662BE1A6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79A32-1BDD-A027-248E-B157068AEB62}"/>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5" name="Footer Placeholder 4">
            <a:extLst>
              <a:ext uri="{FF2B5EF4-FFF2-40B4-BE49-F238E27FC236}">
                <a16:creationId xmlns:a16="http://schemas.microsoft.com/office/drawing/2014/main" id="{BFA53F35-FD17-3FD2-D3F8-976A99805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6D7C1-DFBA-2313-6842-3DC352D2331B}"/>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1226422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1CF8B-254B-DDA4-EDBC-65FFBE3887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2DA6BC-9B70-BC37-E201-551CA5A350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6CF1C93-FEDD-41E4-703A-1D4C84783C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87093A1-A64F-0160-AD08-4AAC4E1DC90B}"/>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6" name="Footer Placeholder 5">
            <a:extLst>
              <a:ext uri="{FF2B5EF4-FFF2-40B4-BE49-F238E27FC236}">
                <a16:creationId xmlns:a16="http://schemas.microsoft.com/office/drawing/2014/main" id="{12A58378-9AD5-124A-D69B-F3F38ACDB5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E6956-C0E5-D6FA-3555-59D0B7448DBF}"/>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200875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733A4-5B66-7656-C8F0-1CEE76AF45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2969241-77CE-64A2-E2B4-B37390FECFD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AB4AA0-6D5B-C729-E8FE-3F92FAA1F7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BDDB48-2328-5353-EC61-31F771BE73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99F4BC2-1591-9CDD-B29F-E8549A0021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462E1A-8359-A3AD-9A7B-34AF2681CCA6}"/>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8" name="Footer Placeholder 7">
            <a:extLst>
              <a:ext uri="{FF2B5EF4-FFF2-40B4-BE49-F238E27FC236}">
                <a16:creationId xmlns:a16="http://schemas.microsoft.com/office/drawing/2014/main" id="{1F821247-820F-3DEB-0AAC-8B8D0BCC938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0995C1-C6B4-B7CC-6E31-6C2E60797DFF}"/>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80494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1B78A-4EED-B51A-8F98-C4260451E6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45DB09E-BBB6-436C-6B4E-7BE7620BF54B}"/>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4" name="Footer Placeholder 3">
            <a:extLst>
              <a:ext uri="{FF2B5EF4-FFF2-40B4-BE49-F238E27FC236}">
                <a16:creationId xmlns:a16="http://schemas.microsoft.com/office/drawing/2014/main" id="{357F6F0C-37E7-212A-BF1A-D59FCDEBD7E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EF8D3BD-6A18-9706-1F3A-486761EAD1AC}"/>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42451930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89CDEA-4250-69F1-566C-B5065E655FD8}"/>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3" name="Footer Placeholder 2">
            <a:extLst>
              <a:ext uri="{FF2B5EF4-FFF2-40B4-BE49-F238E27FC236}">
                <a16:creationId xmlns:a16="http://schemas.microsoft.com/office/drawing/2014/main" id="{2DFBBDD7-77AD-5A5B-2E85-D016DF235B8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635BA7-958E-BA29-9467-8B78FFAFD2D6}"/>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3574868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D4834-B122-76E2-2626-E0B9474ACF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48ABC3-408F-FF03-552D-4CF442671A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5423BD-AF46-6A56-DFB9-BBAAD552BB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03C24A-5C17-8B43-BE3F-71FA0F593F59}"/>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6" name="Footer Placeholder 5">
            <a:extLst>
              <a:ext uri="{FF2B5EF4-FFF2-40B4-BE49-F238E27FC236}">
                <a16:creationId xmlns:a16="http://schemas.microsoft.com/office/drawing/2014/main" id="{31DDB8DD-EEA6-FFD0-6BCB-D69A84D952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29317E-46A2-6F47-F1D2-E6D885DC4937}"/>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1996779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F08E0-AE99-AD82-8F02-F677BABEA0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85A660F-BE84-64D5-0EC0-4DEB88B68E4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B29A7E1-675F-C56C-EC13-B5607C1855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4E425-FD36-47C7-5FB0-6E39C357A5CF}"/>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6" name="Footer Placeholder 5">
            <a:extLst>
              <a:ext uri="{FF2B5EF4-FFF2-40B4-BE49-F238E27FC236}">
                <a16:creationId xmlns:a16="http://schemas.microsoft.com/office/drawing/2014/main" id="{AAF88BA9-2880-C00F-3F8F-13A104A95B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A0D331-B9FC-3467-2C93-88892DE4D7C8}"/>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1542670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B572C-7542-E5F8-73F0-ACC09646E8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CABA30E-DE66-6C26-6E15-D1E7D60292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922C7-5FA4-B975-1E4F-983942A57D8F}"/>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5" name="Footer Placeholder 4">
            <a:extLst>
              <a:ext uri="{FF2B5EF4-FFF2-40B4-BE49-F238E27FC236}">
                <a16:creationId xmlns:a16="http://schemas.microsoft.com/office/drawing/2014/main" id="{C41304C4-7073-6CB6-F476-4A78C8F537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ABCCEEE-D077-E4C8-D2B0-D459FB664322}"/>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4162332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98F8D3-C1BF-4E3F-DB1D-7303E6E398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4730B9-7BD8-038E-7106-3A38E532FA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40850-CE72-666A-4EE7-98C7ED96EF69}"/>
              </a:ext>
            </a:extLst>
          </p:cNvPr>
          <p:cNvSpPr>
            <a:spLocks noGrp="1"/>
          </p:cNvSpPr>
          <p:nvPr>
            <p:ph type="dt" sz="half" idx="10"/>
          </p:nvPr>
        </p:nvSpPr>
        <p:spPr/>
        <p:txBody>
          <a:bodyPr/>
          <a:lstStyle/>
          <a:p>
            <a:fld id="{68FF1780-9406-4D9A-AC4B-A5E356B1022B}" type="datetimeFigureOut">
              <a:rPr lang="en-US" smtClean="0"/>
              <a:t>10/28/2026</a:t>
            </a:fld>
            <a:endParaRPr lang="en-US"/>
          </a:p>
        </p:txBody>
      </p:sp>
      <p:sp>
        <p:nvSpPr>
          <p:cNvPr id="5" name="Footer Placeholder 4">
            <a:extLst>
              <a:ext uri="{FF2B5EF4-FFF2-40B4-BE49-F238E27FC236}">
                <a16:creationId xmlns:a16="http://schemas.microsoft.com/office/drawing/2014/main" id="{C93A1392-2166-52B2-E334-2087661709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01B93A-43C7-0BAC-228F-827C4F2A16D3}"/>
              </a:ext>
            </a:extLst>
          </p:cNvPr>
          <p:cNvSpPr>
            <a:spLocks noGrp="1"/>
          </p:cNvSpPr>
          <p:nvPr>
            <p:ph type="sldNum" sz="quarter" idx="12"/>
          </p:nvPr>
        </p:nvSpPr>
        <p:spPr/>
        <p:txBody>
          <a:bodyPr/>
          <a:lstStyle/>
          <a:p>
            <a:fld id="{416DA855-75BD-441E-97D4-72D055B28FD1}" type="slidenum">
              <a:rPr lang="en-US" smtClean="0"/>
              <a:t>‹#›</a:t>
            </a:fld>
            <a:endParaRPr lang="en-US"/>
          </a:p>
        </p:txBody>
      </p:sp>
    </p:spTree>
    <p:extLst>
      <p:ext uri="{BB962C8B-B14F-4D97-AF65-F5344CB8AC3E}">
        <p14:creationId xmlns:p14="http://schemas.microsoft.com/office/powerpoint/2010/main" val="25352465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5041900" y="52388"/>
            <a:ext cx="7112000" cy="1219200"/>
          </a:xfrm>
        </p:spPr>
        <p:txBody>
          <a:bodyPr/>
          <a:lstStyle/>
          <a:p>
            <a:r>
              <a:rPr lang="en-US"/>
              <a:t>Click to edit Master title style</a:t>
            </a:r>
          </a:p>
        </p:txBody>
      </p:sp>
      <p:sp>
        <p:nvSpPr>
          <p:cNvPr id="3" name="ClipArt Placeholder 2"/>
          <p:cNvSpPr>
            <a:spLocks noGrp="1"/>
          </p:cNvSpPr>
          <p:nvPr>
            <p:ph type="clipArt" sz="half" idx="1"/>
          </p:nvPr>
        </p:nvSpPr>
        <p:spPr>
          <a:xfrm>
            <a:off x="2133600" y="2590800"/>
            <a:ext cx="4775200" cy="3200400"/>
          </a:xfrm>
        </p:spPr>
        <p:txBody>
          <a:bodyPr/>
          <a:lstStyle/>
          <a:p>
            <a:pPr lvl="0"/>
            <a:endParaRPr lang="en-US" noProof="0"/>
          </a:p>
        </p:txBody>
      </p:sp>
      <p:sp>
        <p:nvSpPr>
          <p:cNvPr id="4" name="Text Placeholder 3"/>
          <p:cNvSpPr>
            <a:spLocks noGrp="1"/>
          </p:cNvSpPr>
          <p:nvPr>
            <p:ph type="body" sz="half" idx="2"/>
          </p:nvPr>
        </p:nvSpPr>
        <p:spPr>
          <a:xfrm>
            <a:off x="7112000" y="2590800"/>
            <a:ext cx="4775200" cy="3200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pPr>
              <a:defRPr/>
            </a:pPr>
            <a:fld id="{31A5E9F8-6196-4696-9A3A-3D2113E9FF7B}" type="slidenum">
              <a:rPr lang="en-US"/>
              <a:pPr>
                <a:defRPr/>
              </a:pPr>
              <a:t>‹#›</a:t>
            </a:fld>
            <a:endParaRPr lang="en-US"/>
          </a:p>
        </p:txBody>
      </p:sp>
    </p:spTree>
    <p:extLst>
      <p:ext uri="{BB962C8B-B14F-4D97-AF65-F5344CB8AC3E}">
        <p14:creationId xmlns:p14="http://schemas.microsoft.com/office/powerpoint/2010/main" val="245284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482572-61B0-0586-A659-757F0FA7BA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2D941A-877A-9E50-D1E6-9C1419A6AB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9BE229-37F9-8731-9B2D-9D767FF04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FF1780-9406-4D9A-AC4B-A5E356B1022B}" type="datetimeFigureOut">
              <a:rPr lang="en-US" smtClean="0"/>
              <a:t>10/28/2026</a:t>
            </a:fld>
            <a:endParaRPr lang="en-US"/>
          </a:p>
        </p:txBody>
      </p:sp>
      <p:sp>
        <p:nvSpPr>
          <p:cNvPr id="5" name="Footer Placeholder 4">
            <a:extLst>
              <a:ext uri="{FF2B5EF4-FFF2-40B4-BE49-F238E27FC236}">
                <a16:creationId xmlns:a16="http://schemas.microsoft.com/office/drawing/2014/main" id="{78F41845-AC26-24DF-10AA-D6A5A85EE2A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21A1FB-14CF-E481-CA41-AD07307A14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6DA855-75BD-441E-97D4-72D055B28FD1}" type="slidenum">
              <a:rPr lang="en-US" smtClean="0"/>
              <a:t>‹#›</a:t>
            </a:fld>
            <a:endParaRPr lang="en-US"/>
          </a:p>
        </p:txBody>
      </p:sp>
    </p:spTree>
    <p:extLst>
      <p:ext uri="{BB962C8B-B14F-4D97-AF65-F5344CB8AC3E}">
        <p14:creationId xmlns:p14="http://schemas.microsoft.com/office/powerpoint/2010/main" val="3417980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8" Type="http://schemas.openxmlformats.org/officeDocument/2006/relationships/image" Target="../media/image162.png"/><Relationship Id="rId13" Type="http://schemas.openxmlformats.org/officeDocument/2006/relationships/customXml" Target="../ink/ink5.xml"/><Relationship Id="rId18" Type="http://schemas.openxmlformats.org/officeDocument/2006/relationships/image" Target="../media/image167.png"/><Relationship Id="rId3" Type="http://schemas.openxmlformats.org/officeDocument/2006/relationships/image" Target="../media/image22.png"/><Relationship Id="rId21" Type="http://schemas.openxmlformats.org/officeDocument/2006/relationships/customXml" Target="../ink/ink9.xml"/><Relationship Id="rId7" Type="http://schemas.openxmlformats.org/officeDocument/2006/relationships/customXml" Target="../ink/ink2.xml"/><Relationship Id="rId12" Type="http://schemas.openxmlformats.org/officeDocument/2006/relationships/image" Target="../media/image164.png"/><Relationship Id="rId17" Type="http://schemas.openxmlformats.org/officeDocument/2006/relationships/customXml" Target="../ink/ink7.xml"/><Relationship Id="rId2" Type="http://schemas.openxmlformats.org/officeDocument/2006/relationships/image" Target="../media/image2.png"/><Relationship Id="rId16" Type="http://schemas.openxmlformats.org/officeDocument/2006/relationships/image" Target="../media/image166.png"/><Relationship Id="rId20" Type="http://schemas.openxmlformats.org/officeDocument/2006/relationships/image" Target="../media/image168.png"/><Relationship Id="rId1" Type="http://schemas.openxmlformats.org/officeDocument/2006/relationships/slideLayout" Target="../slideLayouts/slideLayout12.xml"/><Relationship Id="rId6" Type="http://schemas.openxmlformats.org/officeDocument/2006/relationships/image" Target="../media/image161.png"/><Relationship Id="rId11" Type="http://schemas.openxmlformats.org/officeDocument/2006/relationships/customXml" Target="../ink/ink4.xml"/><Relationship Id="rId24" Type="http://schemas.openxmlformats.org/officeDocument/2006/relationships/image" Target="../media/image170.png"/><Relationship Id="rId5" Type="http://schemas.openxmlformats.org/officeDocument/2006/relationships/customXml" Target="../ink/ink1.xml"/><Relationship Id="rId15" Type="http://schemas.openxmlformats.org/officeDocument/2006/relationships/customXml" Target="../ink/ink6.xml"/><Relationship Id="rId23" Type="http://schemas.openxmlformats.org/officeDocument/2006/relationships/customXml" Target="../ink/ink10.xml"/><Relationship Id="rId10" Type="http://schemas.openxmlformats.org/officeDocument/2006/relationships/image" Target="../media/image163.png"/><Relationship Id="rId19" Type="http://schemas.openxmlformats.org/officeDocument/2006/relationships/customXml" Target="../ink/ink8.xml"/><Relationship Id="rId4" Type="http://schemas.openxmlformats.org/officeDocument/2006/relationships/image" Target="../media/image23.png"/><Relationship Id="rId9" Type="http://schemas.openxmlformats.org/officeDocument/2006/relationships/customXml" Target="../ink/ink3.xml"/><Relationship Id="rId14" Type="http://schemas.openxmlformats.org/officeDocument/2006/relationships/image" Target="../media/image165.png"/><Relationship Id="rId22" Type="http://schemas.openxmlformats.org/officeDocument/2006/relationships/image" Target="../media/image16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A2F74B-F97A-28BF-EB8A-D722DB715E4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792941" y="1600200"/>
            <a:ext cx="8606117" cy="3657600"/>
          </a:xfrm>
          <a:prstGeom prst="rect">
            <a:avLst/>
          </a:prstGeom>
        </p:spPr>
      </p:pic>
    </p:spTree>
    <p:extLst>
      <p:ext uri="{BB962C8B-B14F-4D97-AF65-F5344CB8AC3E}">
        <p14:creationId xmlns:p14="http://schemas.microsoft.com/office/powerpoint/2010/main" val="39680520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ppt_w</p:attrName>
                                        </p:attrNameLst>
                                      </p:cBhvr>
                                      <p:tavLst>
                                        <p:tav tm="0">
                                          <p:val>
                                            <p:fltVal val="0"/>
                                          </p:val>
                                        </p:tav>
                                        <p:tav tm="100000">
                                          <p:val>
                                            <p:strVal val="#ppt_w"/>
                                          </p:val>
                                        </p:tav>
                                      </p:tavLst>
                                    </p:anim>
                                    <p:anim calcmode="lin" valueType="num">
                                      <p:cBhvr>
                                        <p:cTn id="8" dur="2000" fill="hold"/>
                                        <p:tgtEl>
                                          <p:spTgt spid="7"/>
                                        </p:tgtEl>
                                        <p:attrNameLst>
                                          <p:attrName>ppt_h</p:attrName>
                                        </p:attrNameLst>
                                      </p:cBhvr>
                                      <p:tavLst>
                                        <p:tav tm="0">
                                          <p:val>
                                            <p:fltVal val="0"/>
                                          </p:val>
                                        </p:tav>
                                        <p:tav tm="100000">
                                          <p:val>
                                            <p:strVal val="#ppt_h"/>
                                          </p:val>
                                        </p:tav>
                                      </p:tavLst>
                                    </p:anim>
                                    <p:anim calcmode="lin" valueType="num">
                                      <p:cBhvr>
                                        <p:cTn id="9" dur="2000" fill="hold"/>
                                        <p:tgtEl>
                                          <p:spTgt spid="7"/>
                                        </p:tgtEl>
                                        <p:attrNameLst>
                                          <p:attrName>style.rotation</p:attrName>
                                        </p:attrNameLst>
                                      </p:cBhvr>
                                      <p:tavLst>
                                        <p:tav tm="0">
                                          <p:val>
                                            <p:fltVal val="90"/>
                                          </p:val>
                                        </p:tav>
                                        <p:tav tm="100000">
                                          <p:val>
                                            <p:fltVal val="0"/>
                                          </p:val>
                                        </p:tav>
                                      </p:tavLst>
                                    </p:anim>
                                    <p:animEffect transition="in" filter="fade">
                                      <p:cBhvr>
                                        <p:cTn id="10"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23CDE856-68DD-E933-3ED4-480F8ECAF2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pic>
        <p:nvPicPr>
          <p:cNvPr id="2050" name="Picture 2">
            <a:extLst>
              <a:ext uri="{FF2B5EF4-FFF2-40B4-BE49-F238E27FC236}">
                <a16:creationId xmlns:a16="http://schemas.microsoft.com/office/drawing/2014/main" id="{7FB14E80-06AE-B45E-47FE-829E06387E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8974" y="3218731"/>
            <a:ext cx="3131671" cy="2613804"/>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a:extLst>
              <a:ext uri="{FF2B5EF4-FFF2-40B4-BE49-F238E27FC236}">
                <a16:creationId xmlns:a16="http://schemas.microsoft.com/office/drawing/2014/main" id="{8751191D-D806-7BC7-DF06-EBF31B3B8C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2664" y="2982583"/>
            <a:ext cx="6858000" cy="308610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0DF360D-CE47-1AB8-1DF8-9B933B7299A0}"/>
              </a:ext>
            </a:extLst>
          </p:cNvPr>
          <p:cNvSpPr txBox="1"/>
          <p:nvPr/>
        </p:nvSpPr>
        <p:spPr>
          <a:xfrm>
            <a:off x="1" y="1216325"/>
            <a:ext cx="12192000" cy="1200329"/>
          </a:xfrm>
          <a:prstGeom prst="rect">
            <a:avLst/>
          </a:prstGeom>
          <a:noFill/>
        </p:spPr>
        <p:txBody>
          <a:bodyPr wrap="square" rtlCol="0">
            <a:spAutoFit/>
          </a:bodyPr>
          <a:lstStyle/>
          <a:p>
            <a:pPr algn="ctr"/>
            <a:r>
              <a:rPr lang="en-US">
                <a:latin typeface="Calibri" panose="020F0502020204030204" pitchFamily="34" charset="0"/>
                <a:ea typeface="Calibri" panose="020F0502020204030204" pitchFamily="34" charset="0"/>
                <a:cs typeface="Calibri" panose="020F0502020204030204" pitchFamily="34" charset="0"/>
              </a:rPr>
              <a:t>Automated Gate Access with Spiderdoor Access.</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Access codes sent thru text.</a:t>
            </a:r>
          </a:p>
          <a:p>
            <a:pPr algn="ctr"/>
            <a:r>
              <a:rPr lang="en-US">
                <a:latin typeface="Calibri" panose="020F0502020204030204" pitchFamily="34" charset="0"/>
                <a:ea typeface="Calibri" panose="020F0502020204030204" pitchFamily="34" charset="0"/>
                <a:cs typeface="Calibri" panose="020F0502020204030204" pitchFamily="34" charset="0"/>
              </a:rPr>
              <a:t>No onsite computer or staff needed.</a:t>
            </a:r>
          </a:p>
        </p:txBody>
      </p:sp>
      <p:sp>
        <p:nvSpPr>
          <p:cNvPr id="2" name="TextBox 1">
            <a:extLst>
              <a:ext uri="{FF2B5EF4-FFF2-40B4-BE49-F238E27FC236}">
                <a16:creationId xmlns:a16="http://schemas.microsoft.com/office/drawing/2014/main" id="{E7A51BCB-77D0-8D2D-9C81-B6540B72F92A}"/>
              </a:ext>
            </a:extLst>
          </p:cNvPr>
          <p:cNvSpPr txBox="1"/>
          <p:nvPr/>
        </p:nvSpPr>
        <p:spPr>
          <a:xfrm>
            <a:off x="8530714" y="188132"/>
            <a:ext cx="3563052" cy="369332"/>
          </a:xfrm>
          <a:prstGeom prst="rect">
            <a:avLst/>
          </a:prstGeom>
          <a:noFill/>
        </p:spPr>
        <p:txBody>
          <a:bodyPr wrap="square" lIns="91440" tIns="45720" rIns="91440" bIns="45720" rtlCol="0" anchor="t">
            <a:spAutoFit/>
          </a:bodyPr>
          <a:lstStyle/>
          <a:p>
            <a:pPr algn="r"/>
            <a:r>
              <a:rPr lang="en-US" sz="1800" i="1">
                <a:solidFill>
                  <a:srgbClr val="F3F3F3"/>
                </a:solidFill>
                <a:latin typeface="Calibri"/>
                <a:ea typeface="Calibri"/>
                <a:cs typeface="Calibri"/>
              </a:rPr>
              <a:t>HUB Management Technologies</a:t>
            </a:r>
            <a:endParaRPr lang="en-US" sz="1800" i="1">
              <a:solidFill>
                <a:srgbClr val="F3F3F3"/>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78757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Logo&#10;&#10;Description automatically generated">
            <a:extLst>
              <a:ext uri="{FF2B5EF4-FFF2-40B4-BE49-F238E27FC236}">
                <a16:creationId xmlns:a16="http://schemas.microsoft.com/office/drawing/2014/main" id="{23CDE856-68DD-E933-3ED4-480F8ECAF2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pic>
        <p:nvPicPr>
          <p:cNvPr id="1028" name="Picture 4">
            <a:extLst>
              <a:ext uri="{FF2B5EF4-FFF2-40B4-BE49-F238E27FC236}">
                <a16:creationId xmlns:a16="http://schemas.microsoft.com/office/drawing/2014/main" id="{D90DB899-F879-EE9E-68A6-7E99578702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370" y="2084370"/>
            <a:ext cx="3533775" cy="35337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834C9F5B-CD6A-585D-1E9F-0EEADD7BB7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92068" y="2084370"/>
            <a:ext cx="3533775" cy="35337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1AE6B68D-F79D-423D-1756-8F7B7162388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8767" y="2084369"/>
            <a:ext cx="3533775" cy="353377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4CFC283D-B7EF-5C4E-FA59-98F805ED10FB}"/>
              </a:ext>
            </a:extLst>
          </p:cNvPr>
          <p:cNvSpPr txBox="1"/>
          <p:nvPr/>
        </p:nvSpPr>
        <p:spPr>
          <a:xfrm>
            <a:off x="258792" y="5788336"/>
            <a:ext cx="3470353" cy="584775"/>
          </a:xfrm>
          <a:prstGeom prst="rect">
            <a:avLst/>
          </a:prstGeom>
          <a:noFill/>
        </p:spPr>
        <p:txBody>
          <a:bodyPr wrap="square" rtlCol="0">
            <a:spAutoFit/>
          </a:bodyPr>
          <a:lstStyle/>
          <a:p>
            <a:r>
              <a:rPr lang="en-US" sz="1600">
                <a:latin typeface="Calibri" panose="020F0502020204030204" pitchFamily="34" charset="0"/>
                <a:ea typeface="Calibri" panose="020F0502020204030204" pitchFamily="34" charset="0"/>
                <a:cs typeface="Calibri" panose="020F0502020204030204" pitchFamily="34" charset="0"/>
              </a:rPr>
              <a:t>Place DaVinci locks on vacant units</a:t>
            </a:r>
            <a:br>
              <a:rPr lang="en-US" sz="1600">
                <a:latin typeface="Calibri" panose="020F0502020204030204" pitchFamily="34" charset="0"/>
                <a:ea typeface="Calibri" panose="020F0502020204030204" pitchFamily="34" charset="0"/>
                <a:cs typeface="Calibri" panose="020F0502020204030204" pitchFamily="34" charset="0"/>
              </a:rPr>
            </a:br>
            <a:r>
              <a:rPr lang="en-US" sz="1600">
                <a:latin typeface="Calibri" panose="020F0502020204030204" pitchFamily="34" charset="0"/>
                <a:ea typeface="Calibri" panose="020F0502020204030204" pitchFamily="34" charset="0"/>
                <a:cs typeface="Calibri" panose="020F0502020204030204" pitchFamily="34" charset="0"/>
              </a:rPr>
              <a:t>or overdue/delinquent units </a:t>
            </a:r>
          </a:p>
        </p:txBody>
      </p:sp>
      <p:sp>
        <p:nvSpPr>
          <p:cNvPr id="4" name="TextBox 3">
            <a:extLst>
              <a:ext uri="{FF2B5EF4-FFF2-40B4-BE49-F238E27FC236}">
                <a16:creationId xmlns:a16="http://schemas.microsoft.com/office/drawing/2014/main" id="{54538280-E868-5122-ED02-1A061ED99A6B}"/>
              </a:ext>
            </a:extLst>
          </p:cNvPr>
          <p:cNvSpPr txBox="1"/>
          <p:nvPr/>
        </p:nvSpPr>
        <p:spPr>
          <a:xfrm>
            <a:off x="4292068" y="5788336"/>
            <a:ext cx="3470353" cy="830997"/>
          </a:xfrm>
          <a:prstGeom prst="rect">
            <a:avLst/>
          </a:prstGeom>
          <a:noFill/>
        </p:spPr>
        <p:txBody>
          <a:bodyPr wrap="square" rtlCol="0">
            <a:spAutoFit/>
          </a:bodyPr>
          <a:lstStyle/>
          <a:p>
            <a:r>
              <a:rPr lang="en-US" sz="1600">
                <a:latin typeface="Calibri" panose="020F0502020204030204" pitchFamily="34" charset="0"/>
                <a:ea typeface="Calibri" panose="020F0502020204030204" pitchFamily="34" charset="0"/>
                <a:cs typeface="Calibri" panose="020F0502020204030204" pitchFamily="34" charset="0"/>
              </a:rPr>
              <a:t>When a customer rents a new unit or pays their overdue account, they get a code to open the DaVinci lock</a:t>
            </a:r>
          </a:p>
        </p:txBody>
      </p:sp>
      <p:sp>
        <p:nvSpPr>
          <p:cNvPr id="5" name="TextBox 4">
            <a:extLst>
              <a:ext uri="{FF2B5EF4-FFF2-40B4-BE49-F238E27FC236}">
                <a16:creationId xmlns:a16="http://schemas.microsoft.com/office/drawing/2014/main" id="{3C7FAE90-CDEF-4373-5A47-69F08A4AFBBA}"/>
              </a:ext>
            </a:extLst>
          </p:cNvPr>
          <p:cNvSpPr txBox="1"/>
          <p:nvPr/>
        </p:nvSpPr>
        <p:spPr>
          <a:xfrm>
            <a:off x="8388767" y="5788336"/>
            <a:ext cx="3470353" cy="830997"/>
          </a:xfrm>
          <a:prstGeom prst="rect">
            <a:avLst/>
          </a:prstGeom>
          <a:noFill/>
        </p:spPr>
        <p:txBody>
          <a:bodyPr wrap="square" rtlCol="0">
            <a:spAutoFit/>
          </a:bodyPr>
          <a:lstStyle/>
          <a:p>
            <a:r>
              <a:rPr lang="en-US" sz="1600">
                <a:latin typeface="Calibri" panose="020F0502020204030204" pitchFamily="34" charset="0"/>
                <a:ea typeface="Calibri" panose="020F0502020204030204" pitchFamily="34" charset="0"/>
                <a:cs typeface="Calibri" panose="020F0502020204030204" pitchFamily="34" charset="0"/>
              </a:rPr>
              <a:t>Customers return the DaVinci locks to the designated area (or pay a fee if not done, as agreed to in the lease)</a:t>
            </a:r>
          </a:p>
        </p:txBody>
      </p:sp>
      <p:pic>
        <p:nvPicPr>
          <p:cNvPr id="1040" name="Picture 16" descr="DaVinci Lock Help Center home page">
            <a:extLst>
              <a:ext uri="{FF2B5EF4-FFF2-40B4-BE49-F238E27FC236}">
                <a16:creationId xmlns:a16="http://schemas.microsoft.com/office/drawing/2014/main" id="{1C377B4F-D6D0-7E58-E215-4FB6C8A99F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06840" y="534838"/>
            <a:ext cx="3578320" cy="103924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2085D92-54AA-045A-DD41-B18AA586F8EB}"/>
              </a:ext>
            </a:extLst>
          </p:cNvPr>
          <p:cNvSpPr txBox="1"/>
          <p:nvPr/>
        </p:nvSpPr>
        <p:spPr>
          <a:xfrm>
            <a:off x="8687022" y="188132"/>
            <a:ext cx="3406744" cy="369332"/>
          </a:xfrm>
          <a:prstGeom prst="rect">
            <a:avLst/>
          </a:prstGeom>
          <a:noFill/>
        </p:spPr>
        <p:txBody>
          <a:bodyPr wrap="square" lIns="91440" tIns="45720" rIns="91440" bIns="45720" rtlCol="0" anchor="t">
            <a:spAutoFit/>
          </a:bodyPr>
          <a:lstStyle/>
          <a:p>
            <a:pPr algn="r"/>
            <a:r>
              <a:rPr lang="en-US" sz="1800" i="1">
                <a:solidFill>
                  <a:srgbClr val="F3F3F3"/>
                </a:solidFill>
                <a:latin typeface="Calibri"/>
                <a:ea typeface="Calibri"/>
                <a:cs typeface="Calibri"/>
              </a:rPr>
              <a:t>HUB Management Technologies</a:t>
            </a:r>
            <a:endParaRPr lang="en-US" sz="1800" i="1">
              <a:solidFill>
                <a:srgbClr val="F3F3F3"/>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50669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1000"/>
                                        <p:tgtEl>
                                          <p:spTgt spid="1028"/>
                                        </p:tgtEl>
                                      </p:cBhvr>
                                    </p:animEffect>
                                    <p:anim calcmode="lin" valueType="num">
                                      <p:cBhvr>
                                        <p:cTn id="8" dur="1000" fill="hold"/>
                                        <p:tgtEl>
                                          <p:spTgt spid="1028"/>
                                        </p:tgtEl>
                                        <p:attrNameLst>
                                          <p:attrName>ppt_x</p:attrName>
                                        </p:attrNameLst>
                                      </p:cBhvr>
                                      <p:tavLst>
                                        <p:tav tm="0">
                                          <p:val>
                                            <p:strVal val="#ppt_x"/>
                                          </p:val>
                                        </p:tav>
                                        <p:tav tm="100000">
                                          <p:val>
                                            <p:strVal val="#ppt_x"/>
                                          </p:val>
                                        </p:tav>
                                      </p:tavLst>
                                    </p:anim>
                                    <p:anim calcmode="lin" valueType="num">
                                      <p:cBhvr>
                                        <p:cTn id="9" dur="1000" fill="hold"/>
                                        <p:tgtEl>
                                          <p:spTgt spid="1028"/>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030"/>
                                        </p:tgtEl>
                                        <p:attrNameLst>
                                          <p:attrName>style.visibility</p:attrName>
                                        </p:attrNameLst>
                                      </p:cBhvr>
                                      <p:to>
                                        <p:strVal val="visible"/>
                                      </p:to>
                                    </p:set>
                                    <p:animEffect transition="in" filter="fade">
                                      <p:cBhvr>
                                        <p:cTn id="12" dur="1000"/>
                                        <p:tgtEl>
                                          <p:spTgt spid="1030"/>
                                        </p:tgtEl>
                                      </p:cBhvr>
                                    </p:animEffect>
                                    <p:anim calcmode="lin" valueType="num">
                                      <p:cBhvr>
                                        <p:cTn id="13" dur="1000" fill="hold"/>
                                        <p:tgtEl>
                                          <p:spTgt spid="1030"/>
                                        </p:tgtEl>
                                        <p:attrNameLst>
                                          <p:attrName>ppt_x</p:attrName>
                                        </p:attrNameLst>
                                      </p:cBhvr>
                                      <p:tavLst>
                                        <p:tav tm="0">
                                          <p:val>
                                            <p:strVal val="#ppt_x"/>
                                          </p:val>
                                        </p:tav>
                                        <p:tav tm="100000">
                                          <p:val>
                                            <p:strVal val="#ppt_x"/>
                                          </p:val>
                                        </p:tav>
                                      </p:tavLst>
                                    </p:anim>
                                    <p:anim calcmode="lin" valueType="num">
                                      <p:cBhvr>
                                        <p:cTn id="14" dur="1000" fill="hold"/>
                                        <p:tgtEl>
                                          <p:spTgt spid="1030"/>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32"/>
                                        </p:tgtEl>
                                        <p:attrNameLst>
                                          <p:attrName>style.visibility</p:attrName>
                                        </p:attrNameLst>
                                      </p:cBhvr>
                                      <p:to>
                                        <p:strVal val="visible"/>
                                      </p:to>
                                    </p:set>
                                    <p:animEffect transition="in" filter="fade">
                                      <p:cBhvr>
                                        <p:cTn id="17" dur="1000"/>
                                        <p:tgtEl>
                                          <p:spTgt spid="1032"/>
                                        </p:tgtEl>
                                      </p:cBhvr>
                                    </p:animEffect>
                                    <p:anim calcmode="lin" valueType="num">
                                      <p:cBhvr>
                                        <p:cTn id="18" dur="1000" fill="hold"/>
                                        <p:tgtEl>
                                          <p:spTgt spid="1032"/>
                                        </p:tgtEl>
                                        <p:attrNameLst>
                                          <p:attrName>ppt_x</p:attrName>
                                        </p:attrNameLst>
                                      </p:cBhvr>
                                      <p:tavLst>
                                        <p:tav tm="0">
                                          <p:val>
                                            <p:strVal val="#ppt_x"/>
                                          </p:val>
                                        </p:tav>
                                        <p:tav tm="100000">
                                          <p:val>
                                            <p:strVal val="#ppt_x"/>
                                          </p:val>
                                        </p:tav>
                                      </p:tavLst>
                                    </p:anim>
                                    <p:anim calcmode="lin" valueType="num">
                                      <p:cBhvr>
                                        <p:cTn id="19" dur="1000" fill="hold"/>
                                        <p:tgtEl>
                                          <p:spTgt spid="10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p:cNvSpPr>
            <a:spLocks noChangeArrowheads="1"/>
          </p:cNvSpPr>
          <p:nvPr/>
        </p:nvSpPr>
        <p:spPr bwMode="auto">
          <a:xfrm>
            <a:off x="10389759" y="141991"/>
            <a:ext cx="1690484" cy="333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nchor="b"/>
          <a:lstStyle>
            <a:lvl1pPr>
              <a:spcBef>
                <a:spcPct val="20000"/>
              </a:spcBef>
              <a:buClr>
                <a:srgbClr val="FFFFFF"/>
              </a:buClr>
              <a:buChar char="•"/>
              <a:defRPr sz="3200">
                <a:solidFill>
                  <a:srgbClr val="FFFFFF"/>
                </a:solidFill>
                <a:latin typeface="Times New Roman" panose="02020603050405020304" pitchFamily="18" charset="0"/>
              </a:defRPr>
            </a:lvl1pPr>
            <a:lvl2pPr marL="742950" indent="-285750">
              <a:spcBef>
                <a:spcPct val="20000"/>
              </a:spcBef>
              <a:buClr>
                <a:srgbClr val="FFFFFF"/>
              </a:buClr>
              <a:buChar char="–"/>
              <a:defRPr sz="2800">
                <a:solidFill>
                  <a:srgbClr val="FFFFFF"/>
                </a:solidFill>
                <a:latin typeface="Times New Roman" panose="02020603050405020304" pitchFamily="18" charset="0"/>
              </a:defRPr>
            </a:lvl2pPr>
            <a:lvl3pPr marL="1143000" indent="-228600">
              <a:spcBef>
                <a:spcPct val="20000"/>
              </a:spcBef>
              <a:buClr>
                <a:srgbClr val="FFFFFF"/>
              </a:buClr>
              <a:buChar char="•"/>
              <a:defRPr sz="2400">
                <a:solidFill>
                  <a:srgbClr val="FFFFFF"/>
                </a:solidFill>
                <a:latin typeface="Times New Roman" panose="02020603050405020304" pitchFamily="18" charset="0"/>
              </a:defRPr>
            </a:lvl3pPr>
            <a:lvl4pPr marL="1600200" indent="-228600">
              <a:spcBef>
                <a:spcPct val="20000"/>
              </a:spcBef>
              <a:buClr>
                <a:srgbClr val="FFFFFF"/>
              </a:buClr>
              <a:buChar char="–"/>
              <a:defRPr sz="2000">
                <a:solidFill>
                  <a:srgbClr val="FFFFFF"/>
                </a:solidFill>
                <a:latin typeface="Times New Roman" panose="02020603050405020304" pitchFamily="18" charset="0"/>
              </a:defRPr>
            </a:lvl4pPr>
            <a:lvl5pPr marL="2057400" indent="-228600">
              <a:spcBef>
                <a:spcPct val="20000"/>
              </a:spcBef>
              <a:buClr>
                <a:srgbClr val="FFFFFF"/>
              </a:buClr>
              <a:buChar char="•"/>
              <a:defRPr sz="2000">
                <a:solidFill>
                  <a:srgbClr val="FFFFFF"/>
                </a:solidFill>
                <a:latin typeface="Times New Roman" panose="02020603050405020304" pitchFamily="18" charset="0"/>
              </a:defRPr>
            </a:lvl5pPr>
            <a:lvl6pPr marL="2514600" indent="-228600" eaLnBrk="0" fontAlgn="base" hangingPunct="0">
              <a:spcBef>
                <a:spcPct val="20000"/>
              </a:spcBef>
              <a:spcAft>
                <a:spcPct val="0"/>
              </a:spcAft>
              <a:buClr>
                <a:srgbClr val="FFFFFF"/>
              </a:buClr>
              <a:buChar char="•"/>
              <a:defRPr sz="2000">
                <a:solidFill>
                  <a:srgbClr val="FFFFFF"/>
                </a:solidFill>
                <a:latin typeface="Times New Roman" panose="02020603050405020304" pitchFamily="18" charset="0"/>
              </a:defRPr>
            </a:lvl6pPr>
            <a:lvl7pPr marL="2971800" indent="-228600" eaLnBrk="0" fontAlgn="base" hangingPunct="0">
              <a:spcBef>
                <a:spcPct val="20000"/>
              </a:spcBef>
              <a:spcAft>
                <a:spcPct val="0"/>
              </a:spcAft>
              <a:buClr>
                <a:srgbClr val="FFFFFF"/>
              </a:buClr>
              <a:buChar char="•"/>
              <a:defRPr sz="2000">
                <a:solidFill>
                  <a:srgbClr val="FFFFFF"/>
                </a:solidFill>
                <a:latin typeface="Times New Roman" panose="02020603050405020304" pitchFamily="18" charset="0"/>
              </a:defRPr>
            </a:lvl7pPr>
            <a:lvl8pPr marL="3429000" indent="-228600" eaLnBrk="0" fontAlgn="base" hangingPunct="0">
              <a:spcBef>
                <a:spcPct val="20000"/>
              </a:spcBef>
              <a:spcAft>
                <a:spcPct val="0"/>
              </a:spcAft>
              <a:buClr>
                <a:srgbClr val="FFFFFF"/>
              </a:buClr>
              <a:buChar char="•"/>
              <a:defRPr sz="2000">
                <a:solidFill>
                  <a:srgbClr val="FFFFFF"/>
                </a:solidFill>
                <a:latin typeface="Times New Roman" panose="02020603050405020304" pitchFamily="18" charset="0"/>
              </a:defRPr>
            </a:lvl8pPr>
            <a:lvl9pPr marL="3886200" indent="-228600" eaLnBrk="0" fontAlgn="base" hangingPunct="0">
              <a:spcBef>
                <a:spcPct val="20000"/>
              </a:spcBef>
              <a:spcAft>
                <a:spcPct val="0"/>
              </a:spcAft>
              <a:buClr>
                <a:srgbClr val="FFFFFF"/>
              </a:buClr>
              <a:buChar char="•"/>
              <a:defRPr sz="2000">
                <a:solidFill>
                  <a:srgbClr val="FFFFFF"/>
                </a:solidFill>
                <a:latin typeface="Times New Roman" panose="02020603050405020304" pitchFamily="18" charset="0"/>
              </a:defRPr>
            </a:lvl9pPr>
          </a:lstStyle>
          <a:p>
            <a:pPr algn="r">
              <a:spcBef>
                <a:spcPct val="0"/>
              </a:spcBef>
              <a:buClrTx/>
              <a:buFontTx/>
              <a:buNone/>
            </a:pPr>
            <a:r>
              <a:rPr kumimoji="0" lang="en-US" sz="1800">
                <a:latin typeface="Calibri" panose="020F0502020204030204" pitchFamily="34" charset="0"/>
              </a:rPr>
              <a:t>MOBILE APP</a:t>
            </a:r>
          </a:p>
        </p:txBody>
      </p:sp>
      <p:pic>
        <p:nvPicPr>
          <p:cNvPr id="4" name="Picture 3" descr="Graphical user interface, application&#10;&#10;Description automatically generated">
            <a:extLst>
              <a:ext uri="{FF2B5EF4-FFF2-40B4-BE49-F238E27FC236}">
                <a16:creationId xmlns:a16="http://schemas.microsoft.com/office/drawing/2014/main" id="{FE4474BD-62B0-30E9-2903-BC356E665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2605" y="851829"/>
            <a:ext cx="7946789" cy="51543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 name="Picture 2" descr="Logo&#10;&#10;Description automatically generated">
            <a:extLst>
              <a:ext uri="{FF2B5EF4-FFF2-40B4-BE49-F238E27FC236}">
                <a16:creationId xmlns:a16="http://schemas.microsoft.com/office/drawing/2014/main" id="{535DBA41-81D6-C2AB-AFCB-C2511A7882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spTree>
    <p:extLst>
      <p:ext uri="{BB962C8B-B14F-4D97-AF65-F5344CB8AC3E}">
        <p14:creationId xmlns:p14="http://schemas.microsoft.com/office/powerpoint/2010/main" val="11255880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05D8E-5C42-B162-71AA-E57CB210A29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DFC585F5-53A6-23EE-6F43-542DD5273F61}"/>
              </a:ext>
            </a:extLst>
          </p:cNvPr>
          <p:cNvPicPr>
            <a:picLocks noChangeAspect="1"/>
          </p:cNvPicPr>
          <p:nvPr/>
        </p:nvPicPr>
        <p:blipFill>
          <a:blip r:embed="rId3">
            <a:alphaModFix/>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7" name="Rectangle: Rounded Corners 6">
            <a:extLst>
              <a:ext uri="{FF2B5EF4-FFF2-40B4-BE49-F238E27FC236}">
                <a16:creationId xmlns:a16="http://schemas.microsoft.com/office/drawing/2014/main" id="{8E627CAE-FA57-149B-B46A-0DAD43E683BB}"/>
              </a:ext>
            </a:extLst>
          </p:cNvPr>
          <p:cNvSpPr/>
          <p:nvPr/>
        </p:nvSpPr>
        <p:spPr>
          <a:xfrm>
            <a:off x="1965960" y="1856232"/>
            <a:ext cx="8129016" cy="803565"/>
          </a:xfrm>
          <a:prstGeom prst="round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eaLnBrk="1" fontAlgn="auto" hangingPunct="1">
              <a:spcBef>
                <a:spcPts val="0"/>
              </a:spcBef>
              <a:spcAft>
                <a:spcPts val="0"/>
              </a:spcAft>
              <a:defRPr/>
            </a:pPr>
            <a:r>
              <a:rPr kumimoji="0" lang="en-US" sz="2800">
                <a:solidFill>
                  <a:prstClr val="white"/>
                </a:solidFill>
                <a:latin typeface="Calibri" panose="020F0502020204030204"/>
              </a:rPr>
              <a:t>HUB--Staffed</a:t>
            </a:r>
            <a:r>
              <a:rPr kumimoji="0" lang="en-US" sz="2800" b="0" i="0" u="none" strike="noStrike" kern="1200" cap="none" spc="0" normalizeH="0" baseline="0" noProof="0">
                <a:ln>
                  <a:noFill/>
                </a:ln>
                <a:solidFill>
                  <a:prstClr val="white"/>
                </a:solidFill>
                <a:effectLst/>
                <a:uLnTx/>
                <a:uFillTx/>
                <a:latin typeface="Calibri" panose="020F0502020204030204"/>
                <a:ea typeface="+mn-ea"/>
                <a:cs typeface="+mn-cs"/>
              </a:rPr>
              <a:t> by Highly Trained Store Managers</a:t>
            </a:r>
          </a:p>
        </p:txBody>
      </p:sp>
    </p:spTree>
    <p:extLst>
      <p:ext uri="{BB962C8B-B14F-4D97-AF65-F5344CB8AC3E}">
        <p14:creationId xmlns:p14="http://schemas.microsoft.com/office/powerpoint/2010/main" val="1318666891"/>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397BA-E0BF-8668-C93D-4BC497A3EB5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1389BB-A55E-60E4-FFD8-487E55720C79}"/>
              </a:ext>
            </a:extLst>
          </p:cNvPr>
          <p:cNvSpPr txBox="1"/>
          <p:nvPr/>
        </p:nvSpPr>
        <p:spPr>
          <a:xfrm>
            <a:off x="390059" y="1208989"/>
            <a:ext cx="6567122" cy="36933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a:ln>
                  <a:noFill/>
                </a:ln>
                <a:solidFill>
                  <a:srgbClr val="2093C7"/>
                </a:solidFill>
                <a:effectLst/>
                <a:uLnTx/>
                <a:uFillTx/>
                <a:latin typeface="Calibri" panose="020F0502020204030204"/>
                <a:ea typeface="+mn-ea"/>
                <a:cs typeface="+mn-cs"/>
              </a:rPr>
              <a:t>HUB Manager Features &amp; Benefits:</a:t>
            </a:r>
            <a:br>
              <a:rPr kumimoji="0" lang="en-US" sz="1800" b="1" i="0" u="none" strike="noStrike" kern="1200" cap="none" spc="0" normalizeH="0" baseline="0" noProof="0">
                <a:ln>
                  <a:noFill/>
                </a:ln>
                <a:solidFill>
                  <a:srgbClr val="2093C7"/>
                </a:solidFill>
                <a:effectLst/>
                <a:uLnTx/>
                <a:uFillTx/>
                <a:latin typeface="Calibri" panose="020F0502020204030204"/>
                <a:ea typeface="+mn-ea"/>
                <a:cs typeface="+mn-cs"/>
              </a:rPr>
            </a:br>
            <a:endParaRPr kumimoji="0" lang="en-US" sz="1800" b="1" i="0" u="none" strike="noStrike" kern="1200" cap="none" spc="0" normalizeH="0" baseline="0" noProof="0">
              <a:ln>
                <a:noFill/>
              </a:ln>
              <a:solidFill>
                <a:srgbClr val="2093C7"/>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Normal Business Hours Coverage 9am to 5pm Monday to Saturday</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Self Storage Industry Trained Professionals</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Outbound Follow-up Calls &amp; Email Correspondence</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Detailed &amp; Effective Collection Call Schedule</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Full Coverage &amp; Tasks for a Fraction of the Cost</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Coordination and Assistance with Davinci Lock program</a:t>
            </a:r>
          </a:p>
        </p:txBody>
      </p:sp>
      <p:sp>
        <p:nvSpPr>
          <p:cNvPr id="6" name="TextBox 5">
            <a:extLst>
              <a:ext uri="{FF2B5EF4-FFF2-40B4-BE49-F238E27FC236}">
                <a16:creationId xmlns:a16="http://schemas.microsoft.com/office/drawing/2014/main" id="{8AC1475B-4B0D-4D55-D80D-398DE0FB2084}"/>
              </a:ext>
            </a:extLst>
          </p:cNvPr>
          <p:cNvSpPr txBox="1"/>
          <p:nvPr/>
        </p:nvSpPr>
        <p:spPr>
          <a:xfrm>
            <a:off x="7182735" y="3989399"/>
            <a:ext cx="4619206" cy="258532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a:ln>
                  <a:noFill/>
                </a:ln>
                <a:solidFill>
                  <a:srgbClr val="2093C7"/>
                </a:solidFill>
                <a:effectLst/>
                <a:uLnTx/>
                <a:uFillTx/>
                <a:latin typeface="Calibri" panose="020F0502020204030204"/>
                <a:ea typeface="+mn-ea"/>
                <a:cs typeface="+mn-cs"/>
              </a:rPr>
              <a:t>You or Your FSA Provide</a:t>
            </a:r>
            <a:r>
              <a:rPr kumimoji="0" lang="en-US" sz="1800" b="0" i="0" u="none" strike="noStrike" kern="1200" cap="none" spc="0" normalizeH="0" baseline="0" noProof="0">
                <a:ln>
                  <a:noFill/>
                </a:ln>
                <a:solidFill>
                  <a:srgbClr val="2093C7"/>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Property Maintenance</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Overlocks / Unlocks (onsite)</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Unit Prep (sweep / ready for self service)</a:t>
            </a:r>
            <a:b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b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Onsite Auction Tasks</a:t>
            </a:r>
          </a:p>
        </p:txBody>
      </p:sp>
      <p:pic>
        <p:nvPicPr>
          <p:cNvPr id="4" name="Picture 3" descr="A logo with a black background&#10;&#10;AI-generated content may be incorrect.">
            <a:extLst>
              <a:ext uri="{FF2B5EF4-FFF2-40B4-BE49-F238E27FC236}">
                <a16:creationId xmlns:a16="http://schemas.microsoft.com/office/drawing/2014/main" id="{510D8BB3-81A9-EF85-F8F5-59003EB84D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3198" y="39384"/>
            <a:ext cx="1828801" cy="777240"/>
          </a:xfrm>
          <a:prstGeom prst="rect">
            <a:avLst/>
          </a:prstGeom>
        </p:spPr>
      </p:pic>
    </p:spTree>
    <p:extLst>
      <p:ext uri="{BB962C8B-B14F-4D97-AF65-F5344CB8AC3E}">
        <p14:creationId xmlns:p14="http://schemas.microsoft.com/office/powerpoint/2010/main" val="2858764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1000"/>
                                        <p:tgtEl>
                                          <p:spTgt spid="5">
                                            <p:txEl>
                                              <p:pRg st="1" end="1"/>
                                            </p:txEl>
                                          </p:spTgt>
                                        </p:tgtEl>
                                      </p:cBhvr>
                                    </p:animEffect>
                                    <p:anim calcmode="lin" valueType="num">
                                      <p:cBhvr>
                                        <p:cTn id="8"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fade">
                                      <p:cBhvr>
                                        <p:cTn id="13" dur="1000"/>
                                        <p:tgtEl>
                                          <p:spTgt spid="5">
                                            <p:txEl>
                                              <p:pRg st="2" end="2"/>
                                            </p:txEl>
                                          </p:spTgt>
                                        </p:tgtEl>
                                      </p:cBhvr>
                                    </p:animEffect>
                                    <p:anim calcmode="lin" valueType="num">
                                      <p:cBhvr>
                                        <p:cTn id="14"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1000"/>
                                        <p:tgtEl>
                                          <p:spTgt spid="5">
                                            <p:txEl>
                                              <p:pRg st="3" end="3"/>
                                            </p:txEl>
                                          </p:spTgt>
                                        </p:tgtEl>
                                      </p:cBhvr>
                                    </p:animEffect>
                                    <p:anim calcmode="lin" valueType="num">
                                      <p:cBhvr>
                                        <p:cTn id="20"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7" presetClass="entr" presetSubtype="0" fill="hold" nodeType="after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Effect transition="in" filter="fade">
                                      <p:cBhvr>
                                        <p:cTn id="25" dur="1000"/>
                                        <p:tgtEl>
                                          <p:spTgt spid="5">
                                            <p:txEl>
                                              <p:pRg st="4" end="4"/>
                                            </p:txEl>
                                          </p:spTgt>
                                        </p:tgtEl>
                                      </p:cBhvr>
                                    </p:animEffect>
                                    <p:anim calcmode="lin" valueType="num">
                                      <p:cBhvr>
                                        <p:cTn id="26"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27"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7" presetClass="entr" presetSubtype="0" fill="hold" nodeType="after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animEffect transition="in" filter="fade">
                                      <p:cBhvr>
                                        <p:cTn id="31" dur="1000"/>
                                        <p:tgtEl>
                                          <p:spTgt spid="5">
                                            <p:txEl>
                                              <p:pRg st="5" end="5"/>
                                            </p:txEl>
                                          </p:spTgt>
                                        </p:tgtEl>
                                      </p:cBhvr>
                                    </p:animEffect>
                                    <p:anim calcmode="lin" valueType="num">
                                      <p:cBhvr>
                                        <p:cTn id="32"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7" presetClass="entr" presetSubtype="0" fill="hold" nodeType="after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animEffect transition="in" filter="fade">
                                      <p:cBhvr>
                                        <p:cTn id="37" dur="1000"/>
                                        <p:tgtEl>
                                          <p:spTgt spid="5">
                                            <p:txEl>
                                              <p:pRg st="6" end="6"/>
                                            </p:txEl>
                                          </p:spTgt>
                                        </p:tgtEl>
                                      </p:cBhvr>
                                    </p:animEffect>
                                    <p:anim calcmode="lin" valueType="num">
                                      <p:cBhvr>
                                        <p:cTn id="3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nodeType="afterEffect">
                                  <p:stCondLst>
                                    <p:cond delay="0"/>
                                  </p:stCondLst>
                                  <p:childTnLst>
                                    <p:set>
                                      <p:cBhvr>
                                        <p:cTn id="42" dur="1" fill="hold">
                                          <p:stCondLst>
                                            <p:cond delay="0"/>
                                          </p:stCondLst>
                                        </p:cTn>
                                        <p:tgtEl>
                                          <p:spTgt spid="6">
                                            <p:txEl>
                                              <p:pRg st="2" end="2"/>
                                            </p:txEl>
                                          </p:spTgt>
                                        </p:tgtEl>
                                        <p:attrNameLst>
                                          <p:attrName>style.visibility</p:attrName>
                                        </p:attrNameLst>
                                      </p:cBhvr>
                                      <p:to>
                                        <p:strVal val="visible"/>
                                      </p:to>
                                    </p:set>
                                    <p:animEffect transition="in" filter="fade">
                                      <p:cBhvr>
                                        <p:cTn id="43" dur="1000"/>
                                        <p:tgtEl>
                                          <p:spTgt spid="6">
                                            <p:txEl>
                                              <p:pRg st="2" end="2"/>
                                            </p:txEl>
                                          </p:spTgt>
                                        </p:tgtEl>
                                      </p:cBhvr>
                                    </p:animEffect>
                                    <p:anim calcmode="lin" valueType="num">
                                      <p:cBhvr>
                                        <p:cTn id="44"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45"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nodeType="after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Effect transition="in" filter="fade">
                                      <p:cBhvr>
                                        <p:cTn id="49" dur="1000"/>
                                        <p:tgtEl>
                                          <p:spTgt spid="6">
                                            <p:txEl>
                                              <p:pRg st="3" end="3"/>
                                            </p:txEl>
                                          </p:spTgt>
                                        </p:tgtEl>
                                      </p:cBhvr>
                                    </p:animEffect>
                                    <p:anim calcmode="lin" valueType="num">
                                      <p:cBhvr>
                                        <p:cTn id="50"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nodeType="afterEffect">
                                  <p:stCondLst>
                                    <p:cond delay="0"/>
                                  </p:stCondLst>
                                  <p:childTnLst>
                                    <p:set>
                                      <p:cBhvr>
                                        <p:cTn id="54" dur="1" fill="hold">
                                          <p:stCondLst>
                                            <p:cond delay="0"/>
                                          </p:stCondLst>
                                        </p:cTn>
                                        <p:tgtEl>
                                          <p:spTgt spid="6">
                                            <p:txEl>
                                              <p:pRg st="4" end="4"/>
                                            </p:txEl>
                                          </p:spTgt>
                                        </p:tgtEl>
                                        <p:attrNameLst>
                                          <p:attrName>style.visibility</p:attrName>
                                        </p:attrNameLst>
                                      </p:cBhvr>
                                      <p:to>
                                        <p:strVal val="visible"/>
                                      </p:to>
                                    </p:set>
                                    <p:animEffect transition="in" filter="fade">
                                      <p:cBhvr>
                                        <p:cTn id="55" dur="1000"/>
                                        <p:tgtEl>
                                          <p:spTgt spid="6">
                                            <p:txEl>
                                              <p:pRg st="4" end="4"/>
                                            </p:txEl>
                                          </p:spTgt>
                                        </p:tgtEl>
                                      </p:cBhvr>
                                    </p:animEffect>
                                    <p:anim calcmode="lin" valueType="num">
                                      <p:cBhvr>
                                        <p:cTn id="5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5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nodeType="afterEffect">
                                  <p:stCondLst>
                                    <p:cond delay="0"/>
                                  </p:stCondLst>
                                  <p:childTnLst>
                                    <p:set>
                                      <p:cBhvr>
                                        <p:cTn id="60" dur="1" fill="hold">
                                          <p:stCondLst>
                                            <p:cond delay="0"/>
                                          </p:stCondLst>
                                        </p:cTn>
                                        <p:tgtEl>
                                          <p:spTgt spid="6">
                                            <p:txEl>
                                              <p:pRg st="5" end="5"/>
                                            </p:txEl>
                                          </p:spTgt>
                                        </p:tgtEl>
                                        <p:attrNameLst>
                                          <p:attrName>style.visibility</p:attrName>
                                        </p:attrNameLst>
                                      </p:cBhvr>
                                      <p:to>
                                        <p:strVal val="visible"/>
                                      </p:to>
                                    </p:set>
                                    <p:animEffect transition="in" filter="fade">
                                      <p:cBhvr>
                                        <p:cTn id="61" dur="1000"/>
                                        <p:tgtEl>
                                          <p:spTgt spid="6">
                                            <p:txEl>
                                              <p:pRg st="5" end="5"/>
                                            </p:txEl>
                                          </p:spTgt>
                                        </p:tgtEl>
                                      </p:cBhvr>
                                    </p:animEffect>
                                    <p:anim calcmode="lin" valueType="num">
                                      <p:cBhvr>
                                        <p:cTn id="62"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63"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90D15-A45D-B708-166A-82C540F4D882}"/>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CD09B02-D9F1-21C3-D7E7-80AD9AC2B1F0}"/>
              </a:ext>
            </a:extLst>
          </p:cNvPr>
          <p:cNvSpPr txBox="1"/>
          <p:nvPr/>
        </p:nvSpPr>
        <p:spPr>
          <a:xfrm>
            <a:off x="833328" y="1988260"/>
            <a:ext cx="4270862"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a:ln>
                  <a:noFill/>
                </a:ln>
                <a:solidFill>
                  <a:prstClr val="black"/>
                </a:solidFill>
                <a:effectLst/>
                <a:uLnTx/>
                <a:uFillTx/>
                <a:latin typeface="Calibri" panose="020F0502020204030204"/>
                <a:ea typeface="+mn-ea"/>
                <a:cs typeface="+mn-cs"/>
              </a:rPr>
              <a:t>Sales/ Rentals/ Reservations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Process Reservations &amp; Rentals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Manage Move-ins / outs *</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Outbound Lead Follow-up</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Reconcile Rentals &amp; Prospects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Assistance with Self-Service Rental Issues</a:t>
            </a:r>
          </a:p>
        </p:txBody>
      </p:sp>
      <p:sp>
        <p:nvSpPr>
          <p:cNvPr id="12" name="TextBox 11">
            <a:extLst>
              <a:ext uri="{FF2B5EF4-FFF2-40B4-BE49-F238E27FC236}">
                <a16:creationId xmlns:a16="http://schemas.microsoft.com/office/drawing/2014/main" id="{E9F5115E-7B2A-AD8B-8F07-49B25AE00774}"/>
              </a:ext>
            </a:extLst>
          </p:cNvPr>
          <p:cNvSpPr txBox="1"/>
          <p:nvPr/>
        </p:nvSpPr>
        <p:spPr>
          <a:xfrm>
            <a:off x="6095998" y="1988260"/>
            <a:ext cx="4770882"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a:ln>
                  <a:noFill/>
                </a:ln>
                <a:solidFill>
                  <a:prstClr val="black"/>
                </a:solidFill>
                <a:effectLst/>
                <a:uLnTx/>
                <a:uFillTx/>
                <a:latin typeface="Calibri" panose="020F0502020204030204"/>
                <a:ea typeface="+mn-ea"/>
                <a:cs typeface="+mn-cs"/>
              </a:rPr>
              <a:t>Payments &amp; Collections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Collection Calls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Negotiate Tenant Settlements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Waive Fees &amp; Process Refunds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Manage Lien Sales *</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Manage IVR Payments Received; email Receipts</a:t>
            </a:r>
          </a:p>
        </p:txBody>
      </p:sp>
      <p:sp>
        <p:nvSpPr>
          <p:cNvPr id="14" name="TextBox 13">
            <a:extLst>
              <a:ext uri="{FF2B5EF4-FFF2-40B4-BE49-F238E27FC236}">
                <a16:creationId xmlns:a16="http://schemas.microsoft.com/office/drawing/2014/main" id="{81493749-DB52-CAFC-2909-63C646C318B3}"/>
              </a:ext>
            </a:extLst>
          </p:cNvPr>
          <p:cNvSpPr txBox="1"/>
          <p:nvPr/>
        </p:nvSpPr>
        <p:spPr>
          <a:xfrm>
            <a:off x="833328" y="4068416"/>
            <a:ext cx="3737610" cy="175432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a:ln>
                  <a:noFill/>
                </a:ln>
                <a:solidFill>
                  <a:prstClr val="black"/>
                </a:solidFill>
                <a:effectLst/>
                <a:uLnTx/>
                <a:uFillTx/>
                <a:latin typeface="Calibri" panose="020F0502020204030204"/>
                <a:ea typeface="+mn-ea"/>
                <a:cs typeface="+mn-cs"/>
              </a:rPr>
              <a:t>Account Billing &amp; Support</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Update Tenant Info</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Manage Tenants in Autopay</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Address Tenant Account Issues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Email Tenant Documents</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General Tenant Correspondence</a:t>
            </a:r>
          </a:p>
        </p:txBody>
      </p:sp>
      <p:sp>
        <p:nvSpPr>
          <p:cNvPr id="16" name="TextBox 15">
            <a:extLst>
              <a:ext uri="{FF2B5EF4-FFF2-40B4-BE49-F238E27FC236}">
                <a16:creationId xmlns:a16="http://schemas.microsoft.com/office/drawing/2014/main" id="{305E545B-6E81-5C61-6E04-70AAF6A93BC5}"/>
              </a:ext>
            </a:extLst>
          </p:cNvPr>
          <p:cNvSpPr txBox="1"/>
          <p:nvPr/>
        </p:nvSpPr>
        <p:spPr>
          <a:xfrm>
            <a:off x="6095998" y="4068416"/>
            <a:ext cx="553517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sng" strike="noStrike" kern="1200" cap="none" spc="0" normalizeH="0" baseline="0" noProof="0">
                <a:ln>
                  <a:noFill/>
                </a:ln>
                <a:solidFill>
                  <a:prstClr val="black"/>
                </a:solidFill>
                <a:effectLst/>
                <a:uLnTx/>
                <a:uFillTx/>
                <a:latin typeface="Calibri" panose="020F0502020204030204"/>
                <a:ea typeface="+mn-ea"/>
                <a:cs typeface="+mn-cs"/>
              </a:rPr>
              <a:t>Site Maintenance &amp; Management</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Schedule Unit Overlocks / Unlocks / Self Service Locks *</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Coordinate Site Repairs *</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Manage Vendor Appointments *</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Assist Tenants Navigating Your Property</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Coordinate Property Maintenance &amp; Upkeep *</a:t>
            </a:r>
          </a:p>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CGPP Claims management *</a:t>
            </a:r>
          </a:p>
        </p:txBody>
      </p:sp>
      <p:sp>
        <p:nvSpPr>
          <p:cNvPr id="18" name="TextBox 17">
            <a:extLst>
              <a:ext uri="{FF2B5EF4-FFF2-40B4-BE49-F238E27FC236}">
                <a16:creationId xmlns:a16="http://schemas.microsoft.com/office/drawing/2014/main" id="{0AC25E07-E052-5D21-B66E-C922BA744AAB}"/>
              </a:ext>
            </a:extLst>
          </p:cNvPr>
          <p:cNvSpPr txBox="1"/>
          <p:nvPr/>
        </p:nvSpPr>
        <p:spPr>
          <a:xfrm>
            <a:off x="0" y="946522"/>
            <a:ext cx="1219199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a:ln>
                  <a:noFill/>
                </a:ln>
                <a:solidFill>
                  <a:srgbClr val="2093C7"/>
                </a:solidFill>
                <a:effectLst/>
                <a:uLnTx/>
                <a:uFillTx/>
                <a:latin typeface="Calibri" panose="020F0502020204030204"/>
                <a:ea typeface="+mn-ea"/>
                <a:cs typeface="+mn-cs"/>
              </a:rPr>
              <a:t>HUB MANAGER DUTIES:</a:t>
            </a:r>
          </a:p>
        </p:txBody>
      </p:sp>
      <p:sp>
        <p:nvSpPr>
          <p:cNvPr id="2" name="TextBox 1">
            <a:extLst>
              <a:ext uri="{FF2B5EF4-FFF2-40B4-BE49-F238E27FC236}">
                <a16:creationId xmlns:a16="http://schemas.microsoft.com/office/drawing/2014/main" id="{19078273-66CF-3F2A-019D-8A35CD0438AE}"/>
              </a:ext>
            </a:extLst>
          </p:cNvPr>
          <p:cNvSpPr txBox="1"/>
          <p:nvPr/>
        </p:nvSpPr>
        <p:spPr>
          <a:xfrm>
            <a:off x="833328" y="6352419"/>
            <a:ext cx="7014164"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prstClr val="black"/>
                </a:solidFill>
                <a:effectLst/>
                <a:uLnTx/>
                <a:uFillTx/>
                <a:latin typeface="Calibri" panose="020F0502020204030204"/>
                <a:ea typeface="+mn-ea"/>
                <a:cs typeface="+mn-cs"/>
              </a:rPr>
              <a:t>* Does not include any tasks physically onsite such as cleaning units or picking up the property</a:t>
            </a:r>
          </a:p>
        </p:txBody>
      </p:sp>
      <p:pic>
        <p:nvPicPr>
          <p:cNvPr id="4" name="Picture 3" descr="A logo with a black background&#10;&#10;AI-generated content may be incorrect.">
            <a:extLst>
              <a:ext uri="{FF2B5EF4-FFF2-40B4-BE49-F238E27FC236}">
                <a16:creationId xmlns:a16="http://schemas.microsoft.com/office/drawing/2014/main" id="{C8FB6505-3D22-F0EE-8D08-208EA676AC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63198" y="39384"/>
            <a:ext cx="1828801" cy="777240"/>
          </a:xfrm>
          <a:prstGeom prst="rect">
            <a:avLst/>
          </a:prstGeom>
        </p:spPr>
      </p:pic>
    </p:spTree>
    <p:extLst>
      <p:ext uri="{BB962C8B-B14F-4D97-AF65-F5344CB8AC3E}">
        <p14:creationId xmlns:p14="http://schemas.microsoft.com/office/powerpoint/2010/main" val="3574341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1000"/>
                                        <p:tgtEl>
                                          <p:spTgt spid="16"/>
                                        </p:tgtEl>
                                      </p:cBhvr>
                                    </p:animEffect>
                                    <p:anim calcmode="lin" valueType="num">
                                      <p:cBhvr>
                                        <p:cTn id="26" dur="1000" fill="hold"/>
                                        <p:tgtEl>
                                          <p:spTgt spid="16"/>
                                        </p:tgtEl>
                                        <p:attrNameLst>
                                          <p:attrName>ppt_x</p:attrName>
                                        </p:attrNameLst>
                                      </p:cBhvr>
                                      <p:tavLst>
                                        <p:tav tm="0">
                                          <p:val>
                                            <p:strVal val="#ppt_x"/>
                                          </p:val>
                                        </p:tav>
                                        <p:tav tm="100000">
                                          <p:val>
                                            <p:strVal val="#ppt_x"/>
                                          </p:val>
                                        </p:tav>
                                      </p:tavLst>
                                    </p:anim>
                                    <p:anim calcmode="lin" valueType="num">
                                      <p:cBhvr>
                                        <p:cTn id="2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P spid="14"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outdoor, sky, deck&#10;&#10;Description automatically generated">
            <a:extLst>
              <a:ext uri="{FF2B5EF4-FFF2-40B4-BE49-F238E27FC236}">
                <a16:creationId xmlns:a16="http://schemas.microsoft.com/office/drawing/2014/main" id="{75AAF6E8-801C-32FF-858B-719C6C75383B}"/>
              </a:ext>
            </a:extLst>
          </p:cNvPr>
          <p:cNvPicPr>
            <a:picLocks noChangeAspect="1"/>
          </p:cNvPicPr>
          <p:nvPr/>
        </p:nvPicPr>
        <p:blipFill rotWithShape="1">
          <a:blip r:embed="rId2">
            <a:extLst>
              <a:ext uri="{28A0092B-C50C-407E-A947-70E740481C1C}">
                <a14:useLocalDpi xmlns:a14="http://schemas.microsoft.com/office/drawing/2010/main" val="0"/>
              </a:ext>
            </a:extLst>
          </a:blip>
          <a:srcRect t="43411" b="3382"/>
          <a:stretch/>
        </p:blipFill>
        <p:spPr>
          <a:xfrm>
            <a:off x="1" y="-11650"/>
            <a:ext cx="12192000" cy="3569973"/>
          </a:xfrm>
          <a:prstGeom prst="rect">
            <a:avLst/>
          </a:prstGeom>
        </p:spPr>
      </p:pic>
      <p:graphicFrame>
        <p:nvGraphicFramePr>
          <p:cNvPr id="6" name="Table 6">
            <a:extLst>
              <a:ext uri="{FF2B5EF4-FFF2-40B4-BE49-F238E27FC236}">
                <a16:creationId xmlns:a16="http://schemas.microsoft.com/office/drawing/2014/main" id="{4A2B53CE-436F-1AA5-322C-036D8A6906DB}"/>
              </a:ext>
            </a:extLst>
          </p:cNvPr>
          <p:cNvGraphicFramePr>
            <a:graphicFrameLocks noGrp="1"/>
          </p:cNvGraphicFramePr>
          <p:nvPr/>
        </p:nvGraphicFramePr>
        <p:xfrm>
          <a:off x="-1" y="3200400"/>
          <a:ext cx="12192001" cy="3840480"/>
        </p:xfrm>
        <a:graphic>
          <a:graphicData uri="http://schemas.openxmlformats.org/drawingml/2006/table">
            <a:tbl>
              <a:tblPr firstRow="1" bandRow="1">
                <a:effectLst>
                  <a:innerShdw blurRad="63500" dist="50800" dir="16200000">
                    <a:prstClr val="black">
                      <a:alpha val="50000"/>
                    </a:prstClr>
                  </a:innerShdw>
                </a:effectLst>
                <a:tableStyleId>{0505E3EF-67EA-436B-97B2-0124C06EBD24}</a:tableStyleId>
              </a:tblPr>
              <a:tblGrid>
                <a:gridCol w="4378477">
                  <a:extLst>
                    <a:ext uri="{9D8B030D-6E8A-4147-A177-3AD203B41FA5}">
                      <a16:colId xmlns:a16="http://schemas.microsoft.com/office/drawing/2014/main" val="2879984146"/>
                    </a:ext>
                  </a:extLst>
                </a:gridCol>
                <a:gridCol w="232229">
                  <a:extLst>
                    <a:ext uri="{9D8B030D-6E8A-4147-A177-3AD203B41FA5}">
                      <a16:colId xmlns:a16="http://schemas.microsoft.com/office/drawing/2014/main" val="1333760224"/>
                    </a:ext>
                  </a:extLst>
                </a:gridCol>
                <a:gridCol w="7581295">
                  <a:extLst>
                    <a:ext uri="{9D8B030D-6E8A-4147-A177-3AD203B41FA5}">
                      <a16:colId xmlns:a16="http://schemas.microsoft.com/office/drawing/2014/main" val="3685836858"/>
                    </a:ext>
                  </a:extLst>
                </a:gridCol>
              </a:tblGrid>
              <a:tr h="457200">
                <a:tc gridSpan="3">
                  <a:txBody>
                    <a:bodyPr/>
                    <a:lstStyle/>
                    <a:p>
                      <a:r>
                        <a:rPr lang="en-US">
                          <a:solidFill>
                            <a:srgbClr val="166992"/>
                          </a:solidFill>
                        </a:rPr>
                        <a:t>Roles of the FSA                                                                                    </a:t>
                      </a:r>
                      <a:r>
                        <a:rPr lang="en-US" b="0">
                          <a:solidFill>
                            <a:srgbClr val="166992"/>
                          </a:solidFill>
                          <a:latin typeface="Segoe Print" panose="02000600000000000000" pitchFamily="2" charset="0"/>
                        </a:rPr>
                        <a:t>Comments</a:t>
                      </a:r>
                    </a:p>
                  </a:txBody>
                  <a:tcPr>
                    <a:solidFill>
                      <a:srgbClr val="FFFFFF">
                        <a:alpha val="94000"/>
                      </a:srgbClr>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97615713"/>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ea typeface="Calibri" panose="020F0502020204030204" pitchFamily="34" charset="0"/>
                          <a:cs typeface="Calibri" panose="020F0502020204030204" pitchFamily="34" charset="0"/>
                        </a:rPr>
                        <a:t>Overlocks and Unlocks</a:t>
                      </a:r>
                    </a:p>
                  </a:txBody>
                  <a:tcPr>
                    <a:solidFill>
                      <a:srgbClr val="FFFFFF">
                        <a:alpha val="94000"/>
                      </a:srgbClr>
                    </a:solidFill>
                  </a:tcPr>
                </a:tc>
                <a:tc>
                  <a:txBody>
                    <a:bodyPr/>
                    <a:lstStyle/>
                    <a:p>
                      <a:endParaRPr lang="en-US"/>
                    </a:p>
                  </a:txBody>
                  <a:tcPr>
                    <a:solidFill>
                      <a:srgbClr val="FFFFFF">
                        <a:alpha val="94000"/>
                      </a:srgbClr>
                    </a:solidFill>
                  </a:tcPr>
                </a:tc>
                <a:tc>
                  <a:txBody>
                    <a:bodyPr/>
                    <a:lstStyle/>
                    <a:p>
                      <a:endParaRPr lang="en-US"/>
                    </a:p>
                  </a:txBody>
                  <a:tcPr>
                    <a:solidFill>
                      <a:srgbClr val="FFFFFF">
                        <a:alpha val="94000"/>
                      </a:srgbClr>
                    </a:solidFill>
                  </a:tcPr>
                </a:tc>
                <a:extLst>
                  <a:ext uri="{0D108BD9-81ED-4DB2-BD59-A6C34878D82A}">
                    <a16:rowId xmlns:a16="http://schemas.microsoft.com/office/drawing/2014/main" val="2179266904"/>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ea typeface="Calibri" panose="020F0502020204030204" pitchFamily="34" charset="0"/>
                          <a:cs typeface="Calibri" panose="020F0502020204030204" pitchFamily="34" charset="0"/>
                        </a:rPr>
                        <a:t>Managing DaVinci lock returns and inventory</a:t>
                      </a:r>
                    </a:p>
                  </a:txBody>
                  <a:tcPr>
                    <a:solidFill>
                      <a:srgbClr val="FFFFFF">
                        <a:alpha val="94000"/>
                      </a:srgbClr>
                    </a:solidFill>
                  </a:tcPr>
                </a:tc>
                <a:tc>
                  <a:txBody>
                    <a:bodyPr/>
                    <a:lstStyle/>
                    <a:p>
                      <a:endParaRPr lang="en-US"/>
                    </a:p>
                  </a:txBody>
                  <a:tcPr>
                    <a:solidFill>
                      <a:srgbClr val="FFFFFF">
                        <a:alpha val="94000"/>
                      </a:srgbClr>
                    </a:solidFill>
                  </a:tcPr>
                </a:tc>
                <a:tc>
                  <a:txBody>
                    <a:bodyPr/>
                    <a:lstStyle/>
                    <a:p>
                      <a:endParaRPr lang="en-US"/>
                    </a:p>
                  </a:txBody>
                  <a:tcPr>
                    <a:solidFill>
                      <a:srgbClr val="FFFFFF">
                        <a:alpha val="94000"/>
                      </a:srgbClr>
                    </a:solidFill>
                  </a:tcPr>
                </a:tc>
                <a:extLst>
                  <a:ext uri="{0D108BD9-81ED-4DB2-BD59-A6C34878D82A}">
                    <a16:rowId xmlns:a16="http://schemas.microsoft.com/office/drawing/2014/main" val="3920052721"/>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ea typeface="Calibri" panose="020F0502020204030204" pitchFamily="34" charset="0"/>
                          <a:cs typeface="Calibri" panose="020F0502020204030204" pitchFamily="34" charset="0"/>
                        </a:rPr>
                        <a:t>Cleaning Property &amp; Light Maintenance</a:t>
                      </a:r>
                    </a:p>
                  </a:txBody>
                  <a:tcPr>
                    <a:solidFill>
                      <a:srgbClr val="FFFFFF">
                        <a:alpha val="94000"/>
                      </a:srgbClr>
                    </a:solidFill>
                  </a:tcPr>
                </a:tc>
                <a:tc>
                  <a:txBody>
                    <a:bodyPr/>
                    <a:lstStyle/>
                    <a:p>
                      <a:endParaRPr lang="en-US"/>
                    </a:p>
                  </a:txBody>
                  <a:tcPr>
                    <a:solidFill>
                      <a:srgbClr val="FFFFFF">
                        <a:alpha val="94000"/>
                      </a:srgbClr>
                    </a:solidFill>
                  </a:tcPr>
                </a:tc>
                <a:tc>
                  <a:txBody>
                    <a:bodyPr/>
                    <a:lstStyle/>
                    <a:p>
                      <a:endParaRPr lang="en-US"/>
                    </a:p>
                  </a:txBody>
                  <a:tcPr>
                    <a:solidFill>
                      <a:srgbClr val="FFFFFF">
                        <a:alpha val="94000"/>
                      </a:srgbClr>
                    </a:solidFill>
                  </a:tcPr>
                </a:tc>
                <a:extLst>
                  <a:ext uri="{0D108BD9-81ED-4DB2-BD59-A6C34878D82A}">
                    <a16:rowId xmlns:a16="http://schemas.microsoft.com/office/drawing/2014/main" val="2581596298"/>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ea typeface="Calibri" panose="020F0502020204030204" pitchFamily="34" charset="0"/>
                          <a:cs typeface="Calibri" panose="020F0502020204030204" pitchFamily="34" charset="0"/>
                        </a:rPr>
                        <a:t>Auction Unit Photos &amp; Inventory</a:t>
                      </a:r>
                    </a:p>
                  </a:txBody>
                  <a:tcPr>
                    <a:solidFill>
                      <a:srgbClr val="FFFFFF">
                        <a:alpha val="94000"/>
                      </a:srgbClr>
                    </a:solidFill>
                  </a:tcPr>
                </a:tc>
                <a:tc>
                  <a:txBody>
                    <a:bodyPr/>
                    <a:lstStyle/>
                    <a:p>
                      <a:endParaRPr lang="en-US"/>
                    </a:p>
                  </a:txBody>
                  <a:tcPr>
                    <a:solidFill>
                      <a:srgbClr val="FFFFFF">
                        <a:alpha val="94000"/>
                      </a:srgbClr>
                    </a:solidFill>
                  </a:tcPr>
                </a:tc>
                <a:tc>
                  <a:txBody>
                    <a:bodyPr/>
                    <a:lstStyle/>
                    <a:p>
                      <a:endParaRPr lang="en-US"/>
                    </a:p>
                  </a:txBody>
                  <a:tcPr>
                    <a:solidFill>
                      <a:srgbClr val="FFFFFF">
                        <a:alpha val="94000"/>
                      </a:srgbClr>
                    </a:solidFill>
                  </a:tcPr>
                </a:tc>
                <a:extLst>
                  <a:ext uri="{0D108BD9-81ED-4DB2-BD59-A6C34878D82A}">
                    <a16:rowId xmlns:a16="http://schemas.microsoft.com/office/drawing/2014/main" val="108464578"/>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ea typeface="Calibri" panose="020F0502020204030204" pitchFamily="34" charset="0"/>
                          <a:cs typeface="Calibri" panose="020F0502020204030204" pitchFamily="34" charset="0"/>
                        </a:rPr>
                        <a:t>Cleaning Vacant Units &amp; Prepping for Self Service rentals</a:t>
                      </a:r>
                    </a:p>
                  </a:txBody>
                  <a:tcPr>
                    <a:solidFill>
                      <a:srgbClr val="FFFFFF">
                        <a:alpha val="94000"/>
                      </a:srgbClr>
                    </a:solidFill>
                  </a:tcPr>
                </a:tc>
                <a:tc>
                  <a:txBody>
                    <a:bodyPr/>
                    <a:lstStyle/>
                    <a:p>
                      <a:endParaRPr lang="en-US"/>
                    </a:p>
                  </a:txBody>
                  <a:tcPr>
                    <a:solidFill>
                      <a:srgbClr val="FFFFFF">
                        <a:alpha val="94000"/>
                      </a:srgbClr>
                    </a:solidFill>
                  </a:tcPr>
                </a:tc>
                <a:tc>
                  <a:txBody>
                    <a:bodyPr/>
                    <a:lstStyle/>
                    <a:p>
                      <a:r>
                        <a:rPr lang="en-US" sz="1600">
                          <a:solidFill>
                            <a:srgbClr val="166992"/>
                          </a:solidFill>
                          <a:latin typeface="Segoe Print" panose="02000600000000000000" pitchFamily="2" charset="0"/>
                        </a:rPr>
                        <a:t>Placing lock, welcome cards inside unit + adding DaVinci locks on hasp</a:t>
                      </a:r>
                    </a:p>
                  </a:txBody>
                  <a:tcPr>
                    <a:solidFill>
                      <a:srgbClr val="FFFFFF">
                        <a:alpha val="94000"/>
                      </a:srgbClr>
                    </a:solidFill>
                  </a:tcPr>
                </a:tc>
                <a:extLst>
                  <a:ext uri="{0D108BD9-81ED-4DB2-BD59-A6C34878D82A}">
                    <a16:rowId xmlns:a16="http://schemas.microsoft.com/office/drawing/2014/main" val="1416557732"/>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ea typeface="Calibri" panose="020F0502020204030204" pitchFamily="34" charset="0"/>
                          <a:cs typeface="Calibri" panose="020F0502020204030204" pitchFamily="34" charset="0"/>
                        </a:rPr>
                        <a:t>Vendor Meetups</a:t>
                      </a:r>
                    </a:p>
                  </a:txBody>
                  <a:tcPr>
                    <a:solidFill>
                      <a:srgbClr val="FFFFFF">
                        <a:alpha val="94000"/>
                      </a:srgbClr>
                    </a:solidFill>
                  </a:tcPr>
                </a:tc>
                <a:tc>
                  <a:txBody>
                    <a:bodyPr/>
                    <a:lstStyle/>
                    <a:p>
                      <a:endParaRPr lang="en-US"/>
                    </a:p>
                  </a:txBody>
                  <a:tcPr>
                    <a:solidFill>
                      <a:srgbClr val="FFFFFF">
                        <a:alpha val="94000"/>
                      </a:srgbClr>
                    </a:solidFill>
                  </a:tcPr>
                </a:tc>
                <a:tc>
                  <a:txBody>
                    <a:bodyPr/>
                    <a:lstStyle/>
                    <a:p>
                      <a:r>
                        <a:rPr lang="en-US" sz="1600">
                          <a:solidFill>
                            <a:srgbClr val="166992"/>
                          </a:solidFill>
                          <a:latin typeface="Segoe Print" panose="02000600000000000000" pitchFamily="2" charset="0"/>
                        </a:rPr>
                        <a:t>Example: Assisting with a Door Contractor or Gate Vendor</a:t>
                      </a:r>
                    </a:p>
                  </a:txBody>
                  <a:tcPr>
                    <a:solidFill>
                      <a:srgbClr val="FFFFFF">
                        <a:alpha val="94000"/>
                      </a:srgbClr>
                    </a:solidFill>
                  </a:tcPr>
                </a:tc>
                <a:extLst>
                  <a:ext uri="{0D108BD9-81ED-4DB2-BD59-A6C34878D82A}">
                    <a16:rowId xmlns:a16="http://schemas.microsoft.com/office/drawing/2014/main" val="941981062"/>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atin typeface="Calibri" panose="020F0502020204030204" pitchFamily="34" charset="0"/>
                          <a:ea typeface="Calibri" panose="020F0502020204030204" pitchFamily="34" charset="0"/>
                          <a:cs typeface="Calibri" panose="020F0502020204030204" pitchFamily="34" charset="0"/>
                        </a:rPr>
                        <a:t>Space Audits and Security Patrols</a:t>
                      </a:r>
                    </a:p>
                  </a:txBody>
                  <a:tcPr>
                    <a:solidFill>
                      <a:srgbClr val="FFFFFF">
                        <a:alpha val="94000"/>
                      </a:srgbClr>
                    </a:solidFill>
                  </a:tcPr>
                </a:tc>
                <a:tc>
                  <a:txBody>
                    <a:bodyPr/>
                    <a:lstStyle/>
                    <a:p>
                      <a:endParaRPr lang="en-US"/>
                    </a:p>
                  </a:txBody>
                  <a:tcPr>
                    <a:solidFill>
                      <a:srgbClr val="FFFFFF">
                        <a:alpha val="94000"/>
                      </a:srgbClr>
                    </a:solidFill>
                  </a:tcPr>
                </a:tc>
                <a:tc>
                  <a:txBody>
                    <a:bodyPr/>
                    <a:lstStyle/>
                    <a:p>
                      <a:endParaRPr lang="en-US"/>
                    </a:p>
                  </a:txBody>
                  <a:tcPr>
                    <a:solidFill>
                      <a:srgbClr val="FFFFFF">
                        <a:alpha val="94000"/>
                      </a:srgbClr>
                    </a:solidFill>
                  </a:tcPr>
                </a:tc>
                <a:extLst>
                  <a:ext uri="{0D108BD9-81ED-4DB2-BD59-A6C34878D82A}">
                    <a16:rowId xmlns:a16="http://schemas.microsoft.com/office/drawing/2014/main" val="21284678"/>
                  </a:ext>
                </a:extLst>
              </a:tr>
            </a:tbl>
          </a:graphicData>
        </a:graphic>
      </p:graphicFrame>
      <p:pic>
        <p:nvPicPr>
          <p:cNvPr id="2" name="Picture 1" descr="Logo&#10;&#10;Description automatically generated">
            <a:extLst>
              <a:ext uri="{FF2B5EF4-FFF2-40B4-BE49-F238E27FC236}">
                <a16:creationId xmlns:a16="http://schemas.microsoft.com/office/drawing/2014/main" id="{B69489E8-135D-DFBF-330D-C2F7D271083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spTree>
    <p:extLst>
      <p:ext uri="{BB962C8B-B14F-4D97-AF65-F5344CB8AC3E}">
        <p14:creationId xmlns:p14="http://schemas.microsoft.com/office/powerpoint/2010/main" val="2566188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A89649-BD07-75EE-A7FC-3FB9C84DE55D}"/>
              </a:ext>
            </a:extLst>
          </p:cNvPr>
          <p:cNvSpPr txBox="1"/>
          <p:nvPr/>
        </p:nvSpPr>
        <p:spPr>
          <a:xfrm>
            <a:off x="2353235" y="2442882"/>
            <a:ext cx="660026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latin typeface="Times New Roman"/>
                <a:cs typeface="Times New Roman"/>
              </a:rPr>
              <a:t>Physical kiosk setup video</a:t>
            </a:r>
            <a:endParaRPr lang="en-US">
              <a:solidFill>
                <a:schemeClr val="bg1"/>
              </a:solidFill>
              <a:cs typeface="Times New Roman"/>
            </a:endParaRPr>
          </a:p>
        </p:txBody>
      </p:sp>
    </p:spTree>
    <p:extLst>
      <p:ext uri="{BB962C8B-B14F-4D97-AF65-F5344CB8AC3E}">
        <p14:creationId xmlns:p14="http://schemas.microsoft.com/office/powerpoint/2010/main" val="3424828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4B534-2189-4AAF-A6B6-905023EEB29E}"/>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E7679653-BD5F-6C9C-DF0A-5D59D53314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94453"/>
            <a:ext cx="12192000" cy="28241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A6995D12-BED3-59E8-05FC-7E059093B1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659308"/>
            <a:ext cx="12039600" cy="321945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A logo with a black background&#10;&#10;AI-generated content may be incorrect.">
            <a:extLst>
              <a:ext uri="{FF2B5EF4-FFF2-40B4-BE49-F238E27FC236}">
                <a16:creationId xmlns:a16="http://schemas.microsoft.com/office/drawing/2014/main" id="{45153824-CBAB-DEC9-F3F0-90B7BB5132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363198" y="39384"/>
            <a:ext cx="1828801" cy="777240"/>
          </a:xfrm>
          <a:prstGeom prst="rect">
            <a:avLst/>
          </a:prstGeom>
        </p:spPr>
      </p:pic>
    </p:spTree>
    <p:extLst>
      <p:ext uri="{BB962C8B-B14F-4D97-AF65-F5344CB8AC3E}">
        <p14:creationId xmlns:p14="http://schemas.microsoft.com/office/powerpoint/2010/main" val="1198103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EF022C6-F160-2A3F-A5F1-1BD9CFDDF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33513"/>
            <a:ext cx="12192000" cy="399097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Rounded Corners 6">
            <a:extLst>
              <a:ext uri="{FF2B5EF4-FFF2-40B4-BE49-F238E27FC236}">
                <a16:creationId xmlns:a16="http://schemas.microsoft.com/office/drawing/2014/main" id="{6865AE38-696E-A256-727C-00EAAD3B0CD3}"/>
              </a:ext>
            </a:extLst>
          </p:cNvPr>
          <p:cNvSpPr/>
          <p:nvPr/>
        </p:nvSpPr>
        <p:spPr bwMode="auto">
          <a:xfrm>
            <a:off x="2555930" y="2697239"/>
            <a:ext cx="1072642" cy="1865816"/>
          </a:xfrm>
          <a:prstGeom prst="roundRect">
            <a:avLst/>
          </a:prstGeom>
          <a:no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
        <p:nvSpPr>
          <p:cNvPr id="9" name="Rectangle: Rounded Corners 8">
            <a:extLst>
              <a:ext uri="{FF2B5EF4-FFF2-40B4-BE49-F238E27FC236}">
                <a16:creationId xmlns:a16="http://schemas.microsoft.com/office/drawing/2014/main" id="{74CFBC9A-8B0A-7DAC-B760-D4C94C9CE929}"/>
              </a:ext>
            </a:extLst>
          </p:cNvPr>
          <p:cNvSpPr/>
          <p:nvPr/>
        </p:nvSpPr>
        <p:spPr bwMode="auto">
          <a:xfrm>
            <a:off x="11030858" y="2697238"/>
            <a:ext cx="1117647" cy="1865816"/>
          </a:xfrm>
          <a:prstGeom prst="roundRect">
            <a:avLst/>
          </a:prstGeom>
          <a:no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pic>
        <p:nvPicPr>
          <p:cNvPr id="2" name="Picture 1" descr="Logo&#10;&#10;Description automatically generated">
            <a:extLst>
              <a:ext uri="{FF2B5EF4-FFF2-40B4-BE49-F238E27FC236}">
                <a16:creationId xmlns:a16="http://schemas.microsoft.com/office/drawing/2014/main" id="{8071FEE0-0CD6-C01D-5714-FB6D239FFA7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sp>
        <p:nvSpPr>
          <p:cNvPr id="3" name="TextBox 2">
            <a:extLst>
              <a:ext uri="{FF2B5EF4-FFF2-40B4-BE49-F238E27FC236}">
                <a16:creationId xmlns:a16="http://schemas.microsoft.com/office/drawing/2014/main" id="{ED23359F-A507-38A8-3CF8-2B60C8BAEE8D}"/>
              </a:ext>
            </a:extLst>
          </p:cNvPr>
          <p:cNvSpPr txBox="1"/>
          <p:nvPr/>
        </p:nvSpPr>
        <p:spPr>
          <a:xfrm>
            <a:off x="9230264" y="188132"/>
            <a:ext cx="2863501" cy="369332"/>
          </a:xfrm>
          <a:prstGeom prst="rect">
            <a:avLst/>
          </a:prstGeom>
          <a:noFill/>
        </p:spPr>
        <p:txBody>
          <a:bodyPr wrap="square" rtlCol="0">
            <a:spAutoFit/>
          </a:bodyPr>
          <a:lstStyle/>
          <a:p>
            <a:pPr algn="r"/>
            <a:r>
              <a:rPr lang="en-US" sz="1800" i="1">
                <a:solidFill>
                  <a:srgbClr val="F3F3F3"/>
                </a:solidFill>
                <a:latin typeface="Calibri" panose="020F0502020204030204" pitchFamily="34" charset="0"/>
                <a:ea typeface="Calibri" panose="020F0502020204030204" pitchFamily="34" charset="0"/>
                <a:cs typeface="Calibri" panose="020F0502020204030204" pitchFamily="34" charset="0"/>
              </a:rPr>
              <a:t>HUB Management Audits</a:t>
            </a:r>
          </a:p>
        </p:txBody>
      </p:sp>
    </p:spTree>
    <p:extLst>
      <p:ext uri="{BB962C8B-B14F-4D97-AF65-F5344CB8AC3E}">
        <p14:creationId xmlns:p14="http://schemas.microsoft.com/office/powerpoint/2010/main" val="2769460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50" name="Picture 6">
            <a:extLst>
              <a:ext uri="{FF2B5EF4-FFF2-40B4-BE49-F238E27FC236}">
                <a16:creationId xmlns:a16="http://schemas.microsoft.com/office/drawing/2014/main" id="{73B09E9A-1C53-7F91-B474-6F118F5AC4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81162"/>
            <a:ext cx="12192000" cy="606583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Logo&#10;&#10;Description automatically generated">
            <a:extLst>
              <a:ext uri="{FF2B5EF4-FFF2-40B4-BE49-F238E27FC236}">
                <a16:creationId xmlns:a16="http://schemas.microsoft.com/office/drawing/2014/main" id="{B9CD39F6-0BAD-5BE6-7AF6-E3E77BB9013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sp>
        <p:nvSpPr>
          <p:cNvPr id="2" name="TextBox 1">
            <a:extLst>
              <a:ext uri="{FF2B5EF4-FFF2-40B4-BE49-F238E27FC236}">
                <a16:creationId xmlns:a16="http://schemas.microsoft.com/office/drawing/2014/main" id="{7190B1F2-232B-F3B7-7D8A-1D94B2193AEC}"/>
              </a:ext>
            </a:extLst>
          </p:cNvPr>
          <p:cNvSpPr txBox="1"/>
          <p:nvPr/>
        </p:nvSpPr>
        <p:spPr>
          <a:xfrm>
            <a:off x="9230264" y="188132"/>
            <a:ext cx="2863501" cy="369332"/>
          </a:xfrm>
          <a:prstGeom prst="rect">
            <a:avLst/>
          </a:prstGeom>
          <a:noFill/>
        </p:spPr>
        <p:txBody>
          <a:bodyPr wrap="square" rtlCol="0">
            <a:spAutoFit/>
          </a:bodyPr>
          <a:lstStyle/>
          <a:p>
            <a:pPr algn="r"/>
            <a:r>
              <a:rPr lang="en-US" sz="1800" i="1">
                <a:solidFill>
                  <a:srgbClr val="F3F3F3"/>
                </a:solidFill>
                <a:latin typeface="Calibri" panose="020F0502020204030204" pitchFamily="34" charset="0"/>
                <a:ea typeface="Calibri" panose="020F0502020204030204" pitchFamily="34" charset="0"/>
                <a:cs typeface="Calibri" panose="020F0502020204030204" pitchFamily="34" charset="0"/>
              </a:rPr>
              <a:t>HUB Management Audits</a:t>
            </a:r>
          </a:p>
        </p:txBody>
      </p:sp>
    </p:spTree>
    <p:extLst>
      <p:ext uri="{BB962C8B-B14F-4D97-AF65-F5344CB8AC3E}">
        <p14:creationId xmlns:p14="http://schemas.microsoft.com/office/powerpoint/2010/main" val="94992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A2E5522C-541D-099C-8488-3499ADFF1E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3591" y="4730851"/>
            <a:ext cx="8017459" cy="1463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26" name="Picture 2">
            <a:extLst>
              <a:ext uri="{FF2B5EF4-FFF2-40B4-BE49-F238E27FC236}">
                <a16:creationId xmlns:a16="http://schemas.microsoft.com/office/drawing/2014/main" id="{C97F77FC-575E-C80A-6101-EB703E062F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084" y="2089760"/>
            <a:ext cx="8282880" cy="1463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4" name="Picture 3" descr="Logo&#10;&#10;Description automatically generated">
            <a:extLst>
              <a:ext uri="{FF2B5EF4-FFF2-40B4-BE49-F238E27FC236}">
                <a16:creationId xmlns:a16="http://schemas.microsoft.com/office/drawing/2014/main" id="{51A1018D-73AB-DCC5-72CD-A556ECCD9C9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sp>
        <p:nvSpPr>
          <p:cNvPr id="6" name="TextBox 5">
            <a:extLst>
              <a:ext uri="{FF2B5EF4-FFF2-40B4-BE49-F238E27FC236}">
                <a16:creationId xmlns:a16="http://schemas.microsoft.com/office/drawing/2014/main" id="{38290BF1-D9A3-FB1F-7E09-6F9FD80A0BDA}"/>
              </a:ext>
            </a:extLst>
          </p:cNvPr>
          <p:cNvSpPr txBox="1"/>
          <p:nvPr/>
        </p:nvSpPr>
        <p:spPr>
          <a:xfrm>
            <a:off x="1000627" y="1551272"/>
            <a:ext cx="4858306" cy="461665"/>
          </a:xfrm>
          <a:prstGeom prst="rect">
            <a:avLst/>
          </a:prstGeom>
          <a:noFill/>
        </p:spPr>
        <p:txBody>
          <a:bodyPr wrap="square" rtlCol="0">
            <a:spAutoFit/>
          </a:bodyPr>
          <a:lstStyle/>
          <a:p>
            <a:r>
              <a:rPr lang="en-US">
                <a:solidFill>
                  <a:schemeClr val="bg1"/>
                </a:solidFill>
                <a:latin typeface="Calibri" panose="020F0502020204030204" pitchFamily="34" charset="0"/>
                <a:ea typeface="Calibri" panose="020F0502020204030204" pitchFamily="34" charset="0"/>
                <a:cs typeface="Calibri" panose="020F0502020204030204" pitchFamily="34" charset="0"/>
              </a:rPr>
              <a:t>Follow-up Scores – Last 3 Months </a:t>
            </a:r>
          </a:p>
        </p:txBody>
      </p:sp>
      <p:sp>
        <p:nvSpPr>
          <p:cNvPr id="7" name="TextBox 6">
            <a:extLst>
              <a:ext uri="{FF2B5EF4-FFF2-40B4-BE49-F238E27FC236}">
                <a16:creationId xmlns:a16="http://schemas.microsoft.com/office/drawing/2014/main" id="{62E09FDA-1281-DD6F-81C9-1B959C3A6036}"/>
              </a:ext>
            </a:extLst>
          </p:cNvPr>
          <p:cNvSpPr txBox="1"/>
          <p:nvPr/>
        </p:nvSpPr>
        <p:spPr>
          <a:xfrm>
            <a:off x="3893839" y="4276753"/>
            <a:ext cx="4037162" cy="461665"/>
          </a:xfrm>
          <a:prstGeom prst="rect">
            <a:avLst/>
          </a:prstGeom>
          <a:noFill/>
        </p:spPr>
        <p:txBody>
          <a:bodyPr wrap="square" rtlCol="0">
            <a:spAutoFit/>
          </a:bodyPr>
          <a:lstStyle/>
          <a:p>
            <a:r>
              <a:rPr lang="en-US">
                <a:solidFill>
                  <a:schemeClr val="bg1"/>
                </a:solidFill>
                <a:latin typeface="Calibri" panose="020F0502020204030204" pitchFamily="34" charset="0"/>
                <a:ea typeface="Calibri" panose="020F0502020204030204" pitchFamily="34" charset="0"/>
                <a:cs typeface="Calibri" panose="020F0502020204030204" pitchFamily="34" charset="0"/>
              </a:rPr>
              <a:t>Closing Scores – Last 3 Months</a:t>
            </a:r>
          </a:p>
        </p:txBody>
      </p:sp>
      <p:sp>
        <p:nvSpPr>
          <p:cNvPr id="8" name="TextBox 7">
            <a:extLst>
              <a:ext uri="{FF2B5EF4-FFF2-40B4-BE49-F238E27FC236}">
                <a16:creationId xmlns:a16="http://schemas.microsoft.com/office/drawing/2014/main" id="{0FC52E22-BEDF-CB46-32FE-6C5622AF61DB}"/>
              </a:ext>
            </a:extLst>
          </p:cNvPr>
          <p:cNvSpPr txBox="1"/>
          <p:nvPr/>
        </p:nvSpPr>
        <p:spPr>
          <a:xfrm>
            <a:off x="7203056" y="188132"/>
            <a:ext cx="4890709" cy="369332"/>
          </a:xfrm>
          <a:prstGeom prst="rect">
            <a:avLst/>
          </a:prstGeom>
          <a:noFill/>
        </p:spPr>
        <p:txBody>
          <a:bodyPr wrap="square" rtlCol="0">
            <a:spAutoFit/>
          </a:bodyPr>
          <a:lstStyle/>
          <a:p>
            <a:pPr algn="r"/>
            <a:r>
              <a:rPr lang="en-US" sz="1800" i="1">
                <a:solidFill>
                  <a:srgbClr val="F3F3F3"/>
                </a:solidFill>
                <a:latin typeface="Calibri" panose="020F0502020204030204" pitchFamily="34" charset="0"/>
                <a:ea typeface="Calibri" panose="020F0502020204030204" pitchFamily="34" charset="0"/>
                <a:cs typeface="Calibri" panose="020F0502020204030204" pitchFamily="34" charset="0"/>
              </a:rPr>
              <a:t>Comparing HUB Management to Full Service</a:t>
            </a:r>
          </a:p>
        </p:txBody>
      </p:sp>
      <p:sp>
        <p:nvSpPr>
          <p:cNvPr id="9" name="Rectangle: Rounded Corners 8">
            <a:extLst>
              <a:ext uri="{FF2B5EF4-FFF2-40B4-BE49-F238E27FC236}">
                <a16:creationId xmlns:a16="http://schemas.microsoft.com/office/drawing/2014/main" id="{5DBAC4ED-6FBB-2C4F-2DBA-B57DC05339B7}"/>
              </a:ext>
            </a:extLst>
          </p:cNvPr>
          <p:cNvSpPr/>
          <p:nvPr/>
        </p:nvSpPr>
        <p:spPr bwMode="auto">
          <a:xfrm>
            <a:off x="6570133" y="2041092"/>
            <a:ext cx="2293257" cy="1564750"/>
          </a:xfrm>
          <a:prstGeom prst="roundRect">
            <a:avLst/>
          </a:prstGeom>
          <a:solidFill>
            <a:schemeClr val="tx1">
              <a:lumMod val="90000"/>
              <a:alpha val="20000"/>
            </a:schemeClr>
          </a:solid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
        <p:nvSpPr>
          <p:cNvPr id="10" name="Rectangle: Rounded Corners 9">
            <a:extLst>
              <a:ext uri="{FF2B5EF4-FFF2-40B4-BE49-F238E27FC236}">
                <a16:creationId xmlns:a16="http://schemas.microsoft.com/office/drawing/2014/main" id="{FB5F9C85-BA59-88B8-3CE6-C30DECA6706B}"/>
              </a:ext>
            </a:extLst>
          </p:cNvPr>
          <p:cNvSpPr/>
          <p:nvPr/>
        </p:nvSpPr>
        <p:spPr bwMode="auto">
          <a:xfrm>
            <a:off x="10505397" y="4730851"/>
            <a:ext cx="1157720" cy="1583648"/>
          </a:xfrm>
          <a:prstGeom prst="roundRect">
            <a:avLst/>
          </a:prstGeom>
          <a:solidFill>
            <a:schemeClr val="tx1">
              <a:lumMod val="90000"/>
              <a:alpha val="20000"/>
            </a:schemeClr>
          </a:solid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074948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51A1018D-73AB-DCC5-72CD-A556ECCD9C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pic>
        <p:nvPicPr>
          <p:cNvPr id="1032" name="Picture 8">
            <a:extLst>
              <a:ext uri="{FF2B5EF4-FFF2-40B4-BE49-F238E27FC236}">
                <a16:creationId xmlns:a16="http://schemas.microsoft.com/office/drawing/2014/main" id="{466968FE-4237-7A92-A42C-D7C838164C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3218" y="2697480"/>
            <a:ext cx="7825563" cy="1463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extBox 1">
            <a:extLst>
              <a:ext uri="{FF2B5EF4-FFF2-40B4-BE49-F238E27FC236}">
                <a16:creationId xmlns:a16="http://schemas.microsoft.com/office/drawing/2014/main" id="{5CD86142-CB84-75EC-74A1-B2715F745005}"/>
              </a:ext>
            </a:extLst>
          </p:cNvPr>
          <p:cNvSpPr txBox="1"/>
          <p:nvPr/>
        </p:nvSpPr>
        <p:spPr>
          <a:xfrm>
            <a:off x="2183218" y="2061711"/>
            <a:ext cx="3105509" cy="461665"/>
          </a:xfrm>
          <a:prstGeom prst="rect">
            <a:avLst/>
          </a:prstGeom>
          <a:noFill/>
        </p:spPr>
        <p:txBody>
          <a:bodyPr wrap="square" rtlCol="0">
            <a:spAutoFit/>
          </a:bodyPr>
          <a:lstStyle/>
          <a:p>
            <a:r>
              <a:rPr lang="en-US">
                <a:solidFill>
                  <a:schemeClr val="bg1"/>
                </a:solidFill>
                <a:latin typeface="Calibri" panose="020F0502020204030204" pitchFamily="34" charset="0"/>
                <a:ea typeface="Calibri" panose="020F0502020204030204" pitchFamily="34" charset="0"/>
                <a:cs typeface="Calibri" panose="020F0502020204030204" pitchFamily="34" charset="0"/>
              </a:rPr>
              <a:t>Delinquency</a:t>
            </a:r>
          </a:p>
        </p:txBody>
      </p:sp>
      <p:sp>
        <p:nvSpPr>
          <p:cNvPr id="3" name="TextBox 2">
            <a:extLst>
              <a:ext uri="{FF2B5EF4-FFF2-40B4-BE49-F238E27FC236}">
                <a16:creationId xmlns:a16="http://schemas.microsoft.com/office/drawing/2014/main" id="{69A5A90B-21F3-66AF-2266-EC40909468B8}"/>
              </a:ext>
            </a:extLst>
          </p:cNvPr>
          <p:cNvSpPr txBox="1"/>
          <p:nvPr/>
        </p:nvSpPr>
        <p:spPr>
          <a:xfrm>
            <a:off x="7203056" y="188132"/>
            <a:ext cx="4890709" cy="369332"/>
          </a:xfrm>
          <a:prstGeom prst="rect">
            <a:avLst/>
          </a:prstGeom>
          <a:noFill/>
        </p:spPr>
        <p:txBody>
          <a:bodyPr wrap="square" rtlCol="0">
            <a:spAutoFit/>
          </a:bodyPr>
          <a:lstStyle/>
          <a:p>
            <a:pPr algn="r"/>
            <a:r>
              <a:rPr lang="en-US" sz="1800" i="1">
                <a:solidFill>
                  <a:srgbClr val="F3F3F3"/>
                </a:solidFill>
                <a:latin typeface="Calibri" panose="020F0502020204030204" pitchFamily="34" charset="0"/>
                <a:ea typeface="Calibri" panose="020F0502020204030204" pitchFamily="34" charset="0"/>
                <a:cs typeface="Calibri" panose="020F0502020204030204" pitchFamily="34" charset="0"/>
              </a:rPr>
              <a:t>Comparing HUB Management to Full Service</a:t>
            </a:r>
          </a:p>
        </p:txBody>
      </p:sp>
      <p:sp>
        <p:nvSpPr>
          <p:cNvPr id="5" name="Rectangle: Rounded Corners 4">
            <a:extLst>
              <a:ext uri="{FF2B5EF4-FFF2-40B4-BE49-F238E27FC236}">
                <a16:creationId xmlns:a16="http://schemas.microsoft.com/office/drawing/2014/main" id="{C3B1EC97-6CCB-41AB-9E1E-2EEFA3A7FFC7}"/>
              </a:ext>
            </a:extLst>
          </p:cNvPr>
          <p:cNvSpPr/>
          <p:nvPr/>
        </p:nvSpPr>
        <p:spPr bwMode="auto">
          <a:xfrm>
            <a:off x="8851061" y="2686266"/>
            <a:ext cx="1157720" cy="1549304"/>
          </a:xfrm>
          <a:prstGeom prst="roundRect">
            <a:avLst/>
          </a:prstGeom>
          <a:solidFill>
            <a:schemeClr val="tx1">
              <a:lumMod val="90000"/>
              <a:alpha val="20000"/>
            </a:schemeClr>
          </a:solid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81126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51A1018D-73AB-DCC5-72CD-A556ECCD9C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pic>
        <p:nvPicPr>
          <p:cNvPr id="2050" name="Picture 2">
            <a:extLst>
              <a:ext uri="{FF2B5EF4-FFF2-40B4-BE49-F238E27FC236}">
                <a16:creationId xmlns:a16="http://schemas.microsoft.com/office/drawing/2014/main" id="{973848B4-4AAD-D8AC-FC55-7CFD7C7CE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3642" y="1965960"/>
            <a:ext cx="7875269" cy="1463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2" name="TextBox 1">
            <a:extLst>
              <a:ext uri="{FF2B5EF4-FFF2-40B4-BE49-F238E27FC236}">
                <a16:creationId xmlns:a16="http://schemas.microsoft.com/office/drawing/2014/main" id="{6876533F-13D0-FAAB-05C9-D9528DA1D719}"/>
              </a:ext>
            </a:extLst>
          </p:cNvPr>
          <p:cNvSpPr txBox="1"/>
          <p:nvPr/>
        </p:nvSpPr>
        <p:spPr>
          <a:xfrm>
            <a:off x="1313642" y="1378020"/>
            <a:ext cx="4675517" cy="461665"/>
          </a:xfrm>
          <a:prstGeom prst="rect">
            <a:avLst/>
          </a:prstGeom>
          <a:noFill/>
        </p:spPr>
        <p:txBody>
          <a:bodyPr wrap="square" rtlCol="0">
            <a:spAutoFit/>
          </a:bodyPr>
          <a:lstStyle/>
          <a:p>
            <a:r>
              <a:rPr lang="en-US">
                <a:solidFill>
                  <a:schemeClr val="bg1"/>
                </a:solidFill>
                <a:latin typeface="Calibri" panose="020F0502020204030204" pitchFamily="34" charset="0"/>
                <a:ea typeface="Calibri" panose="020F0502020204030204" pitchFamily="34" charset="0"/>
                <a:cs typeface="Calibri" panose="020F0502020204030204" pitchFamily="34" charset="0"/>
              </a:rPr>
              <a:t>Occupancy</a:t>
            </a:r>
          </a:p>
        </p:txBody>
      </p:sp>
      <p:sp>
        <p:nvSpPr>
          <p:cNvPr id="3" name="TextBox 2">
            <a:extLst>
              <a:ext uri="{FF2B5EF4-FFF2-40B4-BE49-F238E27FC236}">
                <a16:creationId xmlns:a16="http://schemas.microsoft.com/office/drawing/2014/main" id="{03ED0B8B-8BCB-27BC-EA47-0E5E2329EEDC}"/>
              </a:ext>
            </a:extLst>
          </p:cNvPr>
          <p:cNvSpPr txBox="1"/>
          <p:nvPr/>
        </p:nvSpPr>
        <p:spPr>
          <a:xfrm>
            <a:off x="3496125" y="4226943"/>
            <a:ext cx="6543674" cy="461665"/>
          </a:xfrm>
          <a:prstGeom prst="rect">
            <a:avLst/>
          </a:prstGeom>
          <a:noFill/>
        </p:spPr>
        <p:txBody>
          <a:bodyPr wrap="square" rtlCol="0">
            <a:spAutoFit/>
          </a:bodyPr>
          <a:lstStyle/>
          <a:p>
            <a:r>
              <a:rPr lang="en-US">
                <a:solidFill>
                  <a:schemeClr val="bg1"/>
                </a:solidFill>
                <a:latin typeface="Calibri" panose="020F0502020204030204" pitchFamily="34" charset="0"/>
                <a:ea typeface="Calibri" panose="020F0502020204030204" pitchFamily="34" charset="0"/>
                <a:cs typeface="Calibri" panose="020F0502020204030204" pitchFamily="34" charset="0"/>
              </a:rPr>
              <a:t>Income </a:t>
            </a:r>
            <a:r>
              <a:rPr lang="en-US" sz="1600" i="1">
                <a:solidFill>
                  <a:schemeClr val="bg1"/>
                </a:solidFill>
                <a:latin typeface="Calibri" panose="020F0502020204030204" pitchFamily="34" charset="0"/>
                <a:ea typeface="Calibri" panose="020F0502020204030204" pitchFamily="34" charset="0"/>
                <a:cs typeface="Calibri" panose="020F0502020204030204" pitchFamily="34" charset="0"/>
              </a:rPr>
              <a:t>(% of Change YOY - Trailing 12 months)</a:t>
            </a:r>
          </a:p>
        </p:txBody>
      </p:sp>
      <p:pic>
        <p:nvPicPr>
          <p:cNvPr id="2052" name="Picture 4">
            <a:extLst>
              <a:ext uri="{FF2B5EF4-FFF2-40B4-BE49-F238E27FC236}">
                <a16:creationId xmlns:a16="http://schemas.microsoft.com/office/drawing/2014/main" id="{44247EEE-E9B9-F5D6-E660-2AAB16A4A4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6125" y="4849573"/>
            <a:ext cx="7672585" cy="14630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TextBox 4">
            <a:extLst>
              <a:ext uri="{FF2B5EF4-FFF2-40B4-BE49-F238E27FC236}">
                <a16:creationId xmlns:a16="http://schemas.microsoft.com/office/drawing/2014/main" id="{2B048EB9-7FAA-2C65-B18C-C64113C224EF}"/>
              </a:ext>
            </a:extLst>
          </p:cNvPr>
          <p:cNvSpPr txBox="1"/>
          <p:nvPr/>
        </p:nvSpPr>
        <p:spPr>
          <a:xfrm>
            <a:off x="7203056" y="188132"/>
            <a:ext cx="4890709" cy="369332"/>
          </a:xfrm>
          <a:prstGeom prst="rect">
            <a:avLst/>
          </a:prstGeom>
          <a:noFill/>
        </p:spPr>
        <p:txBody>
          <a:bodyPr wrap="square" rtlCol="0">
            <a:spAutoFit/>
          </a:bodyPr>
          <a:lstStyle/>
          <a:p>
            <a:pPr algn="r"/>
            <a:r>
              <a:rPr lang="en-US" sz="1800" i="1">
                <a:solidFill>
                  <a:srgbClr val="F3F3F3"/>
                </a:solidFill>
                <a:latin typeface="Calibri" panose="020F0502020204030204" pitchFamily="34" charset="0"/>
                <a:ea typeface="Calibri" panose="020F0502020204030204" pitchFamily="34" charset="0"/>
                <a:cs typeface="Calibri" panose="020F0502020204030204" pitchFamily="34" charset="0"/>
              </a:rPr>
              <a:t>Comparing HUB Management to Full Service</a:t>
            </a:r>
          </a:p>
        </p:txBody>
      </p:sp>
      <p:sp>
        <p:nvSpPr>
          <p:cNvPr id="6" name="Rectangle: Rounded Corners 5">
            <a:extLst>
              <a:ext uri="{FF2B5EF4-FFF2-40B4-BE49-F238E27FC236}">
                <a16:creationId xmlns:a16="http://schemas.microsoft.com/office/drawing/2014/main" id="{1A7ED36B-CD33-5BB2-748F-B479F6FF8C38}"/>
              </a:ext>
            </a:extLst>
          </p:cNvPr>
          <p:cNvSpPr/>
          <p:nvPr/>
        </p:nvSpPr>
        <p:spPr bwMode="auto">
          <a:xfrm>
            <a:off x="8031192" y="1866755"/>
            <a:ext cx="1157720" cy="1673526"/>
          </a:xfrm>
          <a:prstGeom prst="roundRect">
            <a:avLst/>
          </a:prstGeom>
          <a:solidFill>
            <a:schemeClr val="tx1">
              <a:lumMod val="90000"/>
              <a:alpha val="20000"/>
            </a:schemeClr>
          </a:solid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
        <p:nvSpPr>
          <p:cNvPr id="7" name="Rectangle: Rounded Corners 6">
            <a:extLst>
              <a:ext uri="{FF2B5EF4-FFF2-40B4-BE49-F238E27FC236}">
                <a16:creationId xmlns:a16="http://schemas.microsoft.com/office/drawing/2014/main" id="{8401B21B-897C-FF1A-7C63-E64B168BA5FA}"/>
              </a:ext>
            </a:extLst>
          </p:cNvPr>
          <p:cNvSpPr/>
          <p:nvPr/>
        </p:nvSpPr>
        <p:spPr bwMode="auto">
          <a:xfrm>
            <a:off x="10039799" y="4744330"/>
            <a:ext cx="1128911" cy="1673526"/>
          </a:xfrm>
          <a:prstGeom prst="roundRect">
            <a:avLst/>
          </a:prstGeom>
          <a:solidFill>
            <a:schemeClr val="tx1">
              <a:lumMod val="90000"/>
              <a:alpha val="20000"/>
            </a:schemeClr>
          </a:solid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052299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51A1018D-73AB-DCC5-72CD-A556ECCD9C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sp>
        <p:nvSpPr>
          <p:cNvPr id="2" name="TextBox 1">
            <a:extLst>
              <a:ext uri="{FF2B5EF4-FFF2-40B4-BE49-F238E27FC236}">
                <a16:creationId xmlns:a16="http://schemas.microsoft.com/office/drawing/2014/main" id="{37712C57-6FE7-690D-123A-6B24609FE994}"/>
              </a:ext>
            </a:extLst>
          </p:cNvPr>
          <p:cNvSpPr txBox="1"/>
          <p:nvPr/>
        </p:nvSpPr>
        <p:spPr>
          <a:xfrm>
            <a:off x="7203056" y="188132"/>
            <a:ext cx="4890709" cy="369332"/>
          </a:xfrm>
          <a:prstGeom prst="rect">
            <a:avLst/>
          </a:prstGeom>
          <a:noFill/>
        </p:spPr>
        <p:txBody>
          <a:bodyPr wrap="square" rtlCol="0">
            <a:spAutoFit/>
          </a:bodyPr>
          <a:lstStyle/>
          <a:p>
            <a:pPr algn="r"/>
            <a:r>
              <a:rPr lang="en-US" sz="1800" i="1">
                <a:solidFill>
                  <a:srgbClr val="F3F3F3"/>
                </a:solidFill>
                <a:latin typeface="Calibri" panose="020F0502020204030204" pitchFamily="34" charset="0"/>
                <a:ea typeface="Calibri" panose="020F0502020204030204" pitchFamily="34" charset="0"/>
                <a:cs typeface="Calibri" panose="020F0502020204030204" pitchFamily="34" charset="0"/>
              </a:rPr>
              <a:t>Comparing HUB Management to Full Service</a:t>
            </a:r>
          </a:p>
        </p:txBody>
      </p:sp>
      <p:graphicFrame>
        <p:nvGraphicFramePr>
          <p:cNvPr id="7" name="Table 7">
            <a:extLst>
              <a:ext uri="{FF2B5EF4-FFF2-40B4-BE49-F238E27FC236}">
                <a16:creationId xmlns:a16="http://schemas.microsoft.com/office/drawing/2014/main" id="{3D989875-8710-D377-9A8F-49FDEE6970E6}"/>
              </a:ext>
            </a:extLst>
          </p:cNvPr>
          <p:cNvGraphicFramePr>
            <a:graphicFrameLocks noGrp="1"/>
          </p:cNvGraphicFramePr>
          <p:nvPr/>
        </p:nvGraphicFramePr>
        <p:xfrm>
          <a:off x="239485" y="2069496"/>
          <a:ext cx="11713030" cy="1899920"/>
        </p:xfrm>
        <a:graphic>
          <a:graphicData uri="http://schemas.openxmlformats.org/drawingml/2006/table">
            <a:tbl>
              <a:tblPr firstRow="1" bandRow="1">
                <a:tableStyleId>{5C22544A-7EE6-4342-B048-85BDC9FD1C3A}</a:tableStyleId>
              </a:tblPr>
              <a:tblGrid>
                <a:gridCol w="1171303">
                  <a:extLst>
                    <a:ext uri="{9D8B030D-6E8A-4147-A177-3AD203B41FA5}">
                      <a16:colId xmlns:a16="http://schemas.microsoft.com/office/drawing/2014/main" val="1594153289"/>
                    </a:ext>
                  </a:extLst>
                </a:gridCol>
                <a:gridCol w="1171303">
                  <a:extLst>
                    <a:ext uri="{9D8B030D-6E8A-4147-A177-3AD203B41FA5}">
                      <a16:colId xmlns:a16="http://schemas.microsoft.com/office/drawing/2014/main" val="104494419"/>
                    </a:ext>
                  </a:extLst>
                </a:gridCol>
                <a:gridCol w="1171303">
                  <a:extLst>
                    <a:ext uri="{9D8B030D-6E8A-4147-A177-3AD203B41FA5}">
                      <a16:colId xmlns:a16="http://schemas.microsoft.com/office/drawing/2014/main" val="393727873"/>
                    </a:ext>
                  </a:extLst>
                </a:gridCol>
                <a:gridCol w="1171303">
                  <a:extLst>
                    <a:ext uri="{9D8B030D-6E8A-4147-A177-3AD203B41FA5}">
                      <a16:colId xmlns:a16="http://schemas.microsoft.com/office/drawing/2014/main" val="2438970101"/>
                    </a:ext>
                  </a:extLst>
                </a:gridCol>
                <a:gridCol w="1171303">
                  <a:extLst>
                    <a:ext uri="{9D8B030D-6E8A-4147-A177-3AD203B41FA5}">
                      <a16:colId xmlns:a16="http://schemas.microsoft.com/office/drawing/2014/main" val="4099714030"/>
                    </a:ext>
                  </a:extLst>
                </a:gridCol>
                <a:gridCol w="1171303">
                  <a:extLst>
                    <a:ext uri="{9D8B030D-6E8A-4147-A177-3AD203B41FA5}">
                      <a16:colId xmlns:a16="http://schemas.microsoft.com/office/drawing/2014/main" val="493591671"/>
                    </a:ext>
                  </a:extLst>
                </a:gridCol>
                <a:gridCol w="1171303">
                  <a:extLst>
                    <a:ext uri="{9D8B030D-6E8A-4147-A177-3AD203B41FA5}">
                      <a16:colId xmlns:a16="http://schemas.microsoft.com/office/drawing/2014/main" val="3073348902"/>
                    </a:ext>
                  </a:extLst>
                </a:gridCol>
                <a:gridCol w="1171303">
                  <a:extLst>
                    <a:ext uri="{9D8B030D-6E8A-4147-A177-3AD203B41FA5}">
                      <a16:colId xmlns:a16="http://schemas.microsoft.com/office/drawing/2014/main" val="3095881410"/>
                    </a:ext>
                  </a:extLst>
                </a:gridCol>
                <a:gridCol w="1171303">
                  <a:extLst>
                    <a:ext uri="{9D8B030D-6E8A-4147-A177-3AD203B41FA5}">
                      <a16:colId xmlns:a16="http://schemas.microsoft.com/office/drawing/2014/main" val="1640193457"/>
                    </a:ext>
                  </a:extLst>
                </a:gridCol>
                <a:gridCol w="1171303">
                  <a:extLst>
                    <a:ext uri="{9D8B030D-6E8A-4147-A177-3AD203B41FA5}">
                      <a16:colId xmlns:a16="http://schemas.microsoft.com/office/drawing/2014/main" val="1807259306"/>
                    </a:ext>
                  </a:extLst>
                </a:gridCol>
              </a:tblGrid>
              <a:tr h="370840">
                <a:tc>
                  <a:txBody>
                    <a:bodyPr/>
                    <a:lstStyle/>
                    <a:p>
                      <a:endParaRPr lang="en-US">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Calls</a:t>
                      </a:r>
                    </a:p>
                  </a:txBody>
                  <a:tcPr>
                    <a:solidFill>
                      <a:schemeClr val="accent2"/>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Talk Time</a:t>
                      </a:r>
                    </a:p>
                  </a:txBody>
                  <a:tcPr>
                    <a:solidFill>
                      <a:schemeClr val="accent2"/>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Avg Time</a:t>
                      </a:r>
                    </a:p>
                  </a:txBody>
                  <a:tcPr>
                    <a:solidFill>
                      <a:schemeClr val="accent2"/>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Calls</a:t>
                      </a:r>
                    </a:p>
                  </a:txBody>
                  <a:tcPr>
                    <a:solidFill>
                      <a:schemeClr val="accent3"/>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Talk Time</a:t>
                      </a:r>
                    </a:p>
                  </a:txBody>
                  <a:tcPr>
                    <a:solidFill>
                      <a:schemeClr val="accent3"/>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Avg Time</a:t>
                      </a:r>
                    </a:p>
                  </a:txBody>
                  <a:tcPr>
                    <a:solidFill>
                      <a:schemeClr val="accent3"/>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Calls</a:t>
                      </a:r>
                    </a:p>
                  </a:txBody>
                  <a:tcPr>
                    <a:solidFill>
                      <a:srgbClr val="3B5175"/>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Talk Time</a:t>
                      </a:r>
                    </a:p>
                  </a:txBody>
                  <a:tcPr>
                    <a:solidFill>
                      <a:srgbClr val="3B5175"/>
                    </a:solidFill>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Avg Time</a:t>
                      </a:r>
                    </a:p>
                  </a:txBody>
                  <a:tcPr>
                    <a:solidFill>
                      <a:srgbClr val="3B5175"/>
                    </a:solidFill>
                  </a:tcPr>
                </a:tc>
                <a:extLst>
                  <a:ext uri="{0D108BD9-81ED-4DB2-BD59-A6C34878D82A}">
                    <a16:rowId xmlns:a16="http://schemas.microsoft.com/office/drawing/2014/main" val="1538908931"/>
                  </a:ext>
                </a:extLst>
              </a:tr>
              <a:tr h="370840">
                <a:tc>
                  <a:txBody>
                    <a:bodyPr/>
                    <a:lstStyle/>
                    <a:p>
                      <a:endParaRPr lang="en-US">
                        <a:latin typeface="Calibri" panose="020F0502020204030204" pitchFamily="34" charset="0"/>
                        <a:ea typeface="Calibri" panose="020F0502020204030204" pitchFamily="34" charset="0"/>
                        <a:cs typeface="Calibri" panose="020F0502020204030204" pitchFamily="34" charset="0"/>
                      </a:endParaRPr>
                    </a:p>
                  </a:txBody>
                  <a:tcPr/>
                </a:tc>
                <a:tc gridSpan="3">
                  <a:txBody>
                    <a:bodyPr/>
                    <a:lstStyle/>
                    <a:p>
                      <a:pPr algn="ctr"/>
                      <a:r>
                        <a:rPr lang="en-US" sz="1400" i="1">
                          <a:latin typeface="Calibri" panose="020F0502020204030204" pitchFamily="34" charset="0"/>
                          <a:ea typeface="Calibri" panose="020F0502020204030204" pitchFamily="34" charset="0"/>
                          <a:cs typeface="Calibri" panose="020F0502020204030204" pitchFamily="34" charset="0"/>
                        </a:rPr>
                        <a:t>Inbound</a:t>
                      </a:r>
                    </a:p>
                  </a:txBody>
                  <a:tcPr/>
                </a:tc>
                <a:tc hMerge="1">
                  <a:txBody>
                    <a:bodyPr/>
                    <a:lstStyle/>
                    <a:p>
                      <a:endParaRPr lang="en-US"/>
                    </a:p>
                  </a:txBody>
                  <a:tcPr/>
                </a:tc>
                <a:tc hMerge="1">
                  <a:txBody>
                    <a:bodyPr/>
                    <a:lstStyle/>
                    <a:p>
                      <a:endParaRPr lang="en-US"/>
                    </a:p>
                  </a:txBody>
                  <a:tcPr/>
                </a:tc>
                <a:tc gridSpan="3">
                  <a:txBody>
                    <a:bodyPr/>
                    <a:lstStyle/>
                    <a:p>
                      <a:pPr algn="ctr"/>
                      <a:r>
                        <a:rPr lang="en-US" sz="1400" i="1">
                          <a:latin typeface="Calibri" panose="020F0502020204030204" pitchFamily="34" charset="0"/>
                          <a:ea typeface="Calibri" panose="020F0502020204030204" pitchFamily="34" charset="0"/>
                          <a:cs typeface="Calibri" panose="020F0502020204030204" pitchFamily="34" charset="0"/>
                        </a:rPr>
                        <a:t>outbound</a:t>
                      </a:r>
                    </a:p>
                  </a:txBody>
                  <a:tcPr/>
                </a:tc>
                <a:tc hMerge="1">
                  <a:txBody>
                    <a:bodyPr/>
                    <a:lstStyle/>
                    <a:p>
                      <a:endParaRPr lang="en-US"/>
                    </a:p>
                  </a:txBody>
                  <a:tcPr/>
                </a:tc>
                <a:tc hMerge="1">
                  <a:txBody>
                    <a:bodyPr/>
                    <a:lstStyle/>
                    <a:p>
                      <a:endParaRPr lang="en-US"/>
                    </a:p>
                  </a:txBody>
                  <a:tcPr/>
                </a:tc>
                <a:tc gridSpan="3">
                  <a:txBody>
                    <a:bodyPr/>
                    <a:lstStyle/>
                    <a:p>
                      <a:pPr algn="ctr"/>
                      <a:r>
                        <a:rPr lang="en-US" sz="1400" i="1">
                          <a:latin typeface="Calibri" panose="020F0502020204030204" pitchFamily="34" charset="0"/>
                          <a:ea typeface="Calibri" panose="020F0502020204030204" pitchFamily="34" charset="0"/>
                          <a:cs typeface="Calibri" panose="020F0502020204030204" pitchFamily="34" charset="0"/>
                        </a:rPr>
                        <a:t>total</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52319479"/>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HUB</a:t>
                      </a:r>
                      <a:r>
                        <a:rPr lang="en-US">
                          <a:solidFill>
                            <a:srgbClr val="166992"/>
                          </a:solidFill>
                          <a:latin typeface="Calibri" panose="020F0502020204030204" pitchFamily="34" charset="0"/>
                          <a:ea typeface="Calibri" panose="020F0502020204030204" pitchFamily="34" charset="0"/>
                          <a:cs typeface="Calibri" panose="020F0502020204030204" pitchFamily="34" charset="0"/>
                        </a:rPr>
                        <a:t> </a:t>
                      </a:r>
                      <a:br>
                        <a:rPr lang="en-US">
                          <a:solidFill>
                            <a:srgbClr val="166992"/>
                          </a:solidFill>
                          <a:latin typeface="Calibri" panose="020F0502020204030204" pitchFamily="34" charset="0"/>
                          <a:ea typeface="Calibri" panose="020F0502020204030204" pitchFamily="34" charset="0"/>
                          <a:cs typeface="Calibri" panose="020F0502020204030204" pitchFamily="34" charset="0"/>
                        </a:rPr>
                      </a:b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sz="1400" b="1">
                          <a:solidFill>
                            <a:srgbClr val="166992"/>
                          </a:solidFill>
                          <a:latin typeface="Calibri" panose="020F0502020204030204" pitchFamily="34" charset="0"/>
                          <a:ea typeface="Calibri" panose="020F0502020204030204" pitchFamily="34" charset="0"/>
                          <a:cs typeface="Calibri" panose="020F0502020204030204" pitchFamily="34" charset="0"/>
                        </a:rPr>
                        <a:t>10 </a:t>
                      </a:r>
                      <a:r>
                        <a:rPr lang="en-US" sz="140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3,251)</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968</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97</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.30</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48:54 </a:t>
                      </a:r>
                      <a:r>
                        <a:rPr lang="en-US" err="1">
                          <a:latin typeface="Calibri" panose="020F0502020204030204" pitchFamily="34" charset="0"/>
                          <a:ea typeface="Calibri" panose="020F0502020204030204" pitchFamily="34" charset="0"/>
                          <a:cs typeface="Calibri" panose="020F0502020204030204" pitchFamily="34" charset="0"/>
                        </a:rPr>
                        <a:t>hrs</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4.9</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.02</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3:01 min</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1,734</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173</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.53</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41:03 </a:t>
                      </a:r>
                      <a:r>
                        <a:rPr lang="en-US" err="1">
                          <a:latin typeface="Calibri" panose="020F0502020204030204" pitchFamily="34" charset="0"/>
                          <a:ea typeface="Calibri" panose="020F0502020204030204" pitchFamily="34" charset="0"/>
                          <a:cs typeface="Calibri" panose="020F0502020204030204" pitchFamily="34" charset="0"/>
                        </a:rPr>
                        <a:t>hrs</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4.1</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.01</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1:33 min</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2,702</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270</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.83</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89:55 </a:t>
                      </a:r>
                      <a:r>
                        <a:rPr lang="en-US" err="1">
                          <a:latin typeface="Calibri" panose="020F0502020204030204" pitchFamily="34" charset="0"/>
                          <a:ea typeface="Calibri" panose="020F0502020204030204" pitchFamily="34" charset="0"/>
                          <a:cs typeface="Calibri" panose="020F0502020204030204" pitchFamily="34" charset="0"/>
                        </a:rPr>
                        <a:t>hrs</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8.9</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.03</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2:07 min</a:t>
                      </a:r>
                    </a:p>
                  </a:txBody>
                  <a:tcPr/>
                </a:tc>
                <a:extLst>
                  <a:ext uri="{0D108BD9-81ED-4DB2-BD59-A6C34878D82A}">
                    <a16:rowId xmlns:a16="http://schemas.microsoft.com/office/drawing/2014/main" val="76138066"/>
                  </a:ext>
                </a:extLst>
              </a:tr>
              <a:tr h="370840">
                <a:tc>
                  <a:txBody>
                    <a:bodyPr/>
                    <a:lstStyle/>
                    <a:p>
                      <a:r>
                        <a:rPr lang="en-US">
                          <a:latin typeface="Calibri" panose="020F0502020204030204" pitchFamily="34" charset="0"/>
                          <a:ea typeface="Calibri" panose="020F0502020204030204" pitchFamily="34" charset="0"/>
                          <a:cs typeface="Calibri" panose="020F0502020204030204" pitchFamily="34" charset="0"/>
                        </a:rPr>
                        <a:t>FULL</a:t>
                      </a:r>
                      <a:r>
                        <a:rPr lang="en-US">
                          <a:solidFill>
                            <a:srgbClr val="166992"/>
                          </a:solidFill>
                          <a:latin typeface="Calibri" panose="020F0502020204030204" pitchFamily="34" charset="0"/>
                          <a:ea typeface="Calibri" panose="020F0502020204030204" pitchFamily="34" charset="0"/>
                          <a:cs typeface="Calibri" panose="020F0502020204030204" pitchFamily="34" charset="0"/>
                        </a:rPr>
                        <a:t> </a:t>
                      </a:r>
                      <a:br>
                        <a:rPr lang="en-US">
                          <a:solidFill>
                            <a:srgbClr val="166992"/>
                          </a:solidFill>
                          <a:latin typeface="Calibri" panose="020F0502020204030204" pitchFamily="34" charset="0"/>
                          <a:ea typeface="Calibri" panose="020F0502020204030204" pitchFamily="34" charset="0"/>
                          <a:cs typeface="Calibri" panose="020F0502020204030204" pitchFamily="34" charset="0"/>
                        </a:rPr>
                      </a:b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en-US" sz="1400" b="1">
                          <a:solidFill>
                            <a:srgbClr val="166992"/>
                          </a:solidFill>
                          <a:latin typeface="Calibri" panose="020F0502020204030204" pitchFamily="34" charset="0"/>
                          <a:ea typeface="Calibri" panose="020F0502020204030204" pitchFamily="34" charset="0"/>
                          <a:cs typeface="Calibri" panose="020F0502020204030204" pitchFamily="34" charset="0"/>
                        </a:rPr>
                        <a:t>35 </a:t>
                      </a:r>
                      <a:r>
                        <a:rPr lang="en-US" sz="140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17,720)</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9,868</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282</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.56</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376:20 </a:t>
                      </a:r>
                      <a:r>
                        <a:rPr lang="en-US" err="1">
                          <a:latin typeface="Calibri" panose="020F0502020204030204" pitchFamily="34" charset="0"/>
                          <a:ea typeface="Calibri" panose="020F0502020204030204" pitchFamily="34" charset="0"/>
                          <a:cs typeface="Calibri" panose="020F0502020204030204" pitchFamily="34" charset="0"/>
                        </a:rPr>
                        <a:t>hrs</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10.74</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.02</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2:17 min</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19,083</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545</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1.07</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548:47 </a:t>
                      </a:r>
                      <a:r>
                        <a:rPr lang="en-US" err="1">
                          <a:latin typeface="Calibri" panose="020F0502020204030204" pitchFamily="34" charset="0"/>
                          <a:ea typeface="Calibri" panose="020F0502020204030204" pitchFamily="34" charset="0"/>
                          <a:cs typeface="Calibri" panose="020F0502020204030204" pitchFamily="34" charset="0"/>
                        </a:rPr>
                        <a:t>hrs</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(15.66/</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.03</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1:01 min</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28,951</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827</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1.63</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925:07 </a:t>
                      </a:r>
                      <a:r>
                        <a:rPr lang="en-US" err="1">
                          <a:latin typeface="Calibri" panose="020F0502020204030204" pitchFamily="34" charset="0"/>
                          <a:ea typeface="Calibri" panose="020F0502020204030204" pitchFamily="34" charset="0"/>
                          <a:cs typeface="Calibri" panose="020F0502020204030204" pitchFamily="34" charset="0"/>
                        </a:rPr>
                        <a:t>hrs</a:t>
                      </a:r>
                      <a:br>
                        <a:rPr lang="en-US">
                          <a:latin typeface="Calibri" panose="020F0502020204030204" pitchFamily="34" charset="0"/>
                          <a:ea typeface="Calibri" panose="020F0502020204030204" pitchFamily="34" charset="0"/>
                          <a:cs typeface="Calibri" panose="020F0502020204030204" pitchFamily="34" charset="0"/>
                        </a:rPr>
                      </a:b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166992"/>
                          </a:solidFill>
                          <a:latin typeface="Calibri" panose="020F0502020204030204" pitchFamily="34" charset="0"/>
                          <a:ea typeface="Calibri" panose="020F0502020204030204" pitchFamily="34" charset="0"/>
                          <a:cs typeface="Calibri" panose="020F0502020204030204" pitchFamily="34" charset="0"/>
                        </a:rPr>
                        <a:t>26.43</a:t>
                      </a:r>
                      <a:r>
                        <a:rPr lang="en-US" sz="1400">
                          <a:latin typeface="Calibri" panose="020F0502020204030204" pitchFamily="34" charset="0"/>
                          <a:ea typeface="Calibri" panose="020F0502020204030204" pitchFamily="34" charset="0"/>
                          <a:cs typeface="Calibri" panose="020F0502020204030204" pitchFamily="34" charset="0"/>
                        </a:rPr>
                        <a:t>/</a:t>
                      </a:r>
                      <a:r>
                        <a:rPr lang="en-US" sz="1400">
                          <a:solidFill>
                            <a:srgbClr val="FF0000"/>
                          </a:solidFill>
                          <a:latin typeface="Calibri" panose="020F0502020204030204" pitchFamily="34" charset="0"/>
                          <a:ea typeface="Calibri" panose="020F0502020204030204" pitchFamily="34" charset="0"/>
                          <a:cs typeface="Calibri" panose="020F0502020204030204" pitchFamily="34" charset="0"/>
                        </a:rPr>
                        <a:t>.05</a:t>
                      </a:r>
                      <a:r>
                        <a:rPr lang="en-US" sz="1400">
                          <a:latin typeface="Calibri" panose="020F0502020204030204" pitchFamily="34" charset="0"/>
                          <a:ea typeface="Calibri" panose="020F0502020204030204" pitchFamily="34" charset="0"/>
                          <a:cs typeface="Calibri" panose="020F0502020204030204" pitchFamily="34" charset="0"/>
                        </a:rPr>
                        <a:t>)</a:t>
                      </a:r>
                    </a:p>
                  </a:txBody>
                  <a:tcPr/>
                </a:tc>
                <a:tc>
                  <a:txBody>
                    <a:bodyPr/>
                    <a:lstStyle/>
                    <a:p>
                      <a:r>
                        <a:rPr lang="en-US">
                          <a:latin typeface="Calibri" panose="020F0502020204030204" pitchFamily="34" charset="0"/>
                          <a:ea typeface="Calibri" panose="020F0502020204030204" pitchFamily="34" charset="0"/>
                          <a:cs typeface="Calibri" panose="020F0502020204030204" pitchFamily="34" charset="0"/>
                        </a:rPr>
                        <a:t>1:29 min</a:t>
                      </a:r>
                    </a:p>
                  </a:txBody>
                  <a:tcPr/>
                </a:tc>
                <a:extLst>
                  <a:ext uri="{0D108BD9-81ED-4DB2-BD59-A6C34878D82A}">
                    <a16:rowId xmlns:a16="http://schemas.microsoft.com/office/drawing/2014/main" val="2112727488"/>
                  </a:ext>
                </a:extLst>
              </a:tr>
            </a:tbl>
          </a:graphicData>
        </a:graphic>
      </p:graphicFrame>
      <p:sp>
        <p:nvSpPr>
          <p:cNvPr id="6" name="Rectangle: Rounded Corners 5">
            <a:extLst>
              <a:ext uri="{FF2B5EF4-FFF2-40B4-BE49-F238E27FC236}">
                <a16:creationId xmlns:a16="http://schemas.microsoft.com/office/drawing/2014/main" id="{4F94443D-3DBE-F4B4-B156-47392154D7C1}"/>
              </a:ext>
            </a:extLst>
          </p:cNvPr>
          <p:cNvSpPr/>
          <p:nvPr/>
        </p:nvSpPr>
        <p:spPr bwMode="auto">
          <a:xfrm>
            <a:off x="9586046" y="1862108"/>
            <a:ext cx="1196288" cy="2426939"/>
          </a:xfrm>
          <a:prstGeom prst="roundRect">
            <a:avLst/>
          </a:prstGeom>
          <a:solidFill>
            <a:schemeClr val="tx1">
              <a:lumMod val="90000"/>
              <a:alpha val="20000"/>
            </a:schemeClr>
          </a:solid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
        <p:nvSpPr>
          <p:cNvPr id="8" name="TextBox 7">
            <a:extLst>
              <a:ext uri="{FF2B5EF4-FFF2-40B4-BE49-F238E27FC236}">
                <a16:creationId xmlns:a16="http://schemas.microsoft.com/office/drawing/2014/main" id="{DC66476E-9D00-8DCB-4B43-BFB4A725AE04}"/>
              </a:ext>
            </a:extLst>
          </p:cNvPr>
          <p:cNvSpPr txBox="1"/>
          <p:nvPr/>
        </p:nvSpPr>
        <p:spPr>
          <a:xfrm>
            <a:off x="239484" y="4659082"/>
            <a:ext cx="11713030" cy="1569660"/>
          </a:xfrm>
          <a:prstGeom prst="rect">
            <a:avLst/>
          </a:prstGeom>
          <a:noFill/>
        </p:spPr>
        <p:txBody>
          <a:bodyPr wrap="square" rtlCol="0">
            <a:spAutoFit/>
          </a:bodyPr>
          <a:lstStyle/>
          <a:p>
            <a:pPr algn="ctr"/>
            <a:r>
              <a:rPr lang="en-US">
                <a:latin typeface="Calibri" panose="020F0502020204030204" pitchFamily="34" charset="0"/>
                <a:ea typeface="Calibri" panose="020F0502020204030204" pitchFamily="34" charset="0"/>
                <a:cs typeface="Calibri" panose="020F0502020204030204" pitchFamily="34" charset="0"/>
              </a:rPr>
              <a:t>SUBSET ROW:</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HUB = 10 stores, with rented unit count of 3,251 units.</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FULL Service = 35 stores, with rented unit count of 17,720 units.</a:t>
            </a:r>
            <a:br>
              <a:rPr lang="en-US">
                <a:latin typeface="Calibri" panose="020F0502020204030204" pitchFamily="34" charset="0"/>
                <a:ea typeface="Calibri" panose="020F0502020204030204" pitchFamily="34" charset="0"/>
                <a:cs typeface="Calibri" panose="020F0502020204030204" pitchFamily="34" charset="0"/>
              </a:rPr>
            </a:br>
            <a:r>
              <a:rPr lang="en-US">
                <a:latin typeface="Calibri" panose="020F0502020204030204" pitchFamily="34" charset="0"/>
                <a:ea typeface="Calibri" panose="020F0502020204030204" pitchFamily="34" charset="0"/>
                <a:cs typeface="Calibri" panose="020F0502020204030204" pitchFamily="34" charset="0"/>
              </a:rPr>
              <a:t>(blue) = avg per store; (red) = avg per rented unit</a:t>
            </a:r>
          </a:p>
        </p:txBody>
      </p:sp>
      <p:sp>
        <p:nvSpPr>
          <p:cNvPr id="9" name="TextBox 8">
            <a:extLst>
              <a:ext uri="{FF2B5EF4-FFF2-40B4-BE49-F238E27FC236}">
                <a16:creationId xmlns:a16="http://schemas.microsoft.com/office/drawing/2014/main" id="{6EAE8B71-D790-FBE8-B280-4D589AA37519}"/>
              </a:ext>
            </a:extLst>
          </p:cNvPr>
          <p:cNvSpPr txBox="1"/>
          <p:nvPr/>
        </p:nvSpPr>
        <p:spPr>
          <a:xfrm>
            <a:off x="203200" y="1658742"/>
            <a:ext cx="2017485" cy="400110"/>
          </a:xfrm>
          <a:prstGeom prst="rect">
            <a:avLst/>
          </a:prstGeom>
          <a:noFill/>
        </p:spPr>
        <p:txBody>
          <a:bodyPr wrap="square" rtlCol="0">
            <a:spAutoFit/>
          </a:bodyPr>
          <a:lstStyle/>
          <a:p>
            <a:r>
              <a:rPr lang="en-US" sz="2000">
                <a:solidFill>
                  <a:schemeClr val="bg1"/>
                </a:solidFill>
                <a:latin typeface="Calibri" panose="020F0502020204030204" pitchFamily="34" charset="0"/>
                <a:ea typeface="Calibri" panose="020F0502020204030204" pitchFamily="34" charset="0"/>
                <a:cs typeface="Calibri" panose="020F0502020204030204" pitchFamily="34" charset="0"/>
              </a:rPr>
              <a:t>January 2023</a:t>
            </a:r>
          </a:p>
        </p:txBody>
      </p:sp>
    </p:spTree>
    <p:extLst>
      <p:ext uri="{BB962C8B-B14F-4D97-AF65-F5344CB8AC3E}">
        <p14:creationId xmlns:p14="http://schemas.microsoft.com/office/powerpoint/2010/main" val="383156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B69489E8-135D-DFBF-330D-C2F7D27108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graphicFrame>
        <p:nvGraphicFramePr>
          <p:cNvPr id="3" name="Table 3">
            <a:extLst>
              <a:ext uri="{FF2B5EF4-FFF2-40B4-BE49-F238E27FC236}">
                <a16:creationId xmlns:a16="http://schemas.microsoft.com/office/drawing/2014/main" id="{A10BEB2F-B8AE-293C-6722-F8882575D891}"/>
              </a:ext>
            </a:extLst>
          </p:cNvPr>
          <p:cNvGraphicFramePr>
            <a:graphicFrameLocks noGrp="1"/>
          </p:cNvGraphicFramePr>
          <p:nvPr/>
        </p:nvGraphicFramePr>
        <p:xfrm>
          <a:off x="1985274" y="1954171"/>
          <a:ext cx="8221452" cy="1854200"/>
        </p:xfrm>
        <a:graphic>
          <a:graphicData uri="http://schemas.openxmlformats.org/drawingml/2006/table">
            <a:tbl>
              <a:tblPr firstRow="1" bandRow="1">
                <a:effectLst>
                  <a:outerShdw blurRad="76200" dir="13500000" sy="23000" kx="1200000" algn="br" rotWithShape="0">
                    <a:prstClr val="black">
                      <a:alpha val="20000"/>
                    </a:prstClr>
                  </a:outerShdw>
                </a:effectLst>
                <a:tableStyleId>{5C22544A-7EE6-4342-B048-85BDC9FD1C3A}</a:tableStyleId>
              </a:tblPr>
              <a:tblGrid>
                <a:gridCol w="2055363">
                  <a:extLst>
                    <a:ext uri="{9D8B030D-6E8A-4147-A177-3AD203B41FA5}">
                      <a16:colId xmlns:a16="http://schemas.microsoft.com/office/drawing/2014/main" val="1395843618"/>
                    </a:ext>
                  </a:extLst>
                </a:gridCol>
                <a:gridCol w="2055363">
                  <a:extLst>
                    <a:ext uri="{9D8B030D-6E8A-4147-A177-3AD203B41FA5}">
                      <a16:colId xmlns:a16="http://schemas.microsoft.com/office/drawing/2014/main" val="3796500377"/>
                    </a:ext>
                  </a:extLst>
                </a:gridCol>
                <a:gridCol w="2055363">
                  <a:extLst>
                    <a:ext uri="{9D8B030D-6E8A-4147-A177-3AD203B41FA5}">
                      <a16:colId xmlns:a16="http://schemas.microsoft.com/office/drawing/2014/main" val="1593736117"/>
                    </a:ext>
                  </a:extLst>
                </a:gridCol>
                <a:gridCol w="2055363">
                  <a:extLst>
                    <a:ext uri="{9D8B030D-6E8A-4147-A177-3AD203B41FA5}">
                      <a16:colId xmlns:a16="http://schemas.microsoft.com/office/drawing/2014/main" val="3918755258"/>
                    </a:ext>
                  </a:extLst>
                </a:gridCol>
              </a:tblGrid>
              <a:tr h="370840">
                <a:tc>
                  <a:txBody>
                    <a:bodyPr/>
                    <a:lstStyle/>
                    <a:p>
                      <a:endParaRPr lang="en-US"/>
                    </a:p>
                  </a:txBody>
                  <a:tcPr/>
                </a:tc>
                <a:tc>
                  <a:txBody>
                    <a:bodyPr/>
                    <a:lstStyle/>
                    <a:p>
                      <a:r>
                        <a:rPr lang="en-US"/>
                        <a:t>Revenue</a:t>
                      </a:r>
                    </a:p>
                  </a:txBody>
                  <a:tcPr/>
                </a:tc>
                <a:tc>
                  <a:txBody>
                    <a:bodyPr/>
                    <a:lstStyle/>
                    <a:p>
                      <a:r>
                        <a:rPr lang="en-US"/>
                        <a:t>Expenses *</a:t>
                      </a:r>
                    </a:p>
                  </a:txBody>
                  <a:tcPr/>
                </a:tc>
                <a:tc>
                  <a:txBody>
                    <a:bodyPr/>
                    <a:lstStyle/>
                    <a:p>
                      <a:r>
                        <a:rPr lang="en-US"/>
                        <a:t>Payroll Expenses</a:t>
                      </a:r>
                    </a:p>
                  </a:txBody>
                  <a:tcPr/>
                </a:tc>
                <a:extLst>
                  <a:ext uri="{0D108BD9-81ED-4DB2-BD59-A6C34878D82A}">
                    <a16:rowId xmlns:a16="http://schemas.microsoft.com/office/drawing/2014/main" val="1731136109"/>
                  </a:ext>
                </a:extLst>
              </a:tr>
              <a:tr h="370840">
                <a:tc>
                  <a:txBody>
                    <a:bodyPr/>
                    <a:lstStyle/>
                    <a:p>
                      <a:r>
                        <a:rPr lang="en-US"/>
                        <a:t>Q4 2021 </a:t>
                      </a:r>
                      <a:r>
                        <a:rPr lang="en-US" sz="1400">
                          <a:latin typeface="Calibri" panose="020F0502020204030204" pitchFamily="34" charset="0"/>
                          <a:ea typeface="Calibri" panose="020F0502020204030204" pitchFamily="34" charset="0"/>
                          <a:cs typeface="Calibri" panose="020F0502020204030204" pitchFamily="34" charset="0"/>
                        </a:rPr>
                        <a:t>(ACTUALS)</a:t>
                      </a:r>
                    </a:p>
                  </a:txBody>
                  <a:tcPr/>
                </a:tc>
                <a:tc>
                  <a:txBody>
                    <a:bodyPr/>
                    <a:lstStyle/>
                    <a:p>
                      <a:r>
                        <a:rPr lang="en-US"/>
                        <a:t>$148,202</a:t>
                      </a:r>
                    </a:p>
                  </a:txBody>
                  <a:tcPr/>
                </a:tc>
                <a:tc>
                  <a:txBody>
                    <a:bodyPr/>
                    <a:lstStyle/>
                    <a:p>
                      <a:r>
                        <a:rPr lang="en-US"/>
                        <a:t>$62,595</a:t>
                      </a:r>
                    </a:p>
                  </a:txBody>
                  <a:tcPr/>
                </a:tc>
                <a:tc>
                  <a:txBody>
                    <a:bodyPr/>
                    <a:lstStyle/>
                    <a:p>
                      <a:r>
                        <a:rPr lang="en-US"/>
                        <a:t>$21,654</a:t>
                      </a:r>
                    </a:p>
                  </a:txBody>
                  <a:tcPr/>
                </a:tc>
                <a:extLst>
                  <a:ext uri="{0D108BD9-81ED-4DB2-BD59-A6C34878D82A}">
                    <a16:rowId xmlns:a16="http://schemas.microsoft.com/office/drawing/2014/main" val="3576433990"/>
                  </a:ext>
                </a:extLst>
              </a:tr>
              <a:tr h="370840">
                <a:tc>
                  <a:txBody>
                    <a:bodyPr/>
                    <a:lstStyle/>
                    <a:p>
                      <a:r>
                        <a:rPr lang="en-US"/>
                        <a:t>Q4 2022 </a:t>
                      </a:r>
                      <a:r>
                        <a:rPr kumimoji="0" lang="en-US" sz="1400" b="0" i="0" u="none" strike="noStrike" kern="1200" cap="none" spc="0" normalizeH="0" baseline="0" noProof="0">
                          <a:ln>
                            <a:noFill/>
                          </a:ln>
                          <a:solidFill>
                            <a:srgbClr val="5F5F5F"/>
                          </a:solidFill>
                          <a:effectLst/>
                          <a:uLnTx/>
                          <a:uFillTx/>
                          <a:latin typeface="Calibri" panose="020F0502020204030204" pitchFamily="34" charset="0"/>
                          <a:ea typeface="Calibri" panose="020F0502020204030204" pitchFamily="34" charset="0"/>
                          <a:cs typeface="Calibri" panose="020F0502020204030204" pitchFamily="34" charset="0"/>
                        </a:rPr>
                        <a:t>(ACTUALS)</a:t>
                      </a:r>
                      <a:endParaRPr lang="en-US"/>
                    </a:p>
                  </a:txBody>
                  <a:tcPr/>
                </a:tc>
                <a:tc>
                  <a:txBody>
                    <a:bodyPr/>
                    <a:lstStyle/>
                    <a:p>
                      <a:r>
                        <a:rPr lang="en-US"/>
                        <a:t>$159,895</a:t>
                      </a:r>
                    </a:p>
                  </a:txBody>
                  <a:tcPr/>
                </a:tc>
                <a:tc>
                  <a:txBody>
                    <a:bodyPr/>
                    <a:lstStyle/>
                    <a:p>
                      <a:r>
                        <a:rPr lang="en-US"/>
                        <a:t>$46,492</a:t>
                      </a:r>
                    </a:p>
                  </a:txBody>
                  <a:tcPr/>
                </a:tc>
                <a:tc>
                  <a:txBody>
                    <a:bodyPr/>
                    <a:lstStyle/>
                    <a:p>
                      <a:r>
                        <a:rPr lang="en-US"/>
                        <a:t>$11,031</a:t>
                      </a:r>
                    </a:p>
                  </a:txBody>
                  <a:tcPr/>
                </a:tc>
                <a:extLst>
                  <a:ext uri="{0D108BD9-81ED-4DB2-BD59-A6C34878D82A}">
                    <a16:rowId xmlns:a16="http://schemas.microsoft.com/office/drawing/2014/main" val="1005000704"/>
                  </a:ext>
                </a:extLst>
              </a:tr>
              <a:tr h="370840">
                <a:tc>
                  <a:txBody>
                    <a:bodyPr/>
                    <a:lstStyle/>
                    <a:p>
                      <a:r>
                        <a:rPr lang="en-US"/>
                        <a:t>HUB effect</a:t>
                      </a:r>
                    </a:p>
                  </a:txBody>
                  <a:tcPr/>
                </a:tc>
                <a:tc>
                  <a:txBody>
                    <a:bodyPr/>
                    <a:lstStyle/>
                    <a:p>
                      <a:r>
                        <a:rPr lang="en-US"/>
                        <a:t>+ 11,693</a:t>
                      </a:r>
                    </a:p>
                  </a:txBody>
                  <a:tcPr/>
                </a:tc>
                <a:tc>
                  <a:txBody>
                    <a:bodyPr/>
                    <a:lstStyle/>
                    <a:p>
                      <a:r>
                        <a:rPr lang="en-US"/>
                        <a:t>- $16,103</a:t>
                      </a:r>
                    </a:p>
                  </a:txBody>
                  <a:tcPr/>
                </a:tc>
                <a:tc>
                  <a:txBody>
                    <a:bodyPr/>
                    <a:lstStyle/>
                    <a:p>
                      <a:r>
                        <a:rPr lang="en-US"/>
                        <a:t>- $10,623</a:t>
                      </a:r>
                    </a:p>
                  </a:txBody>
                  <a:tcPr/>
                </a:tc>
                <a:extLst>
                  <a:ext uri="{0D108BD9-81ED-4DB2-BD59-A6C34878D82A}">
                    <a16:rowId xmlns:a16="http://schemas.microsoft.com/office/drawing/2014/main" val="3313303241"/>
                  </a:ext>
                </a:extLst>
              </a:tr>
              <a:tr h="370840">
                <a:tc>
                  <a:txBody>
                    <a:bodyPr/>
                    <a:lstStyle/>
                    <a:p>
                      <a:r>
                        <a:rPr lang="en-US"/>
                        <a:t>AVG per month</a:t>
                      </a:r>
                    </a:p>
                  </a:txBody>
                  <a:tcPr/>
                </a:tc>
                <a:tc>
                  <a:txBody>
                    <a:bodyPr/>
                    <a:lstStyle/>
                    <a:p>
                      <a:r>
                        <a:rPr lang="en-US"/>
                        <a:t>+ $3,898</a:t>
                      </a:r>
                    </a:p>
                  </a:txBody>
                  <a:tcPr/>
                </a:tc>
                <a:tc>
                  <a:txBody>
                    <a:bodyPr/>
                    <a:lstStyle/>
                    <a:p>
                      <a:r>
                        <a:rPr lang="en-US"/>
                        <a:t>- $5,367</a:t>
                      </a:r>
                    </a:p>
                  </a:txBody>
                  <a:tcPr/>
                </a:tc>
                <a:tc>
                  <a:txBody>
                    <a:bodyPr/>
                    <a:lstStyle/>
                    <a:p>
                      <a:r>
                        <a:rPr lang="en-US"/>
                        <a:t>- $3,541</a:t>
                      </a:r>
                    </a:p>
                  </a:txBody>
                  <a:tcPr/>
                </a:tc>
                <a:extLst>
                  <a:ext uri="{0D108BD9-81ED-4DB2-BD59-A6C34878D82A}">
                    <a16:rowId xmlns:a16="http://schemas.microsoft.com/office/drawing/2014/main" val="1386716254"/>
                  </a:ext>
                </a:extLst>
              </a:tr>
            </a:tbl>
          </a:graphicData>
        </a:graphic>
      </p:graphicFrame>
      <p:sp>
        <p:nvSpPr>
          <p:cNvPr id="4" name="TextBox 3">
            <a:extLst>
              <a:ext uri="{FF2B5EF4-FFF2-40B4-BE49-F238E27FC236}">
                <a16:creationId xmlns:a16="http://schemas.microsoft.com/office/drawing/2014/main" id="{9ED32DF0-7413-2660-E8ED-E25362FD8294}"/>
              </a:ext>
            </a:extLst>
          </p:cNvPr>
          <p:cNvSpPr txBox="1"/>
          <p:nvPr/>
        </p:nvSpPr>
        <p:spPr>
          <a:xfrm>
            <a:off x="0" y="1018052"/>
            <a:ext cx="12192000" cy="738664"/>
          </a:xfrm>
          <a:prstGeom prst="rect">
            <a:avLst/>
          </a:prstGeom>
          <a:noFill/>
        </p:spPr>
        <p:txBody>
          <a:bodyPr wrap="square" rtlCol="0">
            <a:spAutoFit/>
          </a:bodyPr>
          <a:lstStyle/>
          <a:p>
            <a:pPr algn="ctr"/>
            <a:r>
              <a:rPr lang="en-US" b="1">
                <a:solidFill>
                  <a:schemeClr val="bg1"/>
                </a:solidFill>
                <a:latin typeface="Calibri" panose="020F0502020204030204" pitchFamily="34" charset="0"/>
                <a:ea typeface="Calibri" panose="020F0502020204030204" pitchFamily="34" charset="0"/>
                <a:cs typeface="Calibri" panose="020F0502020204030204" pitchFamily="34" charset="0"/>
              </a:rPr>
              <a:t>SAMPLE STORE / FRANKLIN VA (VAD)</a:t>
            </a:r>
            <a:br>
              <a:rPr lang="en-US" sz="1800" b="1">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800">
                <a:latin typeface="Calibri" panose="020F0502020204030204" pitchFamily="34" charset="0"/>
                <a:ea typeface="Calibri" panose="020F0502020204030204" pitchFamily="34" charset="0"/>
                <a:cs typeface="Calibri" panose="020F0502020204030204" pitchFamily="34" charset="0"/>
              </a:rPr>
              <a:t>(converted to HUB Management in the middle of 2022)</a:t>
            </a:r>
          </a:p>
        </p:txBody>
      </p:sp>
      <p:graphicFrame>
        <p:nvGraphicFramePr>
          <p:cNvPr id="6" name="Table 3">
            <a:extLst>
              <a:ext uri="{FF2B5EF4-FFF2-40B4-BE49-F238E27FC236}">
                <a16:creationId xmlns:a16="http://schemas.microsoft.com/office/drawing/2014/main" id="{D696D1A7-3098-2073-6F13-E254B4947699}"/>
              </a:ext>
            </a:extLst>
          </p:cNvPr>
          <p:cNvGraphicFramePr>
            <a:graphicFrameLocks noGrp="1"/>
          </p:cNvGraphicFramePr>
          <p:nvPr/>
        </p:nvGraphicFramePr>
        <p:xfrm>
          <a:off x="1343444" y="4142404"/>
          <a:ext cx="9505112" cy="1854200"/>
        </p:xfrm>
        <a:graphic>
          <a:graphicData uri="http://schemas.openxmlformats.org/drawingml/2006/table">
            <a:tbl>
              <a:tblPr firstRow="1" bandRow="1">
                <a:effectLst>
                  <a:outerShdw blurRad="76200" dir="13500000" sy="23000" kx="1200000" algn="br" rotWithShape="0">
                    <a:prstClr val="black">
                      <a:alpha val="20000"/>
                    </a:prstClr>
                  </a:outerShdw>
                </a:effectLst>
                <a:tableStyleId>{5C22544A-7EE6-4342-B048-85BDC9FD1C3A}</a:tableStyleId>
              </a:tblPr>
              <a:tblGrid>
                <a:gridCol w="2376278">
                  <a:extLst>
                    <a:ext uri="{9D8B030D-6E8A-4147-A177-3AD203B41FA5}">
                      <a16:colId xmlns:a16="http://schemas.microsoft.com/office/drawing/2014/main" val="1395843618"/>
                    </a:ext>
                  </a:extLst>
                </a:gridCol>
                <a:gridCol w="2376278">
                  <a:extLst>
                    <a:ext uri="{9D8B030D-6E8A-4147-A177-3AD203B41FA5}">
                      <a16:colId xmlns:a16="http://schemas.microsoft.com/office/drawing/2014/main" val="3796500377"/>
                    </a:ext>
                  </a:extLst>
                </a:gridCol>
                <a:gridCol w="2376278">
                  <a:extLst>
                    <a:ext uri="{9D8B030D-6E8A-4147-A177-3AD203B41FA5}">
                      <a16:colId xmlns:a16="http://schemas.microsoft.com/office/drawing/2014/main" val="1593736117"/>
                    </a:ext>
                  </a:extLst>
                </a:gridCol>
                <a:gridCol w="2376278">
                  <a:extLst>
                    <a:ext uri="{9D8B030D-6E8A-4147-A177-3AD203B41FA5}">
                      <a16:colId xmlns:a16="http://schemas.microsoft.com/office/drawing/2014/main" val="3918755258"/>
                    </a:ext>
                  </a:extLst>
                </a:gridCol>
              </a:tblGrid>
              <a:tr h="370840">
                <a:tc>
                  <a:txBody>
                    <a:bodyPr/>
                    <a:lstStyle/>
                    <a:p>
                      <a:endParaRPr lang="en-US"/>
                    </a:p>
                  </a:txBody>
                  <a:tcPr/>
                </a:tc>
                <a:tc>
                  <a:txBody>
                    <a:bodyPr/>
                    <a:lstStyle/>
                    <a:p>
                      <a:r>
                        <a:rPr lang="en-US"/>
                        <a:t>Unit Occupancy</a:t>
                      </a:r>
                    </a:p>
                  </a:txBody>
                  <a:tcPr/>
                </a:tc>
                <a:tc>
                  <a:txBody>
                    <a:bodyPr/>
                    <a:lstStyle/>
                    <a:p>
                      <a:r>
                        <a:rPr lang="en-US"/>
                        <a:t>Area Occupancy</a:t>
                      </a:r>
                    </a:p>
                  </a:txBody>
                  <a:tcPr/>
                </a:tc>
                <a:tc>
                  <a:txBody>
                    <a:bodyPr/>
                    <a:lstStyle/>
                    <a:p>
                      <a:r>
                        <a:rPr lang="en-US"/>
                        <a:t>Economic Occupancy</a:t>
                      </a:r>
                    </a:p>
                  </a:txBody>
                  <a:tcPr/>
                </a:tc>
                <a:extLst>
                  <a:ext uri="{0D108BD9-81ED-4DB2-BD59-A6C34878D82A}">
                    <a16:rowId xmlns:a16="http://schemas.microsoft.com/office/drawing/2014/main" val="1731136109"/>
                  </a:ext>
                </a:extLst>
              </a:tr>
              <a:tr h="370840">
                <a:tc>
                  <a:txBody>
                    <a:bodyPr/>
                    <a:lstStyle/>
                    <a:p>
                      <a:r>
                        <a:rPr lang="en-US"/>
                        <a:t>End Q4 2021 </a:t>
                      </a:r>
                      <a:r>
                        <a:rPr kumimoji="0" lang="en-US" sz="1400" b="0" i="0" u="none" strike="noStrike" kern="1200" cap="none" spc="0" normalizeH="0" baseline="0" noProof="0">
                          <a:ln>
                            <a:noFill/>
                          </a:ln>
                          <a:solidFill>
                            <a:srgbClr val="5F5F5F"/>
                          </a:solidFill>
                          <a:effectLst/>
                          <a:uLnTx/>
                          <a:uFillTx/>
                          <a:latin typeface="Calibri" panose="020F0502020204030204" pitchFamily="34" charset="0"/>
                          <a:ea typeface="Calibri" panose="020F0502020204030204" pitchFamily="34" charset="0"/>
                          <a:cs typeface="Calibri" panose="020F0502020204030204" pitchFamily="34" charset="0"/>
                        </a:rPr>
                        <a:t>(ACTUALS)</a:t>
                      </a:r>
                      <a:endParaRPr lang="en-US"/>
                    </a:p>
                  </a:txBody>
                  <a:tcPr/>
                </a:tc>
                <a:tc>
                  <a:txBody>
                    <a:bodyPr/>
                    <a:lstStyle/>
                    <a:p>
                      <a:r>
                        <a:rPr lang="en-US"/>
                        <a:t>99.5%</a:t>
                      </a:r>
                    </a:p>
                  </a:txBody>
                  <a:tcPr/>
                </a:tc>
                <a:tc>
                  <a:txBody>
                    <a:bodyPr/>
                    <a:lstStyle/>
                    <a:p>
                      <a:r>
                        <a:rPr lang="en-US"/>
                        <a:t>99.6%</a:t>
                      </a:r>
                    </a:p>
                  </a:txBody>
                  <a:tcPr/>
                </a:tc>
                <a:tc>
                  <a:txBody>
                    <a:bodyPr/>
                    <a:lstStyle/>
                    <a:p>
                      <a:r>
                        <a:rPr lang="en-US"/>
                        <a:t>98.3%</a:t>
                      </a:r>
                    </a:p>
                  </a:txBody>
                  <a:tcPr/>
                </a:tc>
                <a:extLst>
                  <a:ext uri="{0D108BD9-81ED-4DB2-BD59-A6C34878D82A}">
                    <a16:rowId xmlns:a16="http://schemas.microsoft.com/office/drawing/2014/main" val="3576433990"/>
                  </a:ext>
                </a:extLst>
              </a:tr>
              <a:tr h="370840">
                <a:tc>
                  <a:txBody>
                    <a:bodyPr/>
                    <a:lstStyle/>
                    <a:p>
                      <a:r>
                        <a:rPr lang="en-US"/>
                        <a:t>End Q4 2022 </a:t>
                      </a:r>
                      <a:r>
                        <a:rPr kumimoji="0" lang="en-US" sz="1400" b="0" i="0" u="none" strike="noStrike" kern="1200" cap="none" spc="0" normalizeH="0" baseline="0" noProof="0">
                          <a:ln>
                            <a:noFill/>
                          </a:ln>
                          <a:solidFill>
                            <a:srgbClr val="5F5F5F"/>
                          </a:solidFill>
                          <a:effectLst/>
                          <a:uLnTx/>
                          <a:uFillTx/>
                          <a:latin typeface="Calibri" panose="020F0502020204030204" pitchFamily="34" charset="0"/>
                          <a:ea typeface="Calibri" panose="020F0502020204030204" pitchFamily="34" charset="0"/>
                          <a:cs typeface="Calibri" panose="020F0502020204030204" pitchFamily="34" charset="0"/>
                        </a:rPr>
                        <a:t>(ACTUALS)</a:t>
                      </a:r>
                      <a:endParaRPr lang="en-US"/>
                    </a:p>
                  </a:txBody>
                  <a:tcPr/>
                </a:tc>
                <a:tc>
                  <a:txBody>
                    <a:bodyPr/>
                    <a:lstStyle/>
                    <a:p>
                      <a:r>
                        <a:rPr lang="en-US"/>
                        <a:t>93.8%</a:t>
                      </a:r>
                    </a:p>
                  </a:txBody>
                  <a:tcPr/>
                </a:tc>
                <a:tc>
                  <a:txBody>
                    <a:bodyPr/>
                    <a:lstStyle/>
                    <a:p>
                      <a:r>
                        <a:rPr lang="en-US"/>
                        <a:t>93.0%</a:t>
                      </a:r>
                    </a:p>
                  </a:txBody>
                  <a:tcPr/>
                </a:tc>
                <a:tc>
                  <a:txBody>
                    <a:bodyPr/>
                    <a:lstStyle/>
                    <a:p>
                      <a:r>
                        <a:rPr lang="en-US"/>
                        <a:t>102.7%</a:t>
                      </a:r>
                    </a:p>
                  </a:txBody>
                  <a:tcPr/>
                </a:tc>
                <a:extLst>
                  <a:ext uri="{0D108BD9-81ED-4DB2-BD59-A6C34878D82A}">
                    <a16:rowId xmlns:a16="http://schemas.microsoft.com/office/drawing/2014/main" val="1005000704"/>
                  </a:ext>
                </a:extLst>
              </a:tr>
              <a:tr h="370840">
                <a:tc>
                  <a:txBody>
                    <a:bodyPr/>
                    <a:lstStyle/>
                    <a:p>
                      <a:r>
                        <a:rPr lang="en-US"/>
                        <a:t>HUB effect</a:t>
                      </a:r>
                    </a:p>
                  </a:txBody>
                  <a:tcPr/>
                </a:tc>
                <a:tc>
                  <a:txBody>
                    <a:bodyPr/>
                    <a:lstStyle/>
                    <a:p>
                      <a:r>
                        <a:rPr lang="en-US"/>
                        <a:t>- 5.7</a:t>
                      </a:r>
                    </a:p>
                  </a:txBody>
                  <a:tcPr/>
                </a:tc>
                <a:tc>
                  <a:txBody>
                    <a:bodyPr/>
                    <a:lstStyle/>
                    <a:p>
                      <a:r>
                        <a:rPr lang="en-US"/>
                        <a:t>- 6.6</a:t>
                      </a:r>
                    </a:p>
                  </a:txBody>
                  <a:tcPr/>
                </a:tc>
                <a:tc>
                  <a:txBody>
                    <a:bodyPr/>
                    <a:lstStyle/>
                    <a:p>
                      <a:r>
                        <a:rPr lang="en-US"/>
                        <a:t>+ 4.4</a:t>
                      </a:r>
                    </a:p>
                  </a:txBody>
                  <a:tcPr/>
                </a:tc>
                <a:extLst>
                  <a:ext uri="{0D108BD9-81ED-4DB2-BD59-A6C34878D82A}">
                    <a16:rowId xmlns:a16="http://schemas.microsoft.com/office/drawing/2014/main" val="3313303241"/>
                  </a:ext>
                </a:extLst>
              </a:tr>
              <a:tr h="370840">
                <a:tc gridSpan="4">
                  <a:txBody>
                    <a:bodyPr/>
                    <a:lstStyle/>
                    <a:p>
                      <a:pPr algn="ctr"/>
                      <a:r>
                        <a:rPr lang="en-US">
                          <a:latin typeface="Calibri" panose="020F0502020204030204" pitchFamily="34" charset="0"/>
                          <a:ea typeface="Calibri" panose="020F0502020204030204" pitchFamily="34" charset="0"/>
                          <a:cs typeface="Calibri" panose="020F0502020204030204" pitchFamily="34" charset="0"/>
                        </a:rPr>
                        <a:t>Result: A healthier (albeit decreased) occupancy while greatly improving revenue</a:t>
                      </a:r>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86716254"/>
                  </a:ext>
                </a:extLst>
              </a:tr>
            </a:tbl>
          </a:graphicData>
        </a:graphic>
      </p:graphicFrame>
      <p:sp>
        <p:nvSpPr>
          <p:cNvPr id="7" name="TextBox 6">
            <a:extLst>
              <a:ext uri="{FF2B5EF4-FFF2-40B4-BE49-F238E27FC236}">
                <a16:creationId xmlns:a16="http://schemas.microsoft.com/office/drawing/2014/main" id="{636334DD-30F3-A244-CAFD-81D97A3A827A}"/>
              </a:ext>
            </a:extLst>
          </p:cNvPr>
          <p:cNvSpPr txBox="1"/>
          <p:nvPr/>
        </p:nvSpPr>
        <p:spPr>
          <a:xfrm>
            <a:off x="4545319" y="6264159"/>
            <a:ext cx="3101362" cy="276999"/>
          </a:xfrm>
          <a:prstGeom prst="rect">
            <a:avLst/>
          </a:prstGeom>
          <a:noFill/>
        </p:spPr>
        <p:txBody>
          <a:bodyPr wrap="none" rtlCol="0">
            <a:spAutoFit/>
          </a:bodyPr>
          <a:lstStyle/>
          <a:p>
            <a:r>
              <a:rPr lang="en-US" sz="1200">
                <a:latin typeface="Calibri" panose="020F0502020204030204" pitchFamily="34" charset="0"/>
                <a:ea typeface="Calibri" panose="020F0502020204030204" pitchFamily="34" charset="0"/>
                <a:cs typeface="Calibri" panose="020F0502020204030204" pitchFamily="34" charset="0"/>
              </a:rPr>
              <a:t>* includes all expenses except real estate taxes</a:t>
            </a:r>
          </a:p>
        </p:txBody>
      </p:sp>
      <p:sp>
        <p:nvSpPr>
          <p:cNvPr id="8" name="Oval 7">
            <a:extLst>
              <a:ext uri="{FF2B5EF4-FFF2-40B4-BE49-F238E27FC236}">
                <a16:creationId xmlns:a16="http://schemas.microsoft.com/office/drawing/2014/main" id="{60314177-C9E5-A23A-AD68-09803784AA80}"/>
              </a:ext>
            </a:extLst>
          </p:cNvPr>
          <p:cNvSpPr/>
          <p:nvPr/>
        </p:nvSpPr>
        <p:spPr bwMode="auto">
          <a:xfrm>
            <a:off x="7646681" y="1828799"/>
            <a:ext cx="2825787" cy="2191109"/>
          </a:xfrm>
          <a:prstGeom prst="ellipse">
            <a:avLst/>
          </a:prstGeom>
          <a:noFill/>
          <a:ln>
            <a:solidFill>
              <a:schemeClr val="bg1"/>
            </a:solidFill>
          </a:ln>
        </p:spPr>
        <p:style>
          <a:lnRef idx="2">
            <a:schemeClr val="accent4"/>
          </a:lnRef>
          <a:fillRef idx="1">
            <a:schemeClr val="lt1"/>
          </a:fillRef>
          <a:effectRef idx="0">
            <a:schemeClr val="accent4"/>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1"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3036543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B69489E8-135D-DFBF-330D-C2F7D271083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878" y="25878"/>
            <a:ext cx="1704986" cy="724619"/>
          </a:xfrm>
          <a:prstGeom prst="rect">
            <a:avLst/>
          </a:prstGeom>
        </p:spPr>
      </p:pic>
      <p:sp>
        <p:nvSpPr>
          <p:cNvPr id="4" name="TextBox 3">
            <a:extLst>
              <a:ext uri="{FF2B5EF4-FFF2-40B4-BE49-F238E27FC236}">
                <a16:creationId xmlns:a16="http://schemas.microsoft.com/office/drawing/2014/main" id="{9ED32DF0-7413-2660-E8ED-E25362FD8294}"/>
              </a:ext>
            </a:extLst>
          </p:cNvPr>
          <p:cNvSpPr txBox="1"/>
          <p:nvPr/>
        </p:nvSpPr>
        <p:spPr>
          <a:xfrm>
            <a:off x="0" y="53065"/>
            <a:ext cx="12192000" cy="738664"/>
          </a:xfrm>
          <a:prstGeom prst="rect">
            <a:avLst/>
          </a:prstGeom>
          <a:noFill/>
        </p:spPr>
        <p:txBody>
          <a:bodyPr wrap="square" rtlCol="0">
            <a:spAutoFit/>
          </a:bodyPr>
          <a:lstStyle/>
          <a:p>
            <a:pPr algn="ctr"/>
            <a:r>
              <a:rPr lang="en-US" b="1">
                <a:solidFill>
                  <a:schemeClr val="bg1"/>
                </a:solidFill>
                <a:latin typeface="Calibri" panose="020F0502020204030204" pitchFamily="34" charset="0"/>
                <a:ea typeface="Calibri" panose="020F0502020204030204" pitchFamily="34" charset="0"/>
                <a:cs typeface="Calibri" panose="020F0502020204030204" pitchFamily="34" charset="0"/>
              </a:rPr>
              <a:t>SAMPLE STORE / FRANKLIN VA (VAD) - REPUTATION </a:t>
            </a:r>
            <a:br>
              <a:rPr lang="en-US" sz="1800" b="1">
                <a:solidFill>
                  <a:schemeClr val="bg1"/>
                </a:solidFill>
                <a:latin typeface="Calibri" panose="020F0502020204030204" pitchFamily="34" charset="0"/>
                <a:ea typeface="Calibri" panose="020F0502020204030204" pitchFamily="34" charset="0"/>
                <a:cs typeface="Calibri" panose="020F0502020204030204" pitchFamily="34" charset="0"/>
              </a:rPr>
            </a:br>
            <a:r>
              <a:rPr lang="en-US" sz="1800">
                <a:latin typeface="Calibri" panose="020F0502020204030204" pitchFamily="34" charset="0"/>
                <a:ea typeface="Calibri" panose="020F0502020204030204" pitchFamily="34" charset="0"/>
                <a:cs typeface="Calibri" panose="020F0502020204030204" pitchFamily="34" charset="0"/>
              </a:rPr>
              <a:t>(converted to HUB Management in the middle of 2022)</a:t>
            </a:r>
          </a:p>
        </p:txBody>
      </p:sp>
      <p:pic>
        <p:nvPicPr>
          <p:cNvPr id="12292" name="Picture 4">
            <a:extLst>
              <a:ext uri="{FF2B5EF4-FFF2-40B4-BE49-F238E27FC236}">
                <a16:creationId xmlns:a16="http://schemas.microsoft.com/office/drawing/2014/main" id="{907DD150-B85D-8019-B04E-F6D80A9412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02" t="26509" r="48010" b="2532"/>
          <a:stretch/>
        </p:blipFill>
        <p:spPr bwMode="auto">
          <a:xfrm>
            <a:off x="4905373" y="3915789"/>
            <a:ext cx="5952227" cy="26224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2290" name="Picture 2">
            <a:extLst>
              <a:ext uri="{FF2B5EF4-FFF2-40B4-BE49-F238E27FC236}">
                <a16:creationId xmlns:a16="http://schemas.microsoft.com/office/drawing/2014/main" id="{AEB29309-3E45-8460-3359-228BDB4B65B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71" t="26241" r="48525" b="3164"/>
          <a:stretch/>
        </p:blipFill>
        <p:spPr bwMode="auto">
          <a:xfrm>
            <a:off x="790584" y="1309990"/>
            <a:ext cx="5863088" cy="262243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011749CB-D05D-8C6A-1747-6EA180B5C852}"/>
                  </a:ext>
                </a:extLst>
              </p14:cNvPr>
              <p14:cNvContentPartPr/>
              <p14:nvPr/>
            </p14:nvContentPartPr>
            <p14:xfrm>
              <a:off x="3790659" y="1493779"/>
              <a:ext cx="1051560" cy="18720"/>
            </p14:xfrm>
          </p:contentPart>
        </mc:Choice>
        <mc:Fallback xmlns="">
          <p:pic>
            <p:nvPicPr>
              <p:cNvPr id="9" name="Ink 8">
                <a:extLst>
                  <a:ext uri="{FF2B5EF4-FFF2-40B4-BE49-F238E27FC236}">
                    <a16:creationId xmlns:a16="http://schemas.microsoft.com/office/drawing/2014/main" id="{011749CB-D05D-8C6A-1747-6EA180B5C852}"/>
                  </a:ext>
                </a:extLst>
              </p:cNvPr>
              <p:cNvPicPr/>
              <p:nvPr/>
            </p:nvPicPr>
            <p:blipFill>
              <a:blip r:embed="rId6"/>
              <a:stretch>
                <a:fillRect/>
              </a:stretch>
            </p:blipFill>
            <p:spPr>
              <a:xfrm>
                <a:off x="3736659" y="1387817"/>
                <a:ext cx="1159200" cy="230291"/>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D54F0304-7FE3-8579-614B-44EFD49647E3}"/>
                  </a:ext>
                </a:extLst>
              </p14:cNvPr>
              <p14:cNvContentPartPr/>
              <p14:nvPr/>
            </p14:nvContentPartPr>
            <p14:xfrm>
              <a:off x="7881486" y="4054340"/>
              <a:ext cx="1126080" cy="44640"/>
            </p14:xfrm>
          </p:contentPart>
        </mc:Choice>
        <mc:Fallback xmlns="">
          <p:pic>
            <p:nvPicPr>
              <p:cNvPr id="10" name="Ink 9">
                <a:extLst>
                  <a:ext uri="{FF2B5EF4-FFF2-40B4-BE49-F238E27FC236}">
                    <a16:creationId xmlns:a16="http://schemas.microsoft.com/office/drawing/2014/main" id="{D54F0304-7FE3-8579-614B-44EFD49647E3}"/>
                  </a:ext>
                </a:extLst>
              </p:cNvPr>
              <p:cNvPicPr/>
              <p:nvPr/>
            </p:nvPicPr>
            <p:blipFill>
              <a:blip r:embed="rId8"/>
              <a:stretch>
                <a:fillRect/>
              </a:stretch>
            </p:blipFill>
            <p:spPr>
              <a:xfrm>
                <a:off x="7827486" y="3947204"/>
                <a:ext cx="1233720" cy="258555"/>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6580D5F7-DAFD-DA87-E83A-7898B147E2AC}"/>
                  </a:ext>
                </a:extLst>
              </p14:cNvPr>
              <p14:cNvContentPartPr/>
              <p14:nvPr/>
            </p14:nvContentPartPr>
            <p14:xfrm>
              <a:off x="3752305" y="3770490"/>
              <a:ext cx="223920" cy="9000"/>
            </p14:xfrm>
          </p:contentPart>
        </mc:Choice>
        <mc:Fallback xmlns="">
          <p:pic>
            <p:nvPicPr>
              <p:cNvPr id="11" name="Ink 10">
                <a:extLst>
                  <a:ext uri="{FF2B5EF4-FFF2-40B4-BE49-F238E27FC236}">
                    <a16:creationId xmlns:a16="http://schemas.microsoft.com/office/drawing/2014/main" id="{6580D5F7-DAFD-DA87-E83A-7898B147E2AC}"/>
                  </a:ext>
                </a:extLst>
              </p:cNvPr>
              <p:cNvPicPr/>
              <p:nvPr/>
            </p:nvPicPr>
            <p:blipFill>
              <a:blip r:embed="rId10"/>
              <a:stretch>
                <a:fillRect/>
              </a:stretch>
            </p:blipFill>
            <p:spPr>
              <a:xfrm>
                <a:off x="3698218" y="3662490"/>
                <a:ext cx="331733"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FFFC4E58-CF87-BB26-48D7-21037F5A29F3}"/>
                  </a:ext>
                </a:extLst>
              </p14:cNvPr>
              <p14:cNvContentPartPr/>
              <p14:nvPr/>
            </p14:nvContentPartPr>
            <p14:xfrm>
              <a:off x="983879" y="3700667"/>
              <a:ext cx="853200" cy="37080"/>
            </p14:xfrm>
          </p:contentPart>
        </mc:Choice>
        <mc:Fallback xmlns="">
          <p:pic>
            <p:nvPicPr>
              <p:cNvPr id="12" name="Ink 11">
                <a:extLst>
                  <a:ext uri="{FF2B5EF4-FFF2-40B4-BE49-F238E27FC236}">
                    <a16:creationId xmlns:a16="http://schemas.microsoft.com/office/drawing/2014/main" id="{FFFC4E58-CF87-BB26-48D7-21037F5A29F3}"/>
                  </a:ext>
                </a:extLst>
              </p:cNvPr>
              <p:cNvPicPr/>
              <p:nvPr/>
            </p:nvPicPr>
            <p:blipFill>
              <a:blip r:embed="rId12"/>
              <a:stretch>
                <a:fillRect/>
              </a:stretch>
            </p:blipFill>
            <p:spPr>
              <a:xfrm>
                <a:off x="929879" y="3592667"/>
                <a:ext cx="96084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E463F062-5C96-19FE-580D-2C5367E787C6}"/>
                  </a:ext>
                </a:extLst>
              </p14:cNvPr>
              <p14:cNvContentPartPr/>
              <p14:nvPr/>
            </p14:nvContentPartPr>
            <p14:xfrm>
              <a:off x="5019487" y="6306969"/>
              <a:ext cx="965520" cy="27720"/>
            </p14:xfrm>
          </p:contentPart>
        </mc:Choice>
        <mc:Fallback xmlns="">
          <p:pic>
            <p:nvPicPr>
              <p:cNvPr id="13" name="Ink 12">
                <a:extLst>
                  <a:ext uri="{FF2B5EF4-FFF2-40B4-BE49-F238E27FC236}">
                    <a16:creationId xmlns:a16="http://schemas.microsoft.com/office/drawing/2014/main" id="{E463F062-5C96-19FE-580D-2C5367E787C6}"/>
                  </a:ext>
                </a:extLst>
              </p:cNvPr>
              <p:cNvPicPr/>
              <p:nvPr/>
            </p:nvPicPr>
            <p:blipFill>
              <a:blip r:embed="rId14"/>
              <a:stretch>
                <a:fillRect/>
              </a:stretch>
            </p:blipFill>
            <p:spPr>
              <a:xfrm>
                <a:off x="4965487" y="6198969"/>
                <a:ext cx="1073160" cy="2433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F05B2739-4A73-8C00-F1B6-40A414D97EFE}"/>
                  </a:ext>
                </a:extLst>
              </p14:cNvPr>
              <p14:cNvContentPartPr/>
              <p14:nvPr/>
            </p14:nvContentPartPr>
            <p14:xfrm>
              <a:off x="7835297" y="6334689"/>
              <a:ext cx="231840" cy="18000"/>
            </p14:xfrm>
          </p:contentPart>
        </mc:Choice>
        <mc:Fallback xmlns="">
          <p:pic>
            <p:nvPicPr>
              <p:cNvPr id="14" name="Ink 13">
                <a:extLst>
                  <a:ext uri="{FF2B5EF4-FFF2-40B4-BE49-F238E27FC236}">
                    <a16:creationId xmlns:a16="http://schemas.microsoft.com/office/drawing/2014/main" id="{F05B2739-4A73-8C00-F1B6-40A414D97EFE}"/>
                  </a:ext>
                </a:extLst>
              </p:cNvPr>
              <p:cNvPicPr/>
              <p:nvPr/>
            </p:nvPicPr>
            <p:blipFill>
              <a:blip r:embed="rId16"/>
              <a:stretch>
                <a:fillRect/>
              </a:stretch>
            </p:blipFill>
            <p:spPr>
              <a:xfrm>
                <a:off x="7781297" y="6226689"/>
                <a:ext cx="3394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1A6AA506-9C13-74AD-47C9-ED8CC4834E6F}"/>
                  </a:ext>
                </a:extLst>
              </p14:cNvPr>
              <p14:cNvContentPartPr/>
              <p14:nvPr/>
            </p14:nvContentPartPr>
            <p14:xfrm>
              <a:off x="7828641" y="4467953"/>
              <a:ext cx="326880" cy="18720"/>
            </p14:xfrm>
          </p:contentPart>
        </mc:Choice>
        <mc:Fallback xmlns="">
          <p:pic>
            <p:nvPicPr>
              <p:cNvPr id="15" name="Ink 14">
                <a:extLst>
                  <a:ext uri="{FF2B5EF4-FFF2-40B4-BE49-F238E27FC236}">
                    <a16:creationId xmlns:a16="http://schemas.microsoft.com/office/drawing/2014/main" id="{1A6AA506-9C13-74AD-47C9-ED8CC4834E6F}"/>
                  </a:ext>
                </a:extLst>
              </p:cNvPr>
              <p:cNvPicPr/>
              <p:nvPr/>
            </p:nvPicPr>
            <p:blipFill>
              <a:blip r:embed="rId18"/>
              <a:stretch>
                <a:fillRect/>
              </a:stretch>
            </p:blipFill>
            <p:spPr>
              <a:xfrm>
                <a:off x="7774700" y="4361991"/>
                <a:ext cx="434402" cy="230291"/>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A9D97B73-8938-85B6-1845-736B20AD5BB8}"/>
                  </a:ext>
                </a:extLst>
              </p14:cNvPr>
              <p14:cNvContentPartPr/>
              <p14:nvPr/>
            </p14:nvContentPartPr>
            <p14:xfrm>
              <a:off x="3752305" y="1900220"/>
              <a:ext cx="421920" cy="9000"/>
            </p14:xfrm>
          </p:contentPart>
        </mc:Choice>
        <mc:Fallback xmlns="">
          <p:pic>
            <p:nvPicPr>
              <p:cNvPr id="16" name="Ink 15">
                <a:extLst>
                  <a:ext uri="{FF2B5EF4-FFF2-40B4-BE49-F238E27FC236}">
                    <a16:creationId xmlns:a16="http://schemas.microsoft.com/office/drawing/2014/main" id="{A9D97B73-8938-85B6-1845-736B20AD5BB8}"/>
                  </a:ext>
                </a:extLst>
              </p:cNvPr>
              <p:cNvPicPr/>
              <p:nvPr/>
            </p:nvPicPr>
            <p:blipFill>
              <a:blip r:embed="rId20"/>
              <a:stretch>
                <a:fillRect/>
              </a:stretch>
            </p:blipFill>
            <p:spPr>
              <a:xfrm>
                <a:off x="3698305" y="1792220"/>
                <a:ext cx="5295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6F57D418-674C-5796-FB4B-BCF24A65FC4C}"/>
                  </a:ext>
                </a:extLst>
              </p14:cNvPr>
              <p14:cNvContentPartPr/>
              <p14:nvPr/>
            </p14:nvContentPartPr>
            <p14:xfrm>
              <a:off x="1008069" y="1851145"/>
              <a:ext cx="861840" cy="52560"/>
            </p14:xfrm>
          </p:contentPart>
        </mc:Choice>
        <mc:Fallback xmlns="">
          <p:pic>
            <p:nvPicPr>
              <p:cNvPr id="19" name="Ink 18">
                <a:extLst>
                  <a:ext uri="{FF2B5EF4-FFF2-40B4-BE49-F238E27FC236}">
                    <a16:creationId xmlns:a16="http://schemas.microsoft.com/office/drawing/2014/main" id="{6F57D418-674C-5796-FB4B-BCF24A65FC4C}"/>
                  </a:ext>
                </a:extLst>
              </p:cNvPr>
              <p:cNvPicPr/>
              <p:nvPr/>
            </p:nvPicPr>
            <p:blipFill>
              <a:blip r:embed="rId22"/>
              <a:stretch>
                <a:fillRect/>
              </a:stretch>
            </p:blipFill>
            <p:spPr>
              <a:xfrm>
                <a:off x="954069" y="1743145"/>
                <a:ext cx="969480" cy="2682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A610FC5C-DD1D-6483-3BB0-6060F418C942}"/>
                  </a:ext>
                </a:extLst>
              </p14:cNvPr>
              <p14:cNvContentPartPr/>
              <p14:nvPr/>
            </p14:nvContentPartPr>
            <p14:xfrm>
              <a:off x="5019487" y="4460033"/>
              <a:ext cx="870480" cy="53280"/>
            </p14:xfrm>
          </p:contentPart>
        </mc:Choice>
        <mc:Fallback xmlns="">
          <p:pic>
            <p:nvPicPr>
              <p:cNvPr id="20" name="Ink 19">
                <a:extLst>
                  <a:ext uri="{FF2B5EF4-FFF2-40B4-BE49-F238E27FC236}">
                    <a16:creationId xmlns:a16="http://schemas.microsoft.com/office/drawing/2014/main" id="{A610FC5C-DD1D-6483-3BB0-6060F418C942}"/>
                  </a:ext>
                </a:extLst>
              </p:cNvPr>
              <p:cNvPicPr/>
              <p:nvPr/>
            </p:nvPicPr>
            <p:blipFill>
              <a:blip r:embed="rId24"/>
              <a:stretch>
                <a:fillRect/>
              </a:stretch>
            </p:blipFill>
            <p:spPr>
              <a:xfrm>
                <a:off x="4965487" y="4352033"/>
                <a:ext cx="978120" cy="268920"/>
              </a:xfrm>
              <a:prstGeom prst="rect">
                <a:avLst/>
              </a:prstGeom>
            </p:spPr>
          </p:pic>
        </mc:Fallback>
      </mc:AlternateContent>
      <p:sp>
        <p:nvSpPr>
          <p:cNvPr id="21" name="TextBox 20">
            <a:extLst>
              <a:ext uri="{FF2B5EF4-FFF2-40B4-BE49-F238E27FC236}">
                <a16:creationId xmlns:a16="http://schemas.microsoft.com/office/drawing/2014/main" id="{14C140A6-61AF-93BC-A4B7-C23C1C0643F9}"/>
              </a:ext>
            </a:extLst>
          </p:cNvPr>
          <p:cNvSpPr txBox="1"/>
          <p:nvPr/>
        </p:nvSpPr>
        <p:spPr>
          <a:xfrm>
            <a:off x="713174" y="906728"/>
            <a:ext cx="1880559" cy="461665"/>
          </a:xfrm>
          <a:prstGeom prst="rect">
            <a:avLst/>
          </a:prstGeom>
          <a:noFill/>
        </p:spPr>
        <p:txBody>
          <a:bodyPr wrap="square" rtlCol="0">
            <a:spAutoFit/>
          </a:bodyPr>
          <a:lstStyle/>
          <a:p>
            <a:r>
              <a:rPr lang="en-US" i="1">
                <a:solidFill>
                  <a:schemeClr val="bg1"/>
                </a:solidFill>
                <a:latin typeface="Calibri" panose="020F0502020204030204" pitchFamily="34" charset="0"/>
                <a:ea typeface="Calibri" panose="020F0502020204030204" pitchFamily="34" charset="0"/>
                <a:cs typeface="Calibri" panose="020F0502020204030204" pitchFamily="34" charset="0"/>
              </a:rPr>
              <a:t>BEFORE HUB</a:t>
            </a:r>
          </a:p>
        </p:txBody>
      </p:sp>
      <p:sp>
        <p:nvSpPr>
          <p:cNvPr id="22" name="TextBox 21">
            <a:extLst>
              <a:ext uri="{FF2B5EF4-FFF2-40B4-BE49-F238E27FC236}">
                <a16:creationId xmlns:a16="http://schemas.microsoft.com/office/drawing/2014/main" id="{EDCC19C8-BD88-1FD1-65DA-99791BFC82FC}"/>
              </a:ext>
            </a:extLst>
          </p:cNvPr>
          <p:cNvSpPr txBox="1"/>
          <p:nvPr/>
        </p:nvSpPr>
        <p:spPr>
          <a:xfrm>
            <a:off x="8678174" y="3454534"/>
            <a:ext cx="2209951" cy="461665"/>
          </a:xfrm>
          <a:prstGeom prst="rect">
            <a:avLst/>
          </a:prstGeom>
          <a:noFill/>
        </p:spPr>
        <p:txBody>
          <a:bodyPr wrap="square" rtlCol="0">
            <a:spAutoFit/>
          </a:bodyPr>
          <a:lstStyle/>
          <a:p>
            <a:pPr algn="r"/>
            <a:r>
              <a:rPr lang="en-US" i="1">
                <a:solidFill>
                  <a:schemeClr val="bg1"/>
                </a:solidFill>
                <a:latin typeface="Calibri" panose="020F0502020204030204" pitchFamily="34" charset="0"/>
                <a:ea typeface="Calibri" panose="020F0502020204030204" pitchFamily="34" charset="0"/>
                <a:cs typeface="Calibri" panose="020F0502020204030204" pitchFamily="34" charset="0"/>
              </a:rPr>
              <a:t>AFTER HUB</a:t>
            </a:r>
          </a:p>
        </p:txBody>
      </p:sp>
      <p:cxnSp>
        <p:nvCxnSpPr>
          <p:cNvPr id="31" name="Connector: Curved 30">
            <a:extLst>
              <a:ext uri="{FF2B5EF4-FFF2-40B4-BE49-F238E27FC236}">
                <a16:creationId xmlns:a16="http://schemas.microsoft.com/office/drawing/2014/main" id="{8BB8B03D-1F3A-10C8-BEC6-14D2600A5653}"/>
              </a:ext>
            </a:extLst>
          </p:cNvPr>
          <p:cNvCxnSpPr>
            <a:cxnSpLocks/>
          </p:cNvCxnSpPr>
          <p:nvPr/>
        </p:nvCxnSpPr>
        <p:spPr bwMode="auto">
          <a:xfrm rot="10800000" flipV="1">
            <a:off x="7823802" y="3658286"/>
            <a:ext cx="1587254" cy="421047"/>
          </a:xfrm>
          <a:prstGeom prst="curvedConnector3">
            <a:avLst>
              <a:gd name="adj1" fmla="val 167352"/>
            </a:avLst>
          </a:prstGeom>
          <a:ln>
            <a:headEnd type="triangle"/>
            <a:tailEnd type="triangle"/>
          </a:ln>
        </p:spPr>
        <p:style>
          <a:lnRef idx="3">
            <a:schemeClr val="accent1"/>
          </a:lnRef>
          <a:fillRef idx="0">
            <a:schemeClr val="accent1"/>
          </a:fillRef>
          <a:effectRef idx="2">
            <a:schemeClr val="accent1"/>
          </a:effectRef>
          <a:fontRef idx="minor">
            <a:schemeClr val="tx1"/>
          </a:fontRef>
        </p:style>
      </p:cxnSp>
      <p:cxnSp>
        <p:nvCxnSpPr>
          <p:cNvPr id="12352" name="Connector: Curved 12351">
            <a:extLst>
              <a:ext uri="{FF2B5EF4-FFF2-40B4-BE49-F238E27FC236}">
                <a16:creationId xmlns:a16="http://schemas.microsoft.com/office/drawing/2014/main" id="{E29187AC-6879-FF58-C7B2-AED5B9E29271}"/>
              </a:ext>
            </a:extLst>
          </p:cNvPr>
          <p:cNvCxnSpPr>
            <a:cxnSpLocks/>
            <a:stCxn id="21" idx="3"/>
          </p:cNvCxnSpPr>
          <p:nvPr/>
        </p:nvCxnSpPr>
        <p:spPr bwMode="auto">
          <a:xfrm>
            <a:off x="2593733" y="1137561"/>
            <a:ext cx="2425754" cy="356218"/>
          </a:xfrm>
          <a:prstGeom prst="curvedConnector3">
            <a:avLst>
              <a:gd name="adj1" fmla="val 121801"/>
            </a:avLst>
          </a:prstGeom>
          <a:ln>
            <a:headEnd type="triangle"/>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56088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1000"/>
                                        <p:tgtEl>
                                          <p:spTgt spid="12290"/>
                                        </p:tgtEl>
                                      </p:cBhvr>
                                    </p:animEffect>
                                    <p:anim calcmode="lin" valueType="num">
                                      <p:cBhvr>
                                        <p:cTn id="8" dur="1000" fill="hold"/>
                                        <p:tgtEl>
                                          <p:spTgt spid="12290"/>
                                        </p:tgtEl>
                                        <p:attrNameLst>
                                          <p:attrName>ppt_x</p:attrName>
                                        </p:attrNameLst>
                                      </p:cBhvr>
                                      <p:tavLst>
                                        <p:tav tm="0">
                                          <p:val>
                                            <p:strVal val="#ppt_x"/>
                                          </p:val>
                                        </p:tav>
                                        <p:tav tm="100000">
                                          <p:val>
                                            <p:strVal val="#ppt_x"/>
                                          </p:val>
                                        </p:tav>
                                      </p:tavLst>
                                    </p:anim>
                                    <p:anim calcmode="lin" valueType="num">
                                      <p:cBhvr>
                                        <p:cTn id="9" dur="1000" fill="hold"/>
                                        <p:tgtEl>
                                          <p:spTgt spid="12290"/>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12292"/>
                                        </p:tgtEl>
                                        <p:attrNameLst>
                                          <p:attrName>style.visibility</p:attrName>
                                        </p:attrNameLst>
                                      </p:cBhvr>
                                      <p:to>
                                        <p:strVal val="visible"/>
                                      </p:to>
                                    </p:set>
                                    <p:animEffect transition="in" filter="fade">
                                      <p:cBhvr>
                                        <p:cTn id="12" dur="1000"/>
                                        <p:tgtEl>
                                          <p:spTgt spid="12292"/>
                                        </p:tgtEl>
                                      </p:cBhvr>
                                    </p:animEffect>
                                    <p:anim calcmode="lin" valueType="num">
                                      <p:cBhvr>
                                        <p:cTn id="13" dur="1000" fill="hold"/>
                                        <p:tgtEl>
                                          <p:spTgt spid="12292"/>
                                        </p:tgtEl>
                                        <p:attrNameLst>
                                          <p:attrName>ppt_x</p:attrName>
                                        </p:attrNameLst>
                                      </p:cBhvr>
                                      <p:tavLst>
                                        <p:tav tm="0">
                                          <p:val>
                                            <p:strVal val="#ppt_x"/>
                                          </p:val>
                                        </p:tav>
                                        <p:tav tm="100000">
                                          <p:val>
                                            <p:strVal val="#ppt_x"/>
                                          </p:val>
                                        </p:tav>
                                      </p:tavLst>
                                    </p:anim>
                                    <p:anim calcmode="lin" valueType="num">
                                      <p:cBhvr>
                                        <p:cTn id="14" dur="1000" fill="hold"/>
                                        <p:tgtEl>
                                          <p:spTgt spid="1229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1097</Words>
  <Application>Microsoft Office PowerPoint</Application>
  <PresentationFormat>Widescreen</PresentationFormat>
  <Paragraphs>159</Paragraphs>
  <Slides>18</Slides>
  <Notes>5</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Aptos</vt:lpstr>
      <vt:lpstr>Aptos Display</vt:lpstr>
      <vt:lpstr>Arial</vt:lpstr>
      <vt:lpstr>Calibri</vt:lpstr>
      <vt:lpstr>Roboto</vt:lpstr>
      <vt:lpstr>Segoe Print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Mega Storage Units</dc:creator>
  <cp:lastModifiedBy>Mega Storage Units</cp:lastModifiedBy>
  <cp:revision>1</cp:revision>
  <dcterms:created xsi:type="dcterms:W3CDTF">2026-10-28T23:54:53Z</dcterms:created>
  <dcterms:modified xsi:type="dcterms:W3CDTF">2026-10-28T23:55:02Z</dcterms:modified>
</cp:coreProperties>
</file>