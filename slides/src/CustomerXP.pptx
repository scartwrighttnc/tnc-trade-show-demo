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659" r:id="rId2"/>
    <p:sldId id="702" r:id="rId3"/>
    <p:sldId id="660" r:id="rId4"/>
    <p:sldId id="352" r:id="rId5"/>
    <p:sldId id="361" r:id="rId6"/>
    <p:sldId id="363" r:id="rId7"/>
    <p:sldId id="30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ustomer XP" id="{F569F7F1-0BE7-428D-A37A-8084691D7C34}">
          <p14:sldIdLst>
            <p14:sldId id="659"/>
            <p14:sldId id="702"/>
            <p14:sldId id="660"/>
            <p14:sldId id="352"/>
            <p14:sldId id="361"/>
            <p14:sldId id="363"/>
            <p14:sldId id="303"/>
          </p14:sldIdLst>
        </p14:section>
        <p14:section name="Default Section" id="{8679A7F8-9C78-490B-AD70-F7D0070B081B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4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E96F3-14AB-4D68-8ECB-DD94F3BB5235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D6B6E-1ABB-4E21-AE7C-37CB693F4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197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7CBD5-2CF6-42BA-FFB0-BB84C00B9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BE6D17-79B0-A762-D7F3-36E012AA1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CF187B-5DA3-AB47-F391-061300562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Complete courses in College format</a:t>
            </a:r>
          </a:p>
          <a:p>
            <a:r>
              <a:rPr lang="en-US"/>
              <a:t>All courses are self-paced but some require instructor interaction or approvals</a:t>
            </a:r>
          </a:p>
          <a:p>
            <a:r>
              <a:rPr lang="en-US"/>
              <a:t>Pass, Fail, Retake and Scores on all Courses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17AAF-1059-AB34-170C-8E4F9077C2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BEDF6-2E54-438F-B5CB-CD9F400F0FB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274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391AC-5144-39A8-C44C-738E01F17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522A1-9941-5FB1-B36E-F49419D4A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2F4A9-C1F9-53F8-E9EE-9A2CB82AB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Complete courses in College format</a:t>
            </a:r>
          </a:p>
          <a:p>
            <a:r>
              <a:rPr lang="en-US"/>
              <a:t>All courses are self-paced but some require instructor interaction or approvals</a:t>
            </a:r>
          </a:p>
          <a:p>
            <a:r>
              <a:rPr lang="en-US"/>
              <a:t>Pass, Fail, Retake and Scores on all Courses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7D4F1-ADC0-2D0E-B714-5899EC71C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BEDF6-2E54-438F-B5CB-CD9F400F0FB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44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b="1">
                <a:solidFill>
                  <a:srgbClr val="1F90C2"/>
                </a:solidFill>
              </a:rPr>
              <a:t>Engrain Sitemap</a:t>
            </a:r>
          </a:p>
          <a:p>
            <a:endParaRPr lang="en-US"/>
          </a:p>
          <a:p>
            <a:r>
              <a:rPr lang="en-US"/>
              <a:t>Interactive Sitemaps for your customers delivered by Text, Email or Online. </a:t>
            </a:r>
            <a:br>
              <a:rPr lang="en-US"/>
            </a:br>
            <a:br>
              <a:rPr lang="en-US"/>
            </a:br>
            <a:r>
              <a:rPr lang="en-US"/>
              <a:t>Setup Fees and Monthly Fees apply.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FBEDF6-2E54-438F-B5CB-CD9F400F0F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2748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24FA4-1FCF-CEB0-1EFE-20E0351F7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ADFDF8-0D68-1B08-C64E-38B6976ED5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72F10-D47B-02FA-EE37-044991DE5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C961-DB24-49EE-B1C6-7EFA1A0CE19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EC053-6A71-6E45-7A94-718C58774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1CD85-2E9C-0B53-BBF2-FD06D6ED7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F7599-D6CE-4731-845A-D85608A47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78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25CF0-057D-981D-84EC-F394A952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AF02A-6FCE-4C0F-268F-0D29C40B6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20F2B-6FAA-C8C7-B00D-F7C34A956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C961-DB24-49EE-B1C6-7EFA1A0CE19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8D6D6-1C11-B7DC-979E-FAD996365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74A5B-979C-5E2C-1273-769178173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F7599-D6CE-4731-845A-D85608A47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844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6C856-E6B1-7B6D-0E4D-6DE0B3AE8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4919D-FBD2-A3E5-AA57-375FBF586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9DF18-36DB-89FD-1D6B-B9495F770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C961-DB24-49EE-B1C6-7EFA1A0CE19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5C60B-8689-5BE4-69F4-F42D1B04C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5EE77-536F-684D-24DD-3C1B7BE57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F7599-D6CE-4731-845A-D85608A47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476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EF423-D866-BADE-78E8-6CF8181FB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EA379-7127-D501-B91B-C9FE1323B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687AAA-0FC5-C086-FD8C-C097B8745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E6D74-2035-1504-B4E5-B2DB4CB2D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C961-DB24-49EE-B1C6-7EFA1A0CE19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6F721D-46E6-E88C-A8F5-E817CD9D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25DEE-6F6F-9E21-9F25-9892BC19D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F7599-D6CE-4731-845A-D85608A47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53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8A2C3-1BE4-D3A1-2531-514B6CB77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B862C-983B-358C-4DA2-3DAC5842C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B6A5A-73C0-66CD-FDB5-4CC785BED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029557-EDCA-0A1B-FD9F-53605516D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6E18F3-05E2-6BE7-1442-42A6878E80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621FE1-FC11-50E9-1E30-8B42FA64A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C961-DB24-49EE-B1C6-7EFA1A0CE19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0953F7-18C5-43FF-0A1D-691BD8F5B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2814F-D04A-C60A-4FDC-6CDB5B8F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F7599-D6CE-4731-845A-D85608A47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776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DFB12-2AA0-E87F-34D6-F1FFAA9ED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EB82CF-E003-68C8-2308-F90708E7D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C961-DB24-49EE-B1C6-7EFA1A0CE19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5734A-67A0-94C4-F75D-A2205B04C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FA697-955E-F27E-2585-C04FEE131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F7599-D6CE-4731-845A-D85608A47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79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98FA89-5052-90A0-7D25-3D2DE922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C961-DB24-49EE-B1C6-7EFA1A0CE19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315099-6756-DFEC-B551-D150B0EDF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C25BB-D5DA-1ED4-447C-13B581080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F7599-D6CE-4731-845A-D85608A47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5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8E779-DE75-E659-CCB4-0508CF73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BFA40-4CA7-6EC2-656E-192A8FD9D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19F963-D66E-B05D-93BE-E985E914F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F5E98-EFA1-04A3-E6F4-2C2028375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C961-DB24-49EE-B1C6-7EFA1A0CE19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06641-D91C-4E30-C610-0291B83CE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3E2F1-B352-1505-FB6F-55FCFA6DA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F7599-D6CE-4731-845A-D85608A47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93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0D3F2-8291-6052-F42A-0E4927939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C6E55F-6AA0-3884-1115-DB9CB897F87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9D7A39-28F4-3114-FC47-0889CCDA5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D75DA-734A-47DB-9241-C4D035AB7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C961-DB24-49EE-B1C6-7EFA1A0CE19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1FA65D-50E8-208E-621C-EAC5BF369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F9B46B-7EF0-CACB-7AE3-BD605AFC0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F7599-D6CE-4731-845A-D85608A47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43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148E2-DB28-A003-23F3-B0A55F790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6548B6-17EE-E1C2-B429-4930CA7B2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E52C0-4FA1-9C6C-1B29-C7DB6077B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C961-DB24-49EE-B1C6-7EFA1A0CE19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EA23E-F6D4-CC89-3268-002CE206D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545A6-9538-C248-76B2-CDF404159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F7599-D6CE-4731-845A-D85608A47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830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846ABD-26A2-F41F-1C5C-AE94AA2D98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724885-22A1-7216-1A2B-A87343C0F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DC29E-387F-8AAB-E17B-769A352D0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C961-DB24-49EE-B1C6-7EFA1A0CE19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0053D-7D7A-0F6E-DEED-E3BE4603E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B26F0-2B21-127E-87EE-13867A132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F7599-D6CE-4731-845A-D85608A47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56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1900" y="52388"/>
            <a:ext cx="7112000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133600" y="2590800"/>
            <a:ext cx="4775200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7112000" y="2590800"/>
            <a:ext cx="4775200" cy="32004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E9DE25-90D2-40E4-B2F3-4EB74A3793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92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1900" y="52388"/>
            <a:ext cx="7112000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2133600" y="2590800"/>
            <a:ext cx="4775200" cy="32004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12000" y="2590800"/>
            <a:ext cx="4775200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A5E9F8-6196-4696-9A3A-3D2113E9FF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32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7B2F72-AADD-88B3-CB18-9FDFE6155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50B85-611E-5210-7DEA-E8C13D171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78EF7-B989-2DE2-56A0-7C5E2CD9B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4FC961-DB24-49EE-B1C6-7EFA1A0CE19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F5E93-EB13-463F-F661-E27738920F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65938-6298-DFD4-5E13-F701FA0E3F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F7599-D6CE-4731-845A-D85608A47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116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MYOIOSK&#10;&#10;AI-generated content may be incorrect.">
            <a:extLst>
              <a:ext uri="{FF2B5EF4-FFF2-40B4-BE49-F238E27FC236}">
                <a16:creationId xmlns:a16="http://schemas.microsoft.com/office/drawing/2014/main" id="{87B915CB-C985-9D2A-9AC9-4C3C98701AD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284" y="1241506"/>
            <a:ext cx="4263432" cy="1097280"/>
          </a:xfrm>
          <a:prstGeom prst="rect">
            <a:avLst/>
          </a:prstGeom>
        </p:spPr>
      </p:pic>
      <p:pic>
        <p:nvPicPr>
          <p:cNvPr id="8" name="Picture 7" descr="Access +&#10;&#10;AI-generated content may be incorrect.">
            <a:extLst>
              <a:ext uri="{FF2B5EF4-FFF2-40B4-BE49-F238E27FC236}">
                <a16:creationId xmlns:a16="http://schemas.microsoft.com/office/drawing/2014/main" id="{4D939959-5953-776A-05B7-C2B4297529E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476" y="2971800"/>
            <a:ext cx="4619048" cy="914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475226-C642-CDCD-9F8C-B977B0C57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9451" y="4439504"/>
            <a:ext cx="3913098" cy="10972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64F330-981E-9246-5BC8-21862D7BACEC}"/>
              </a:ext>
            </a:extLst>
          </p:cNvPr>
          <p:cNvSpPr txBox="1"/>
          <p:nvPr/>
        </p:nvSpPr>
        <p:spPr>
          <a:xfrm>
            <a:off x="9363972" y="80514"/>
            <a:ext cx="2828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XP</a:t>
            </a:r>
          </a:p>
        </p:txBody>
      </p:sp>
    </p:spTree>
    <p:extLst>
      <p:ext uri="{BB962C8B-B14F-4D97-AF65-F5344CB8AC3E}">
        <p14:creationId xmlns:p14="http://schemas.microsoft.com/office/powerpoint/2010/main" val="289074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3CDE856-68DD-E933-3ED4-480F8ECAF2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8" y="25878"/>
            <a:ext cx="1704986" cy="724619"/>
          </a:xfrm>
          <a:prstGeom prst="rect">
            <a:avLst/>
          </a:prstGeom>
        </p:spPr>
      </p:pic>
      <p:pic>
        <p:nvPicPr>
          <p:cNvPr id="6" name="Picture 5" descr="Qr code&#10;&#10;Description automatically generated">
            <a:extLst>
              <a:ext uri="{FF2B5EF4-FFF2-40B4-BE49-F238E27FC236}">
                <a16:creationId xmlns:a16="http://schemas.microsoft.com/office/drawing/2014/main" id="{09E6108A-D237-31E0-60FE-2AEB83BF71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322" y="701608"/>
            <a:ext cx="5351253" cy="53512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0C61D696-E41C-279A-66FC-F1D938BADECB}"/>
              </a:ext>
            </a:extLst>
          </p:cNvPr>
          <p:cNvSpPr/>
          <p:nvPr/>
        </p:nvSpPr>
        <p:spPr bwMode="auto">
          <a:xfrm>
            <a:off x="4554749" y="4244191"/>
            <a:ext cx="3717985" cy="276045"/>
          </a:xfrm>
          <a:prstGeom prst="rightArrow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97C4FF-8102-F18C-C5C9-88C6344966F8}"/>
              </a:ext>
            </a:extLst>
          </p:cNvPr>
          <p:cNvSpPr txBox="1"/>
          <p:nvPr/>
        </p:nvSpPr>
        <p:spPr>
          <a:xfrm>
            <a:off x="1250831" y="2294619"/>
            <a:ext cx="464963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simple </a:t>
            </a:r>
            <a:r>
              <a:rPr lang="en-US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QR CODE </a:t>
            </a:r>
            <a:br>
              <a:rPr lang="en-US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like a Kiosk in your hand:</a:t>
            </a:r>
          </a:p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Rent from your phone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 from your phone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 your account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Leave Reviews or send messages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A2BEC6-5A38-4C14-674B-45E6DF3D9B3B}"/>
              </a:ext>
            </a:extLst>
          </p:cNvPr>
          <p:cNvSpPr txBox="1"/>
          <p:nvPr/>
        </p:nvSpPr>
        <p:spPr>
          <a:xfrm>
            <a:off x="8677252" y="188132"/>
            <a:ext cx="341651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800" i="1">
                <a:solidFill>
                  <a:srgbClr val="F3F3F3"/>
                </a:solidFill>
                <a:latin typeface="Calibri"/>
                <a:ea typeface="Calibri"/>
                <a:cs typeface="Calibri"/>
              </a:rPr>
              <a:t>HUB Management Technologies</a:t>
            </a:r>
            <a:endParaRPr lang="en-US" sz="1800" i="1">
              <a:solidFill>
                <a:srgbClr val="F3F3F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666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B1452-FF6E-5263-A0A8-EB22F8C22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90585A-1B5A-2736-95AC-B8DA267C0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36347" y="318980"/>
            <a:ext cx="3818617" cy="64507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8E2311-DD47-2DC5-46F3-89941406B3EC}"/>
              </a:ext>
            </a:extLst>
          </p:cNvPr>
          <p:cNvSpPr txBox="1"/>
          <p:nvPr/>
        </p:nvSpPr>
        <p:spPr>
          <a:xfrm>
            <a:off x="637036" y="3783764"/>
            <a:ext cx="64175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55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Emergency Line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Contact the on-call support for urgent assistance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55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 Site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Access the full desktop or mobile version of the website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Happiness is Our Highest Priority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55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Happy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starts a new Google Review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55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 Happy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starts a new QA case for trackable resolutions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5239D3-032C-7AA7-6076-C39A6C629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36347" y="318979"/>
            <a:ext cx="3818617" cy="64507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1D8D54-3A44-18BA-BB5C-C2EC80E8F4A1}"/>
              </a:ext>
            </a:extLst>
          </p:cNvPr>
          <p:cNvSpPr txBox="1"/>
          <p:nvPr/>
        </p:nvSpPr>
        <p:spPr>
          <a:xfrm>
            <a:off x="163383" y="1980512"/>
            <a:ext cx="52621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55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Access Buttons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Call,</a:t>
            </a:r>
            <a:r>
              <a:rPr kumimoji="0" lang="en-US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Chat/Video &amp; more across the top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55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Most common features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Rent a Unit, Leave a review, Pay My Bill &amp; More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E45DAA8-F834-E751-AFC7-66D9487643F9}"/>
              </a:ext>
            </a:extLst>
          </p:cNvPr>
          <p:cNvSpPr/>
          <p:nvPr/>
        </p:nvSpPr>
        <p:spPr>
          <a:xfrm>
            <a:off x="5425496" y="1980512"/>
            <a:ext cx="2813249" cy="439947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64CEA8F-9F29-64FC-44D7-959B409E9976}"/>
              </a:ext>
            </a:extLst>
          </p:cNvPr>
          <p:cNvSpPr/>
          <p:nvPr/>
        </p:nvSpPr>
        <p:spPr>
          <a:xfrm>
            <a:off x="5425495" y="2828862"/>
            <a:ext cx="2813249" cy="439947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74F3CB7-8716-8FA3-041F-49E6A7ED26E0}"/>
              </a:ext>
            </a:extLst>
          </p:cNvPr>
          <p:cNvSpPr/>
          <p:nvPr/>
        </p:nvSpPr>
        <p:spPr>
          <a:xfrm>
            <a:off x="6927005" y="4280890"/>
            <a:ext cx="2813249" cy="439947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08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EEFCA-9196-43FC-D3F0-A5FBCEF7C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ue and black logo&#10;&#10;Description automatically generated">
            <a:extLst>
              <a:ext uri="{FF2B5EF4-FFF2-40B4-BE49-F238E27FC236}">
                <a16:creationId xmlns:a16="http://schemas.microsoft.com/office/drawing/2014/main" id="{D2309706-0991-DAC4-6471-CC78DE97AE4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58" y="66675"/>
            <a:ext cx="1457541" cy="50461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F6A1A6A-2C9D-6D89-1B77-959CF0BD60D5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9" name="Picture 8" descr="A qr code on a road&#10;&#10;AI-generated content may be incorrect.">
              <a:extLst>
                <a:ext uri="{FF2B5EF4-FFF2-40B4-BE49-F238E27FC236}">
                  <a16:creationId xmlns:a16="http://schemas.microsoft.com/office/drawing/2014/main" id="{3E21241D-D47C-45D2-AD17-A781CD7ED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8566B6E-FAB6-DE3E-1C3E-6D8EF330EC31}"/>
                </a:ext>
              </a:extLst>
            </p:cNvPr>
            <p:cNvSpPr/>
            <p:nvPr/>
          </p:nvSpPr>
          <p:spPr>
            <a:xfrm>
              <a:off x="4382219" y="6072996"/>
              <a:ext cx="5443268" cy="336430"/>
            </a:xfrm>
            <a:prstGeom prst="rect">
              <a:avLst/>
            </a:prstGeom>
            <a:solidFill>
              <a:srgbClr val="D5D6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2941738-75A5-992E-97C5-2EF32B6891BD}"/>
                </a:ext>
              </a:extLst>
            </p:cNvPr>
            <p:cNvSpPr/>
            <p:nvPr/>
          </p:nvSpPr>
          <p:spPr>
            <a:xfrm>
              <a:off x="5572664" y="2967487"/>
              <a:ext cx="1026544" cy="4615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1561F-EC2F-12CE-5F83-ADF872A5A055}"/>
                </a:ext>
              </a:extLst>
            </p:cNvPr>
            <p:cNvSpPr/>
            <p:nvPr/>
          </p:nvSpPr>
          <p:spPr>
            <a:xfrm>
              <a:off x="1708030" y="5986736"/>
              <a:ext cx="1906438" cy="577970"/>
            </a:xfrm>
            <a:prstGeom prst="rect">
              <a:avLst/>
            </a:prstGeom>
            <a:solidFill>
              <a:srgbClr val="D5D6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308F877-9FB2-01BA-73CC-9C353213A8CC}"/>
                </a:ext>
              </a:extLst>
            </p:cNvPr>
            <p:cNvSpPr txBox="1"/>
            <p:nvPr/>
          </p:nvSpPr>
          <p:spPr>
            <a:xfrm>
              <a:off x="1708030" y="5969484"/>
              <a:ext cx="190643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4E9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YOUR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ADECC8-63BF-3EF5-4F70-75748293BAEA}"/>
                </a:ext>
              </a:extLst>
            </p:cNvPr>
            <p:cNvSpPr/>
            <p:nvPr/>
          </p:nvSpPr>
          <p:spPr>
            <a:xfrm>
              <a:off x="1863306" y="6521576"/>
              <a:ext cx="1656271" cy="293294"/>
            </a:xfrm>
            <a:prstGeom prst="rect">
              <a:avLst/>
            </a:prstGeom>
            <a:solidFill>
              <a:srgbClr val="D5D6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B04A839-DD7D-BB23-8DBA-A8B06724A8F0}"/>
                </a:ext>
              </a:extLst>
            </p:cNvPr>
            <p:cNvSpPr txBox="1"/>
            <p:nvPr/>
          </p:nvSpPr>
          <p:spPr>
            <a:xfrm>
              <a:off x="1562099" y="6349056"/>
              <a:ext cx="22076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SELF STORAGE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1FFDDA-65EA-B89E-FB04-2D9A2891BF8F}"/>
                </a:ext>
              </a:extLst>
            </p:cNvPr>
            <p:cNvSpPr/>
            <p:nvPr/>
          </p:nvSpPr>
          <p:spPr>
            <a:xfrm>
              <a:off x="8859328" y="6409426"/>
              <a:ext cx="362310" cy="336430"/>
            </a:xfrm>
            <a:prstGeom prst="rect">
              <a:avLst/>
            </a:prstGeom>
            <a:solidFill>
              <a:srgbClr val="D5D6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C09FC87-7852-1F3A-2B0C-16EE1AD272BF}"/>
                </a:ext>
              </a:extLst>
            </p:cNvPr>
            <p:cNvSpPr txBox="1"/>
            <p:nvPr/>
          </p:nvSpPr>
          <p:spPr>
            <a:xfrm>
              <a:off x="8781689" y="6359272"/>
              <a:ext cx="7677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001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59A5C4C-8B8B-12A9-5AF4-EE3BAF16AFEB}"/>
                </a:ext>
              </a:extLst>
            </p:cNvPr>
            <p:cNvSpPr txBox="1"/>
            <p:nvPr/>
          </p:nvSpPr>
          <p:spPr>
            <a:xfrm>
              <a:off x="5490707" y="2824260"/>
              <a:ext cx="1210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4E9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YOUR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BE99454-66E0-2D81-A43F-46B3647B023E}"/>
                </a:ext>
              </a:extLst>
            </p:cNvPr>
            <p:cNvSpPr txBox="1"/>
            <p:nvPr/>
          </p:nvSpPr>
          <p:spPr>
            <a:xfrm>
              <a:off x="5455848" y="3135549"/>
              <a:ext cx="12885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SELF STORAGE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6B8AED4-AA7A-BDFF-9028-226F850390E3}"/>
                </a:ext>
              </a:extLst>
            </p:cNvPr>
            <p:cNvSpPr txBox="1"/>
            <p:nvPr/>
          </p:nvSpPr>
          <p:spPr>
            <a:xfrm>
              <a:off x="4330462" y="6017954"/>
              <a:ext cx="580557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DO STORAGE FASTER WITH THE VIRTUAL KIOSK</a:t>
              </a:r>
            </a:p>
          </p:txBody>
        </p:sp>
      </p:grpSp>
      <p:pic>
        <p:nvPicPr>
          <p:cNvPr id="7" name="Hand with Scan" descr="A hand holding a phone&#10;&#10;AI-generated content may be incorrect.">
            <a:extLst>
              <a:ext uri="{FF2B5EF4-FFF2-40B4-BE49-F238E27FC236}">
                <a16:creationId xmlns:a16="http://schemas.microsoft.com/office/drawing/2014/main" id="{8FE86DE4-B102-3505-33B0-172C24ED945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5675" y="1466491"/>
            <a:ext cx="4132782" cy="5529532"/>
          </a:xfrm>
          <a:prstGeom prst="rect">
            <a:avLst/>
          </a:prstGeom>
        </p:spPr>
      </p:pic>
      <p:pic>
        <p:nvPicPr>
          <p:cNvPr id="4" name="Hand with MQ" descr="A hand holding a phone&#10;&#10;AI-generated content may be incorrect.">
            <a:extLst>
              <a:ext uri="{FF2B5EF4-FFF2-40B4-BE49-F238E27FC236}">
                <a16:creationId xmlns:a16="http://schemas.microsoft.com/office/drawing/2014/main" id="{3E8EC233-05A6-9F64-736E-9CD6D39A94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566" y="1523430"/>
            <a:ext cx="4114801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774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70198-4356-EF1F-889A-FCC2ED064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black rectangular device with a black screen&#10;&#10;AI-generated content may be incorrect.">
            <a:extLst>
              <a:ext uri="{FF2B5EF4-FFF2-40B4-BE49-F238E27FC236}">
                <a16:creationId xmlns:a16="http://schemas.microsoft.com/office/drawing/2014/main" id="{9FF87E0D-83B3-6230-AB5E-196BB8F9A9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553" y="273491"/>
            <a:ext cx="3795474" cy="65390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7A3125-822C-F636-297E-AF2BB0E810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742"/>
          <a:stretch>
            <a:fillRect/>
          </a:stretch>
        </p:blipFill>
        <p:spPr>
          <a:xfrm>
            <a:off x="7183297" y="1225477"/>
            <a:ext cx="2673986" cy="4703958"/>
          </a:xfrm>
          <a:prstGeom prst="rect">
            <a:avLst/>
          </a:prstGeom>
          <a:ln>
            <a:noFill/>
          </a:ln>
          <a:effectLst/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F10B2F43-A1F6-724E-4AD4-D703731722B1}"/>
              </a:ext>
            </a:extLst>
          </p:cNvPr>
          <p:cNvSpPr/>
          <p:nvPr/>
        </p:nvSpPr>
        <p:spPr>
          <a:xfrm>
            <a:off x="5235920" y="3443334"/>
            <a:ext cx="1847848" cy="3048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2" name="Picture 1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D942D6E-BAC3-6203-1244-811A10824F8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28" y="2326998"/>
            <a:ext cx="5208106" cy="2555761"/>
          </a:xfrm>
          <a:prstGeom prst="rect">
            <a:avLst/>
          </a:prstGeom>
        </p:spPr>
      </p:pic>
      <p:pic>
        <p:nvPicPr>
          <p:cNvPr id="2" name="Picture 1" descr="Access +&#10;&#10;AI-generated content may be incorrect.">
            <a:extLst>
              <a:ext uri="{FF2B5EF4-FFF2-40B4-BE49-F238E27FC236}">
                <a16:creationId xmlns:a16="http://schemas.microsoft.com/office/drawing/2014/main" id="{2A11AC5C-0C92-B845-4A43-0498EFFD5F5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72" y="1329812"/>
            <a:ext cx="3031359" cy="60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212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7CFB9-D078-6E28-D221-F01575DDA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card with a qr code&#10;&#10;Description automatically generated">
            <a:extLst>
              <a:ext uri="{FF2B5EF4-FFF2-40B4-BE49-F238E27FC236}">
                <a16:creationId xmlns:a16="http://schemas.microsoft.com/office/drawing/2014/main" id="{BCE74090-AA15-45E8-0591-AFBCB30D9BA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7" t="11866" r="2544" b="27067"/>
          <a:stretch/>
        </p:blipFill>
        <p:spPr>
          <a:xfrm>
            <a:off x="721332" y="1181807"/>
            <a:ext cx="3218688" cy="4494386"/>
          </a:xfrm>
          <a:prstGeom prst="rect">
            <a:avLst/>
          </a:prstGeom>
          <a:ln w="38100" cap="sq">
            <a:solidFill>
              <a:srgbClr val="1E90C3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FFDA5BD-D997-057D-8D4A-E5B5FE7692B2}"/>
              </a:ext>
            </a:extLst>
          </p:cNvPr>
          <p:cNvGrpSpPr/>
          <p:nvPr/>
        </p:nvGrpSpPr>
        <p:grpSpPr>
          <a:xfrm>
            <a:off x="4712881" y="1465684"/>
            <a:ext cx="2766238" cy="3926631"/>
            <a:chOff x="6574536" y="1483954"/>
            <a:chExt cx="2766238" cy="3926631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1DFBF1B8-2D07-E136-3DED-3DD5D322B7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31" b="59825"/>
            <a:stretch/>
          </p:blipFill>
          <p:spPr bwMode="auto">
            <a:xfrm>
              <a:off x="6574537" y="3989016"/>
              <a:ext cx="2766237" cy="1421569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E31DD02D-F373-299C-279D-F354FD0F344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11" b="51448"/>
            <a:stretch/>
          </p:blipFill>
          <p:spPr bwMode="auto">
            <a:xfrm>
              <a:off x="6574536" y="1483954"/>
              <a:ext cx="2766238" cy="2505062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" name="Picture 2">
            <a:extLst>
              <a:ext uri="{FF2B5EF4-FFF2-40B4-BE49-F238E27FC236}">
                <a16:creationId xmlns:a16="http://schemas.microsoft.com/office/drawing/2014/main" id="{97B7D00C-7263-B9E6-9F01-FEA45C877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1980" y="580609"/>
            <a:ext cx="2836908" cy="6143077"/>
          </a:xfrm>
          <a:prstGeom prst="rect">
            <a:avLst/>
          </a:prstGeom>
          <a:ln w="38100" cap="sq">
            <a:solidFill>
              <a:srgbClr val="1E90C3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A9429B-FF04-EA21-A210-D37FA87ECD93}"/>
              </a:ext>
            </a:extLst>
          </p:cNvPr>
          <p:cNvSpPr txBox="1"/>
          <p:nvPr/>
        </p:nvSpPr>
        <p:spPr>
          <a:xfrm>
            <a:off x="4712881" y="1042416"/>
            <a:ext cx="2836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Backside (pass details)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859C38-63CC-6D1F-F7F9-74A325E8AD58}"/>
              </a:ext>
            </a:extLst>
          </p:cNvPr>
          <p:cNvSpPr/>
          <p:nvPr/>
        </p:nvSpPr>
        <p:spPr>
          <a:xfrm>
            <a:off x="1543811" y="5303520"/>
            <a:ext cx="220981" cy="155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B357DC-CBCF-CB72-600D-9EA0F26A264A}"/>
              </a:ext>
            </a:extLst>
          </p:cNvPr>
          <p:cNvSpPr txBox="1"/>
          <p:nvPr/>
        </p:nvSpPr>
        <p:spPr>
          <a:xfrm>
            <a:off x="1370837" y="5233600"/>
            <a:ext cx="512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$100</a:t>
            </a:r>
          </a:p>
        </p:txBody>
      </p:sp>
    </p:spTree>
    <p:extLst>
      <p:ext uri="{BB962C8B-B14F-4D97-AF65-F5344CB8AC3E}">
        <p14:creationId xmlns:p14="http://schemas.microsoft.com/office/powerpoint/2010/main" val="127688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D93C2FC-0C63-CF24-A7DC-A63610474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900" y="950976"/>
            <a:ext cx="9643100" cy="5512782"/>
          </a:xfrm>
          <a:prstGeom prst="rect">
            <a:avLst/>
          </a:prstGeom>
          <a:ln w="28575">
            <a:solidFill>
              <a:srgbClr val="1F90C2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0A209C-8609-89F0-5A18-4B8269594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58" y="2289034"/>
            <a:ext cx="2773754" cy="3776473"/>
          </a:xfrm>
          <a:prstGeom prst="roundRect">
            <a:avLst>
              <a:gd name="adj" fmla="val 16667"/>
            </a:avLst>
          </a:prstGeom>
          <a:ln w="28575">
            <a:solidFill>
              <a:srgbClr val="1F90C2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70187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</Words>
  <Application>Microsoft Office PowerPoint</Application>
  <PresentationFormat>Widescreen</PresentationFormat>
  <Paragraphs>40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Mega Storage Units</dc:creator>
  <cp:lastModifiedBy>Mega Storage Units</cp:lastModifiedBy>
  <cp:revision>1</cp:revision>
  <dcterms:created xsi:type="dcterms:W3CDTF">2026-10-28T23:54:14Z</dcterms:created>
  <dcterms:modified xsi:type="dcterms:W3CDTF">2026-10-28T23:54:19Z</dcterms:modified>
</cp:coreProperties>
</file>